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4A77D"/>
                </a:solidFill>
                <a:latin typeface="Consolas"/>
              </a:defRPr>
            </a:pPr>
            <a:r>
              <a:t>// ARCHITECTURE SPECIFICATION &amp; STRATEGIC BRIEF // 2026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144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4F0E8"/>
                </a:solidFill>
                <a:latin typeface="Trebuchet MS"/>
              </a:defRPr>
            </a:pPr>
            <a:r>
              <a:t>GEETORUSAI</a:t>
            </a:r>
          </a:p>
          <a:p>
            <a:pPr>
              <a:spcBef>
                <a:spcPts val="800"/>
              </a:spcBef>
              <a:defRPr sz="2000" b="1">
                <a:solidFill>
                  <a:srgbClr val="356BFF"/>
                </a:solidFill>
                <a:latin typeface="Trebuchet MS"/>
              </a:defRPr>
            </a:pPr>
            <a:r>
              <a:t>THE AUTONOMOUS AI AGENT CONTROL 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5943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0A0"/>
                </a:solidFill>
                <a:latin typeface="Segoe UI"/>
              </a:defRPr>
            </a:pPr>
            <a:r>
              <a:t>From isolated LLM chat sessions to coordinated digital teams.</a:t>
            </a:r>
            <a:br/>
            <a:r>
              <a:t>An open-source-oriented operating system providing multi-agent orchestration, human-in-the-loop governance, strict budget gates, and verified execution pipelines.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2011680"/>
            <a:ext cx="3566160" cy="3657600"/>
          </a:xfrm>
          <a:prstGeom prst="rect">
            <a:avLst/>
          </a:prstGeom>
          <a:solidFill>
            <a:srgbClr val="121212"/>
          </a:solidFill>
          <a:ln w="15240">
            <a:solidFill>
              <a:srgbClr val="C4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219456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4A77D"/>
                </a:solidFill>
                <a:latin typeface="Consolas"/>
              </a:defRPr>
            </a:pPr>
            <a:r>
              <a:t>PROJECT CODE:</a:t>
            </a:r>
          </a:p>
          <a:p>
            <a:pPr>
              <a:defRPr sz="1050">
                <a:solidFill>
                  <a:srgbClr val="F4F0E8"/>
                </a:solidFill>
                <a:latin typeface="Segoe UI"/>
              </a:defRPr>
            </a:pPr>
            <a:r>
              <a:t>GEETORUS-CORE / v0.3.1</a:t>
            </a:r>
          </a:p>
          <a:p>
            <a:pPr>
              <a:spcBef>
                <a:spcPts val="600"/>
              </a:spcBef>
              <a:defRPr sz="900" b="1">
                <a:solidFill>
                  <a:srgbClr val="C4A77D"/>
                </a:solidFill>
                <a:latin typeface="Consolas"/>
              </a:defRPr>
            </a:pPr>
            <a:r>
              <a:t>SYSTEM CLASS:</a:t>
            </a:r>
          </a:p>
          <a:p>
            <a:pPr>
              <a:defRPr sz="1050">
                <a:solidFill>
                  <a:srgbClr val="F4F0E8"/>
                </a:solidFill>
                <a:latin typeface="Segoe UI"/>
              </a:defRPr>
            </a:pPr>
            <a:r>
              <a:t>Autonomous Agent Control Plane</a:t>
            </a:r>
          </a:p>
          <a:p>
            <a:pPr>
              <a:spcBef>
                <a:spcPts val="600"/>
              </a:spcBef>
              <a:defRPr sz="900" b="1">
                <a:solidFill>
                  <a:srgbClr val="C4A77D"/>
                </a:solidFill>
                <a:latin typeface="Consolas"/>
              </a:defRPr>
            </a:pPr>
            <a:r>
              <a:t>DEPLOYMENT:</a:t>
            </a:r>
          </a:p>
          <a:p>
            <a:pPr>
              <a:defRPr sz="1050">
                <a:solidFill>
                  <a:srgbClr val="F4F0E8"/>
                </a:solidFill>
                <a:latin typeface="Segoe UI"/>
              </a:defRPr>
            </a:pPr>
            <a:r>
              <a:t>Self-Hosted / Hybrid Cloud</a:t>
            </a:r>
          </a:p>
          <a:p>
            <a:pPr>
              <a:spcBef>
                <a:spcPts val="600"/>
              </a:spcBef>
              <a:defRPr sz="900" b="1">
                <a:solidFill>
                  <a:srgbClr val="C4A77D"/>
                </a:solidFill>
                <a:latin typeface="Consolas"/>
              </a:defRPr>
            </a:pPr>
            <a:r>
              <a:t>ORCHESTRATION:</a:t>
            </a:r>
          </a:p>
          <a:p>
            <a:pPr>
              <a:defRPr sz="1050">
                <a:solidFill>
                  <a:srgbClr val="F4F0E8"/>
                </a:solidFill>
                <a:latin typeface="Segoe UI"/>
              </a:defRPr>
            </a:pPr>
            <a:r>
              <a:t>Multi-Agent Directed Graph</a:t>
            </a:r>
          </a:p>
          <a:p>
            <a:pPr>
              <a:spcBef>
                <a:spcPts val="600"/>
              </a:spcBef>
              <a:defRPr sz="900" b="1">
                <a:solidFill>
                  <a:srgbClr val="C4A77D"/>
                </a:solidFill>
                <a:latin typeface="Consolas"/>
              </a:defRPr>
            </a:pPr>
            <a:r>
              <a:t>GOVERNANCE:</a:t>
            </a:r>
          </a:p>
          <a:p>
            <a:pPr>
              <a:defRPr sz="1050">
                <a:solidFill>
                  <a:srgbClr val="F4F0E8"/>
                </a:solidFill>
                <a:latin typeface="Segoe UI"/>
              </a:defRPr>
            </a:pPr>
            <a:r>
              <a:t>Company-Scoped Token Gates &amp; RBAC</a:t>
            </a:r>
          </a:p>
          <a:p>
            <a:pPr>
              <a:spcBef>
                <a:spcPts val="600"/>
              </a:spcBef>
              <a:defRPr sz="900" b="1">
                <a:solidFill>
                  <a:srgbClr val="C4A77D"/>
                </a:solidFill>
                <a:latin typeface="Consolas"/>
              </a:defRPr>
            </a:pPr>
            <a:r>
              <a:t>COMPUTATIONAL BASIS:</a:t>
            </a:r>
          </a:p>
          <a:p>
            <a:pPr>
              <a:defRPr sz="1050">
                <a:solidFill>
                  <a:srgbClr val="F4F0E8"/>
                </a:solidFill>
                <a:latin typeface="Segoe UI"/>
              </a:defRPr>
            </a:pPr>
            <a:r>
              <a:t>Local Runtimes + Hosted Providers</a:t>
            </a:r>
          </a:p>
          <a:p>
            <a:pPr>
              <a:spcBef>
                <a:spcPts val="600"/>
              </a:spcBef>
              <a:defRPr sz="900" b="1">
                <a:solidFill>
                  <a:srgbClr val="C4A77D"/>
                </a:solidFill>
                <a:latin typeface="Consolas"/>
              </a:defRPr>
            </a:pPr>
            <a:r>
              <a:t>DOCUMENT VERSION:</a:t>
            </a:r>
          </a:p>
          <a:p>
            <a:pPr>
              <a:defRPr sz="1050">
                <a:solidFill>
                  <a:srgbClr val="F4F0E8"/>
                </a:solidFill>
                <a:latin typeface="Segoe UI"/>
              </a:defRPr>
            </a:pPr>
            <a:r>
              <a:t>Technical Audit &amp; Pitch Deck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56BFF"/>
                </a:solidFill>
                <a:latin typeface="Consolas"/>
              </a:defRPr>
            </a:pPr>
            <a:r>
              <a:t>[ ARCHITECTURE // SYSTEM GOVERNANCE // MULTI-AGENT EXECUTION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4A77D"/>
                </a:solidFill>
                <a:latin typeface="Consolas"/>
              </a:defRPr>
            </a:pPr>
            <a:r>
              <a:t>GEETORUSAI // CONTROL PLANE SPEC // MARKET FRICTION &amp; SYSTEMIC FAILURE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56BFF"/>
                </a:solidFill>
                <a:latin typeface="Consolas"/>
              </a:defRPr>
            </a:pPr>
            <a:r>
              <a:t>[ 02 / 14 ]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F0E8"/>
                </a:solidFill>
                <a:latin typeface="Trebuchet MS"/>
              </a:defRPr>
            </a:pPr>
            <a:r>
              <a:t>THE PROBLEM: AI TOOLS ARE SILOED, UNGOVERNED &amp; FRAGMENTED</a:t>
            </a:r>
          </a:p>
          <a:p>
            <a:pPr>
              <a:spcBef>
                <a:spcPts val="400"/>
              </a:spcBef>
              <a:defRPr sz="1200">
                <a:solidFill>
                  <a:srgbClr val="A0A0A0"/>
                </a:solidFill>
                <a:latin typeface="Segoe UI"/>
              </a:defRPr>
            </a:pPr>
            <a:r>
              <a:t>Developers and enterprises attempt multi-agent autonomy using disjointed tools, creating chaos, spiraling API bills, and unverified outputs.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120640" cy="457200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1920240"/>
            <a:ext cx="1280160" cy="274320"/>
          </a:xfrm>
          <a:prstGeom prst="rect">
            <a:avLst/>
          </a:prstGeom>
          <a:solidFill>
            <a:srgbClr val="781E1E"/>
          </a:solidFill>
          <a:ln>
            <a:solidFill>
              <a:srgbClr val="7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4F0E8"/>
                </a:solidFill>
                <a:latin typeface="Consolas"/>
              </a:defRPr>
            </a:pPr>
            <a:r>
              <a:t>STATUS QUO: FRAGMENTED SILOS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4A77D"/>
                </a:solidFill>
                <a:latin typeface="Consolas"/>
              </a:defRPr>
            </a:pPr>
            <a:r>
              <a:t>&gt; SILOED SINGLE-AGENT INTERFACES</a:t>
            </a:r>
          </a:p>
          <a:p>
            <a:pPr>
              <a:defRPr sz="950">
                <a:solidFill>
                  <a:srgbClr val="A0A0A0"/>
                </a:solidFill>
                <a:latin typeface="Segoe UI"/>
              </a:defRPr>
            </a:pPr>
            <a:r>
              <a:t>Engineers jump between ChatGPT, Claude, and terminal agents. No unified context, no shared execution history.</a:t>
            </a:r>
          </a:p>
          <a:p>
            <a:pPr>
              <a:spcBef>
                <a:spcPts val="800"/>
              </a:spcBef>
              <a:defRPr sz="1000" b="1">
                <a:solidFill>
                  <a:srgbClr val="C4A77D"/>
                </a:solidFill>
                <a:latin typeface="Consolas"/>
              </a:defRPr>
            </a:pPr>
            <a:r>
              <a:t>&gt; MANUAL HAND-OFFS &amp; GLUE SCRIPTS</a:t>
            </a:r>
          </a:p>
          <a:p>
            <a:pPr>
              <a:defRPr sz="950">
                <a:solidFill>
                  <a:srgbClr val="A0A0A0"/>
                </a:solidFill>
                <a:latin typeface="Segoe UI"/>
              </a:defRPr>
            </a:pPr>
            <a:r>
              <a:t>Output from one tool must be manually copied, audited, and pasted to the next. Human becomes the fragile API glue.</a:t>
            </a:r>
          </a:p>
          <a:p>
            <a:pPr>
              <a:spcBef>
                <a:spcPts val="800"/>
              </a:spcBef>
              <a:defRPr sz="1000" b="1">
                <a:solidFill>
                  <a:srgbClr val="C4A77D"/>
                </a:solidFill>
                <a:latin typeface="Consolas"/>
              </a:defRPr>
            </a:pPr>
            <a:r>
              <a:t>&gt; RUNAWAY TOKEN CONSUMPTION</a:t>
            </a:r>
          </a:p>
          <a:p>
            <a:pPr>
              <a:defRPr sz="950">
                <a:solidFill>
                  <a:srgbClr val="A0A0A0"/>
                </a:solidFill>
                <a:latin typeface="Segoe UI"/>
              </a:defRPr>
            </a:pPr>
            <a:r>
              <a:t>Autonomous loops lack hard financial stop-limits, leading to unexpected $500+ bills on looping syntax errors.</a:t>
            </a:r>
          </a:p>
          <a:p>
            <a:pPr>
              <a:spcBef>
                <a:spcPts val="800"/>
              </a:spcBef>
              <a:defRPr sz="1000" b="1">
                <a:solidFill>
                  <a:srgbClr val="C4A77D"/>
                </a:solidFill>
                <a:latin typeface="Consolas"/>
              </a:defRPr>
            </a:pPr>
            <a:r>
              <a:t>&gt; ZERO EXECUTION VERIFICATION</a:t>
            </a:r>
          </a:p>
          <a:p>
            <a:pPr>
              <a:defRPr sz="950">
                <a:solidFill>
                  <a:srgbClr val="A0A0A0"/>
                </a:solidFill>
                <a:latin typeface="Segoe UI"/>
              </a:defRPr>
            </a:pPr>
            <a:r>
              <a:t>Agents declare 'Task Completed' without running tests, security linters, or human sign-off gates.</a:t>
            </a:r>
          </a:p>
          <a:p>
            <a:pPr>
              <a:spcBef>
                <a:spcPts val="800"/>
              </a:spcBef>
              <a:defRPr sz="1000" b="1">
                <a:solidFill>
                  <a:srgbClr val="C4A77D"/>
                </a:solidFill>
                <a:latin typeface="Consolas"/>
              </a:defRPr>
            </a:pPr>
            <a:r>
              <a:t>&gt; BLIND GOVERNANCE &amp; SECRET SPRAWL</a:t>
            </a:r>
          </a:p>
          <a:p>
            <a:pPr>
              <a:defRPr sz="950">
                <a:solidFill>
                  <a:srgbClr val="A0A0A0"/>
                </a:solidFill>
                <a:latin typeface="Segoe UI"/>
              </a:defRPr>
            </a:pPr>
            <a:r>
              <a:t>API keys and sensitive tokens are exposed across raw bash scripts with zero company-level access controls.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5120640" cy="4572000"/>
          </a:xfrm>
          <a:prstGeom prst="rect">
            <a:avLst/>
          </a:prstGeom>
          <a:solidFill>
            <a:srgbClr val="121212"/>
          </a:solidFill>
          <a:ln w="15240">
            <a:solidFill>
              <a:srgbClr val="3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920240"/>
            <a:ext cx="1280160" cy="274320"/>
          </a:xfrm>
          <a:prstGeom prst="rect">
            <a:avLst/>
          </a:prstGeom>
          <a:solidFill>
            <a:srgbClr val="356BFF"/>
          </a:solidFill>
          <a:ln>
            <a:solidFill>
              <a:srgbClr val="3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4F0E8"/>
                </a:solidFill>
                <a:latin typeface="Consolas"/>
              </a:defRPr>
            </a:pPr>
            <a:r>
              <a:t>GEETORUSAI: UNIFIED CONTROL PLANE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3172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4A77D"/>
                </a:solidFill>
                <a:latin typeface="Consolas"/>
              </a:defRPr>
            </a:pPr>
            <a:r>
              <a:t>&gt; UNIFIED VIRTUAL COMPANY HUB</a:t>
            </a:r>
          </a:p>
          <a:p>
            <a:pPr>
              <a:defRPr sz="950">
                <a:solidFill>
                  <a:srgbClr val="F4F0E8"/>
                </a:solidFill>
                <a:latin typeface="Segoe UI"/>
              </a:defRPr>
            </a:pPr>
            <a:r>
              <a:t>A single operating system where specialized agents (Lead, Dev, QA, Security) collaborate under strict hierarchies.</a:t>
            </a:r>
          </a:p>
          <a:p>
            <a:pPr>
              <a:spcBef>
                <a:spcPts val="800"/>
              </a:spcBef>
              <a:defRPr sz="1000" b="1">
                <a:solidFill>
                  <a:srgbClr val="C4A77D"/>
                </a:solidFill>
                <a:latin typeface="Consolas"/>
              </a:defRPr>
            </a:pPr>
            <a:r>
              <a:t>&gt; AUTONOMOUS GOAL DECOMPOSITION</a:t>
            </a:r>
          </a:p>
          <a:p>
            <a:pPr>
              <a:defRPr sz="950">
                <a:solidFill>
                  <a:srgbClr val="F4F0E8"/>
                </a:solidFill>
                <a:latin typeface="Segoe UI"/>
              </a:defRPr>
            </a:pPr>
            <a:r>
              <a:t>Complex goals automatically break down into dependent DAG tasks, scheduled across specialized worker agents.</a:t>
            </a:r>
          </a:p>
          <a:p>
            <a:pPr>
              <a:spcBef>
                <a:spcPts val="800"/>
              </a:spcBef>
              <a:defRPr sz="1000" b="1">
                <a:solidFill>
                  <a:srgbClr val="C4A77D"/>
                </a:solidFill>
                <a:latin typeface="Consolas"/>
              </a:defRPr>
            </a:pPr>
            <a:r>
              <a:t>&gt; HARD TOKEN &amp; BUDGET GATE ENFORCERS</a:t>
            </a:r>
          </a:p>
          <a:p>
            <a:pPr>
              <a:defRPr sz="950">
                <a:solidFill>
                  <a:srgbClr val="F4F0E8"/>
                </a:solidFill>
                <a:latin typeface="Segoe UI"/>
              </a:defRPr>
            </a:pPr>
            <a:r>
              <a:t>Real-time token gating at company and agent levels kills loops before budget thresholds are breached.</a:t>
            </a:r>
          </a:p>
          <a:p>
            <a:pPr>
              <a:spcBef>
                <a:spcPts val="800"/>
              </a:spcBef>
              <a:defRPr sz="1000" b="1">
                <a:solidFill>
                  <a:srgbClr val="C4A77D"/>
                </a:solidFill>
                <a:latin typeface="Consolas"/>
              </a:defRPr>
            </a:pPr>
            <a:r>
              <a:t>&gt; BUILT-IN QA &amp; VERIFICATION LOOPS</a:t>
            </a:r>
          </a:p>
          <a:p>
            <a:pPr>
              <a:defRPr sz="950">
                <a:solidFill>
                  <a:srgbClr val="F4F0E8"/>
                </a:solidFill>
                <a:latin typeface="Segoe UI"/>
              </a:defRPr>
            </a:pPr>
            <a:r>
              <a:t>Code and research must pass explicit test suites and human approval checkpoints before merge.</a:t>
            </a:r>
          </a:p>
          <a:p>
            <a:pPr>
              <a:spcBef>
                <a:spcPts val="800"/>
              </a:spcBef>
              <a:defRPr sz="1000" b="1">
                <a:solidFill>
                  <a:srgbClr val="C4A77D"/>
                </a:solidFill>
                <a:latin typeface="Consolas"/>
              </a:defRPr>
            </a:pPr>
            <a:r>
              <a:t>&gt; ENTERPRISE-SCOPED GOVERNANCE</a:t>
            </a:r>
          </a:p>
          <a:p>
            <a:pPr>
              <a:defRPr sz="950">
                <a:solidFill>
                  <a:srgbClr val="F4F0E8"/>
                </a:solidFill>
                <a:latin typeface="Segoe UI"/>
              </a:defRPr>
            </a:pPr>
            <a:r>
              <a:t>Role-based access, sandboxed runtime execution, encrypted credentials, and full audit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4A77D"/>
                </a:solidFill>
                <a:latin typeface="Consolas"/>
              </a:defRPr>
            </a:pPr>
            <a:r>
              <a:t>GEETORUSAI // CONTROL PLANE SPEC // CORE SYSTEM CONCEPT &amp; CATEGORIZATION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56BFF"/>
                </a:solidFill>
                <a:latin typeface="Consolas"/>
              </a:defRPr>
            </a:pPr>
            <a:r>
              <a:t>[ 03 / 14 ]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F0E8"/>
                </a:solidFill>
                <a:latin typeface="Trebuchet MS"/>
              </a:defRPr>
            </a:pPr>
            <a:r>
              <a:t>THE SOLUTION: ONE CONTROL PLANE, MULTIPLE SPECIALIZED AGENTS</a:t>
            </a:r>
          </a:p>
          <a:p>
            <a:pPr>
              <a:spcBef>
                <a:spcPts val="400"/>
              </a:spcBef>
              <a:defRPr sz="1200">
                <a:solidFill>
                  <a:srgbClr val="A0A0A0"/>
                </a:solidFill>
                <a:latin typeface="Segoe UI"/>
              </a:defRPr>
            </a:pPr>
            <a:r>
              <a:t>Clarifying the AI hierarchy: GeetorusAI is not just another LLM wrapper or coding agent—it is the operational orchestration layer.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2560320" cy="384048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56BFF"/>
                </a:solidFill>
                <a:latin typeface="Consolas"/>
              </a:defRPr>
            </a:pPr>
            <a:r>
              <a:t>01 / MODEL LAYER</a:t>
            </a:r>
          </a:p>
          <a:p>
            <a:pPr>
              <a:spcBef>
                <a:spcPts val="400"/>
              </a:spcBef>
              <a:defRPr sz="1300" b="1">
                <a:solidFill>
                  <a:srgbClr val="F4F0E8"/>
                </a:solidFill>
                <a:latin typeface="Trebuchet MS"/>
              </a:defRPr>
            </a:pPr>
            <a:r>
              <a:t>RAW INTELLIGENCE</a:t>
            </a:r>
          </a:p>
          <a:p>
            <a:pPr>
              <a:spcBef>
                <a:spcPts val="800"/>
              </a:spcBef>
              <a:defRPr sz="950">
                <a:solidFill>
                  <a:srgbClr val="A0A0A0"/>
                </a:solidFill>
                <a:latin typeface="Segoe UI"/>
              </a:defRPr>
            </a:pPr>
            <a:r>
              <a:t>Stateless next-token predictors.</a:t>
            </a:r>
            <a:br/>
            <a:r>
              <a:t>Zero execution memory.</a:t>
            </a:r>
            <a:br/>
            <a:r>
              <a:t>No environment access.</a:t>
            </a:r>
          </a:p>
          <a:p>
            <a:pPr>
              <a:spcBef>
                <a:spcPts val="1200"/>
              </a:spcBef>
              <a:defRPr sz="850" b="1">
                <a:solidFill>
                  <a:srgbClr val="C4A77D"/>
                </a:solidFill>
                <a:latin typeface="Consolas"/>
              </a:defRPr>
            </a:pPr>
            <a:r>
              <a:t>EXAMPLES / TECH:</a:t>
            </a:r>
          </a:p>
          <a:p>
            <a:pPr>
              <a:defRPr sz="900">
                <a:solidFill>
                  <a:srgbClr val="A0A0A0"/>
                </a:solidFill>
                <a:latin typeface="Segoe UI"/>
              </a:defRPr>
            </a:pPr>
            <a:r>
              <a:t>• OpenAI GPT-4o / o3</a:t>
            </a:r>
          </a:p>
          <a:p>
            <a:pPr>
              <a:defRPr sz="900">
                <a:solidFill>
                  <a:srgbClr val="A0A0A0"/>
                </a:solidFill>
                <a:latin typeface="Segoe UI"/>
              </a:defRPr>
            </a:pPr>
            <a:r>
              <a:t>• Anthropic Claude 3.7</a:t>
            </a:r>
          </a:p>
          <a:p>
            <a:pPr>
              <a:defRPr sz="900">
                <a:solidFill>
                  <a:srgbClr val="A0A0A0"/>
                </a:solidFill>
                <a:latin typeface="Segoe UI"/>
              </a:defRPr>
            </a:pPr>
            <a:r>
              <a:t>• Ollama / DeepSeek-R1</a:t>
            </a:r>
          </a:p>
          <a:p>
            <a:pPr>
              <a:defRPr sz="900">
                <a:solidFill>
                  <a:srgbClr val="A0A0A0"/>
                </a:solidFill>
                <a:latin typeface="Segoe UI"/>
              </a:defRPr>
            </a:pPr>
            <a:r>
              <a:t>• Local GGUF 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432" y="1737360"/>
            <a:ext cx="2560320" cy="384048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874519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56BFF"/>
                </a:solidFill>
                <a:latin typeface="Consolas"/>
              </a:defRPr>
            </a:pPr>
            <a:r>
              <a:t>02 / AGENT LAYER</a:t>
            </a:r>
          </a:p>
          <a:p>
            <a:pPr>
              <a:spcBef>
                <a:spcPts val="400"/>
              </a:spcBef>
              <a:defRPr sz="1300" b="1">
                <a:solidFill>
                  <a:srgbClr val="F4F0E8"/>
                </a:solidFill>
                <a:latin typeface="Trebuchet MS"/>
              </a:defRPr>
            </a:pPr>
            <a:r>
              <a:t>AUTONOMOUS ACTORS</a:t>
            </a:r>
          </a:p>
          <a:p>
            <a:pPr>
              <a:spcBef>
                <a:spcPts val="800"/>
              </a:spcBef>
              <a:defRPr sz="950">
                <a:solidFill>
                  <a:srgbClr val="A0A0A0"/>
                </a:solidFill>
                <a:latin typeface="Segoe UI"/>
              </a:defRPr>
            </a:pPr>
            <a:r>
              <a:t>Model paired with tools, prompt loop, and filesystem access.</a:t>
            </a:r>
            <a:br/>
            <a:r>
              <a:t>Performs single tasks.</a:t>
            </a:r>
          </a:p>
          <a:p>
            <a:pPr>
              <a:spcBef>
                <a:spcPts val="1200"/>
              </a:spcBef>
              <a:defRPr sz="850" b="1">
                <a:solidFill>
                  <a:srgbClr val="C4A77D"/>
                </a:solidFill>
                <a:latin typeface="Consolas"/>
              </a:defRPr>
            </a:pPr>
            <a:r>
              <a:t>EXAMPLES / TECH:</a:t>
            </a:r>
          </a:p>
          <a:p>
            <a:pPr>
              <a:defRPr sz="900">
                <a:solidFill>
                  <a:srgbClr val="A0A0A0"/>
                </a:solidFill>
                <a:latin typeface="Segoe UI"/>
              </a:defRPr>
            </a:pPr>
            <a:r>
              <a:t>• OpenCode Local Runtime</a:t>
            </a:r>
          </a:p>
          <a:p>
            <a:pPr>
              <a:defRPr sz="900">
                <a:solidFill>
                  <a:srgbClr val="A0A0A0"/>
                </a:solidFill>
                <a:latin typeface="Segoe UI"/>
              </a:defRPr>
            </a:pPr>
            <a:r>
              <a:t>• SWE-Bench workers</a:t>
            </a:r>
          </a:p>
          <a:p>
            <a:pPr>
              <a:defRPr sz="900">
                <a:solidFill>
                  <a:srgbClr val="A0A0A0"/>
                </a:solidFill>
                <a:latin typeface="Segoe UI"/>
              </a:defRPr>
            </a:pPr>
            <a:r>
              <a:t>• Browser automation agents</a:t>
            </a:r>
          </a:p>
          <a:p>
            <a:pPr>
              <a:defRPr sz="900">
                <a:solidFill>
                  <a:srgbClr val="A0A0A0"/>
                </a:solidFill>
                <a:latin typeface="Segoe UI"/>
              </a:defRPr>
            </a:pPr>
            <a:r>
              <a:t>• Research scraping bots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1737360"/>
            <a:ext cx="2560320" cy="384048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874519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56BFF"/>
                </a:solidFill>
                <a:latin typeface="Consolas"/>
              </a:defRPr>
            </a:pPr>
            <a:r>
              <a:t>03 / ORCHESTRATION</a:t>
            </a:r>
          </a:p>
          <a:p>
            <a:pPr>
              <a:spcBef>
                <a:spcPts val="400"/>
              </a:spcBef>
              <a:defRPr sz="1300" b="1">
                <a:solidFill>
                  <a:srgbClr val="F4F0E8"/>
                </a:solidFill>
                <a:latin typeface="Trebuchet MS"/>
              </a:defRPr>
            </a:pPr>
            <a:r>
              <a:t>CODE FRAMEWORKS</a:t>
            </a:r>
          </a:p>
          <a:p>
            <a:pPr>
              <a:spcBef>
                <a:spcPts val="800"/>
              </a:spcBef>
              <a:defRPr sz="950">
                <a:solidFill>
                  <a:srgbClr val="A0A0A0"/>
                </a:solidFill>
                <a:latin typeface="Segoe UI"/>
              </a:defRPr>
            </a:pPr>
            <a:r>
              <a:t>Python/TS libraries to write custom graph workflows.</a:t>
            </a:r>
            <a:br/>
            <a:r>
              <a:t>Requires manual dev &amp; host.</a:t>
            </a:r>
          </a:p>
          <a:p>
            <a:pPr>
              <a:spcBef>
                <a:spcPts val="1200"/>
              </a:spcBef>
              <a:defRPr sz="850" b="1">
                <a:solidFill>
                  <a:srgbClr val="C4A77D"/>
                </a:solidFill>
                <a:latin typeface="Consolas"/>
              </a:defRPr>
            </a:pPr>
            <a:r>
              <a:t>EXAMPLES / TECH:</a:t>
            </a:r>
          </a:p>
          <a:p>
            <a:pPr>
              <a:defRPr sz="900">
                <a:solidFill>
                  <a:srgbClr val="A0A0A0"/>
                </a:solidFill>
                <a:latin typeface="Segoe UI"/>
              </a:defRPr>
            </a:pPr>
            <a:r>
              <a:t>• LangGraph / LangChain</a:t>
            </a:r>
          </a:p>
          <a:p>
            <a:pPr>
              <a:defRPr sz="900">
                <a:solidFill>
                  <a:srgbClr val="A0A0A0"/>
                </a:solidFill>
                <a:latin typeface="Segoe UI"/>
              </a:defRPr>
            </a:pPr>
            <a:r>
              <a:t>• CrewAI Python SDK</a:t>
            </a:r>
          </a:p>
          <a:p>
            <a:pPr>
              <a:defRPr sz="900">
                <a:solidFill>
                  <a:srgbClr val="A0A0A0"/>
                </a:solidFill>
                <a:latin typeface="Segoe UI"/>
              </a:defRPr>
            </a:pPr>
            <a:r>
              <a:t>• Microsoft AutoGen</a:t>
            </a:r>
          </a:p>
          <a:p>
            <a:pPr>
              <a:defRPr sz="900">
                <a:solidFill>
                  <a:srgbClr val="A0A0A0"/>
                </a:solidFill>
                <a:latin typeface="Segoe UI"/>
              </a:defRPr>
            </a:pPr>
            <a:r>
              <a:t>• Custom script graphs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06256" y="1737360"/>
            <a:ext cx="2560320" cy="3840480"/>
          </a:xfrm>
          <a:prstGeom prst="rect">
            <a:avLst/>
          </a:prstGeom>
          <a:solidFill>
            <a:srgbClr val="181818"/>
          </a:solidFill>
          <a:ln w="15240">
            <a:solidFill>
              <a:srgbClr val="C4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1874519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C4A77D"/>
                </a:solidFill>
                <a:latin typeface="Consolas"/>
              </a:defRPr>
            </a:pPr>
            <a:r>
              <a:t>04 / CONTROL PLANE</a:t>
            </a:r>
          </a:p>
          <a:p>
            <a:pPr>
              <a:spcBef>
                <a:spcPts val="400"/>
              </a:spcBef>
              <a:defRPr sz="1300" b="1">
                <a:solidFill>
                  <a:srgbClr val="F4F0E8"/>
                </a:solidFill>
                <a:latin typeface="Trebuchet MS"/>
              </a:defRPr>
            </a:pPr>
            <a:r>
              <a:t>GEETORUSAI (THE OS)</a:t>
            </a:r>
          </a:p>
          <a:p>
            <a:pPr>
              <a:spcBef>
                <a:spcPts val="800"/>
              </a:spcBef>
              <a:defRPr sz="950">
                <a:solidFill>
                  <a:srgbClr val="F4F0E8"/>
                </a:solidFill>
                <a:latin typeface="Segoe UI"/>
              </a:defRPr>
            </a:pPr>
            <a:r>
              <a:t>Full Virtual Company OS with Web UI, DB persistence, budget gates, and human approval.</a:t>
            </a:r>
          </a:p>
          <a:p>
            <a:pPr>
              <a:spcBef>
                <a:spcPts val="1200"/>
              </a:spcBef>
              <a:defRPr sz="850" b="1">
                <a:solidFill>
                  <a:srgbClr val="356BFF"/>
                </a:solidFill>
                <a:latin typeface="Consolas"/>
              </a:defRPr>
            </a:pPr>
            <a:r>
              <a:t>CORE CAPABILITIES:</a:t>
            </a:r>
          </a:p>
          <a:p>
            <a:pPr>
              <a:defRPr sz="900">
                <a:solidFill>
                  <a:srgbClr val="F4F0E8"/>
                </a:solidFill>
                <a:latin typeface="Segoe UI"/>
              </a:defRPr>
            </a:pPr>
            <a:r>
              <a:t>• Multi-Agent Scheduling</a:t>
            </a:r>
          </a:p>
          <a:p>
            <a:pPr>
              <a:defRPr sz="900">
                <a:solidFill>
                  <a:srgbClr val="F4F0E8"/>
                </a:solidFill>
                <a:latin typeface="Segoe UI"/>
              </a:defRPr>
            </a:pPr>
            <a:r>
              <a:t>• Role-based Assignment</a:t>
            </a:r>
          </a:p>
          <a:p>
            <a:pPr>
              <a:defRPr sz="900">
                <a:solidFill>
                  <a:srgbClr val="F4F0E8"/>
                </a:solidFill>
                <a:latin typeface="Segoe UI"/>
              </a:defRPr>
            </a:pPr>
            <a:r>
              <a:t>• Strict Token-Gate Limits</a:t>
            </a:r>
          </a:p>
          <a:p>
            <a:pPr>
              <a:defRPr sz="900">
                <a:solidFill>
                  <a:srgbClr val="F4F0E8"/>
                </a:solidFill>
                <a:latin typeface="Segoe UI"/>
              </a:defRPr>
            </a:pPr>
            <a:r>
              <a:t>• Audit Trail &amp; Verification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715000"/>
            <a:ext cx="10728655" cy="685800"/>
          </a:xfrm>
          <a:prstGeom prst="rect">
            <a:avLst/>
          </a:prstGeom>
          <a:solidFill>
            <a:srgbClr val="121212"/>
          </a:solidFill>
          <a:ln w="15240">
            <a:solidFill>
              <a:srgbClr val="3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79008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4F0E8"/>
                </a:solidFill>
                <a:latin typeface="Consolas"/>
              </a:defRPr>
            </a:pPr>
            <a:r>
              <a:t>CORE ARCHITECTURAL THESIS: DO NOT MANAGE ISOLATED CHAT SESSIONS. COORDINATE WHOLE TEAMS AS AN OPERATING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4A77D"/>
                </a:solidFill>
                <a:latin typeface="Consolas"/>
              </a:defRPr>
            </a:pPr>
            <a:r>
              <a:t>GEETORUSAI // CONTROL PLANE SPEC // TECHNICAL DEEP-DIVE // FULL STACK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56BFF"/>
                </a:solidFill>
                <a:latin typeface="Consolas"/>
              </a:defRPr>
            </a:pPr>
            <a:r>
              <a:t>[ 04 / 14 ]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F0E8"/>
                </a:solidFill>
                <a:latin typeface="Trebuchet MS"/>
              </a:defRPr>
            </a:pPr>
            <a:r>
              <a:t>SYSTEM ARCHITECTURE: INSIDE THE GEETORUSAI CONTROL PLANE</a:t>
            </a:r>
          </a:p>
          <a:p>
            <a:pPr>
              <a:spcBef>
                <a:spcPts val="400"/>
              </a:spcBef>
              <a:defRPr sz="1200">
                <a:solidFill>
                  <a:srgbClr val="A0A0A0"/>
                </a:solidFill>
                <a:latin typeface="Segoe UI"/>
              </a:defRPr>
            </a:pPr>
            <a:r>
              <a:t>A 6-layer modular stack decoupling UI, application state, multi-agent orchestration, and sandboxed runtimes.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8412480" cy="64008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28216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C4A77D"/>
                </a:solidFill>
                <a:latin typeface="Consolas"/>
              </a:defRPr>
            </a:pPr>
            <a:r>
              <a:t>LAYER 1: USER INTERFACE  |  React 19 + Vite 6 + Tailwind + Lucide Icons</a:t>
            </a:r>
          </a:p>
          <a:p>
            <a:pPr>
              <a:spcBef>
                <a:spcPts val="2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Company Dashboard // Agent Configurator // Task Kanban &amp; DAG Graph // Live Token &amp; Cost Telemetry // Real-time Approval Gates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856232"/>
            <a:ext cx="1371600" cy="2743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4F0E8"/>
                </a:solidFill>
                <a:latin typeface="Consolas"/>
              </a:defRPr>
            </a:pPr>
            <a:r>
              <a:t>[ VERIFIED IN REPO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86584"/>
            <a:ext cx="8412480" cy="64008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C4A77D"/>
                </a:solidFill>
                <a:latin typeface="Consolas"/>
              </a:defRPr>
            </a:pPr>
            <a:r>
              <a:t>LAYER 2: API &amp; APP SERVICES  |  Express + TypeScript + Modular Routes</a:t>
            </a:r>
          </a:p>
          <a:p>
            <a:pPr>
              <a:spcBef>
                <a:spcPts val="2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Company Scope Guards // JWT &amp; Session Auth // Heartbeat Daemon (heartbeat.ts) // Task Lifecycle &amp; Dependency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2551176"/>
            <a:ext cx="1371600" cy="2743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4F0E8"/>
                </a:solidFill>
                <a:latin typeface="Consolas"/>
              </a:defRPr>
            </a:pPr>
            <a:r>
              <a:t>[ VERIFIED IN REPO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81528"/>
            <a:ext cx="8412480" cy="64008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18104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C4A77D"/>
                </a:solidFill>
                <a:latin typeface="Consolas"/>
              </a:defRPr>
            </a:pPr>
            <a:r>
              <a:t>LAYER 3: CONTROL PLANE  |  Orchestration &amp; Goal Decomposition Engine</a:t>
            </a:r>
          </a:p>
          <a:p>
            <a:pPr>
              <a:spcBef>
                <a:spcPts val="2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Goal Decomposition Pipeline // Role-based Task Dispatch // Dependency Graph Resolution // Failure Recovery Policies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3246120"/>
            <a:ext cx="1371600" cy="274320"/>
          </a:xfrm>
          <a:prstGeom prst="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4F0E8"/>
                </a:solidFill>
                <a:latin typeface="Consolas"/>
              </a:defRPr>
            </a:pPr>
            <a:r>
              <a:t>[ PARTIAL / ACTIVE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76472"/>
            <a:ext cx="8412480" cy="64008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13048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C4A77D"/>
                </a:solidFill>
                <a:latin typeface="Consolas"/>
              </a:defRPr>
            </a:pPr>
            <a:r>
              <a:t>LAYER 4: AGENT EXECUTION  |  Pluggable Agent Runtimes &amp; Adapters</a:t>
            </a:r>
          </a:p>
          <a:p>
            <a:pPr>
              <a:spcBef>
                <a:spcPts val="2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Tech Lead // Backend Specialist // QA Auditor // Security Sentinel // Research Analyst // Custom Tool Schemas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3941064"/>
            <a:ext cx="1371600" cy="274320"/>
          </a:xfrm>
          <a:prstGeom prst="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4F0E8"/>
                </a:solidFill>
                <a:latin typeface="Consolas"/>
              </a:defRPr>
            </a:pPr>
            <a:r>
              <a:t>[ PARTIAL / ACTIVE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71416"/>
            <a:ext cx="8412480" cy="64008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507992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C4A77D"/>
                </a:solidFill>
                <a:latin typeface="Consolas"/>
              </a:defRPr>
            </a:pPr>
            <a:r>
              <a:t>LAYER 5: MODEL &amp; RUNTIME ADAPTERS  |  Unified Local + Remote Model Routing</a:t>
            </a:r>
          </a:p>
          <a:p>
            <a:pPr>
              <a:spcBef>
                <a:spcPts val="2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OpenCode Local Model Adapter // Ollama &amp; LMStudio Integration // OpenAI &amp; Anthropic Hosted APIs // Auto-fallback Fallback Aliases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4636008"/>
            <a:ext cx="1371600" cy="2743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4F0E8"/>
                </a:solidFill>
                <a:latin typeface="Consolas"/>
              </a:defRPr>
            </a:pPr>
            <a:r>
              <a:t>[ VERIFIED IN REPO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166360"/>
            <a:ext cx="8412480" cy="64008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02936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C4A77D"/>
                </a:solidFill>
                <a:latin typeface="Consolas"/>
              </a:defRPr>
            </a:pPr>
            <a:r>
              <a:t>LAYER 6: DATA &amp; OBSERVABILITY  |  PostgreSQL + Drizzle ORM + Migration Runtime</a:t>
            </a:r>
          </a:p>
          <a:p>
            <a:pPr>
              <a:spcBef>
                <a:spcPts val="2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Embedded PG Zero-Config Runtime // Heartbeat &amp; Audit Logs // Token Consumption Ledger // Structured Task Artifacts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5330952"/>
            <a:ext cx="1371600" cy="2743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4F0E8"/>
                </a:solidFill>
                <a:latin typeface="Consolas"/>
              </a:defRPr>
            </a:pPr>
            <a:r>
              <a:t>[ VERIFIED IN REPO 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1691640"/>
            <a:ext cx="2133295" cy="4572000"/>
          </a:xfrm>
          <a:prstGeom prst="rect">
            <a:avLst/>
          </a:prstGeom>
          <a:solidFill>
            <a:srgbClr val="181818"/>
          </a:solidFill>
          <a:ln w="15240">
            <a:solidFill>
              <a:srgbClr val="C4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783080"/>
            <a:ext cx="19504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4A77D"/>
                </a:solidFill>
                <a:latin typeface="Trebuchet MS"/>
              </a:defRPr>
            </a:pPr>
            <a:r>
              <a:t>CROSS-CUTTING</a:t>
            </a:r>
            <a:br/>
            <a:r>
              <a:t>GOVERNANCE</a:t>
            </a:r>
          </a:p>
          <a:p>
            <a:pPr>
              <a:spcBef>
                <a:spcPts val="800"/>
              </a:spcBef>
              <a:defRPr sz="900" b="1">
                <a:solidFill>
                  <a:srgbClr val="356BFF"/>
                </a:solidFill>
                <a:latin typeface="Consolas"/>
              </a:defRPr>
            </a:pPr>
            <a:r>
              <a:t>&gt; Token-Gate Enforcer</a:t>
            </a:r>
          </a:p>
          <a:p>
            <a:pPr>
              <a:defRPr sz="800">
                <a:solidFill>
                  <a:srgbClr val="A0A0A0"/>
                </a:solidFill>
                <a:latin typeface="Segoe UI"/>
              </a:defRPr>
            </a:pPr>
            <a:r>
              <a:t>Hard company-level limits prevent infinite cost loops.</a:t>
            </a:r>
          </a:p>
          <a:p>
            <a:pPr>
              <a:spcBef>
                <a:spcPts val="800"/>
              </a:spcBef>
              <a:defRPr sz="900" b="1">
                <a:solidFill>
                  <a:srgbClr val="356BFF"/>
                </a:solidFill>
                <a:latin typeface="Consolas"/>
              </a:defRPr>
            </a:pPr>
            <a:r>
              <a:t>&gt; Approval Boundaries</a:t>
            </a:r>
          </a:p>
          <a:p>
            <a:pPr>
              <a:defRPr sz="800">
                <a:solidFill>
                  <a:srgbClr val="A0A0A0"/>
                </a:solidFill>
                <a:latin typeface="Segoe UI"/>
              </a:defRPr>
            </a:pPr>
            <a:r>
              <a:t>Destructive git/bash operations require user sign-off.</a:t>
            </a:r>
          </a:p>
          <a:p>
            <a:pPr>
              <a:spcBef>
                <a:spcPts val="800"/>
              </a:spcBef>
              <a:defRPr sz="900" b="1">
                <a:solidFill>
                  <a:srgbClr val="356BFF"/>
                </a:solidFill>
                <a:latin typeface="Consolas"/>
              </a:defRPr>
            </a:pPr>
            <a:r>
              <a:t>&gt; Company Isolation</a:t>
            </a:r>
          </a:p>
          <a:p>
            <a:pPr>
              <a:defRPr sz="800">
                <a:solidFill>
                  <a:srgbClr val="A0A0A0"/>
                </a:solidFill>
                <a:latin typeface="Segoe UI"/>
              </a:defRPr>
            </a:pPr>
            <a:r>
              <a:t>Multi-tenant tenant ID scoping across all tables.</a:t>
            </a:r>
          </a:p>
          <a:p>
            <a:pPr>
              <a:spcBef>
                <a:spcPts val="800"/>
              </a:spcBef>
              <a:defRPr sz="900" b="1">
                <a:solidFill>
                  <a:srgbClr val="356BFF"/>
                </a:solidFill>
                <a:latin typeface="Consolas"/>
              </a:defRPr>
            </a:pPr>
            <a:r>
              <a:t>&gt; Audit Telemetry</a:t>
            </a:r>
          </a:p>
          <a:p>
            <a:pPr>
              <a:defRPr sz="800">
                <a:solidFill>
                  <a:srgbClr val="A0A0A0"/>
                </a:solidFill>
                <a:latin typeface="Segoe UI"/>
              </a:defRPr>
            </a:pPr>
            <a:r>
              <a:t>Granular timestamps and step-by-step agent transcripts.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4A77D"/>
                </a:solidFill>
                <a:latin typeface="Consolas"/>
              </a:defRPr>
            </a:pPr>
            <a:r>
              <a:t>GEETORUSAI // CONTROL PLANE SPEC // EXECUTION PIPELINE &amp; STATE TRANSITION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56BFF"/>
                </a:solidFill>
                <a:latin typeface="Consolas"/>
              </a:defRPr>
            </a:pPr>
            <a:r>
              <a:t>[ 05 / 14 ]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F0E8"/>
                </a:solidFill>
                <a:latin typeface="Trebuchet MS"/>
              </a:defRPr>
            </a:pPr>
            <a:r>
              <a:t>HOW IT WORKS: FROM USER GOAL TO VERIFIED, PRODUCTION OUTPUT</a:t>
            </a:r>
          </a:p>
          <a:p>
            <a:pPr>
              <a:spcBef>
                <a:spcPts val="400"/>
              </a:spcBef>
              <a:defRPr sz="1200">
                <a:solidFill>
                  <a:srgbClr val="A0A0A0"/>
                </a:solidFill>
                <a:latin typeface="Segoe UI"/>
              </a:defRPr>
            </a:pPr>
            <a:r>
              <a:t>Step-by-step lifecycle showing goal decomposition, agent execution, automated QA, security gate, and human sign-off.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2560320" cy="201168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56BFF"/>
                </a:solidFill>
                <a:latin typeface="Consolas"/>
              </a:defRPr>
            </a:pPr>
            <a:r>
              <a:t>[ STEP 01 ]</a:t>
            </a:r>
          </a:p>
          <a:p>
            <a:pPr>
              <a:spcBef>
                <a:spcPts val="200"/>
              </a:spcBef>
              <a:defRPr sz="1100" b="1">
                <a:solidFill>
                  <a:srgbClr val="F4F0E8"/>
                </a:solidFill>
                <a:latin typeface="Trebuchet MS"/>
              </a:defRPr>
            </a:pPr>
            <a:r>
              <a:t>GOAL INGESTION</a:t>
            </a:r>
          </a:p>
          <a:p>
            <a:pPr>
              <a:spcBef>
                <a:spcPts val="4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User specifies high-level objective in UI or via CLI/API.</a:t>
            </a:r>
          </a:p>
          <a:p>
            <a:pPr>
              <a:spcBef>
                <a:spcPts val="600"/>
              </a:spcBef>
              <a:defRPr sz="750">
                <a:solidFill>
                  <a:srgbClr val="C4A77D"/>
                </a:solidFill>
                <a:latin typeface="Consolas"/>
              </a:defRPr>
            </a:pPr>
            <a:r>
              <a:t>ACTOR: USER INITIATION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432" y="1737360"/>
            <a:ext cx="2560320" cy="201168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847088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56BFF"/>
                </a:solidFill>
                <a:latin typeface="Consolas"/>
              </a:defRPr>
            </a:pPr>
            <a:r>
              <a:t>[ STEP 02 ]</a:t>
            </a:r>
          </a:p>
          <a:p>
            <a:pPr>
              <a:spcBef>
                <a:spcPts val="200"/>
              </a:spcBef>
              <a:defRPr sz="1100" b="1">
                <a:solidFill>
                  <a:srgbClr val="F4F0E8"/>
                </a:solidFill>
                <a:latin typeface="Trebuchet MS"/>
              </a:defRPr>
            </a:pPr>
            <a:r>
              <a:t>DECOMPOSITION</a:t>
            </a:r>
          </a:p>
          <a:p>
            <a:pPr>
              <a:spcBef>
                <a:spcPts val="4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Tech Lead analyzes requirements and produces task DAG.</a:t>
            </a:r>
          </a:p>
          <a:p>
            <a:pPr>
              <a:spcBef>
                <a:spcPts val="600"/>
              </a:spcBef>
              <a:defRPr sz="750">
                <a:solidFill>
                  <a:srgbClr val="C4A77D"/>
                </a:solidFill>
                <a:latin typeface="Consolas"/>
              </a:defRPr>
            </a:pPr>
            <a:r>
              <a:t>ACTOR: ORCHESTRATOR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1737360"/>
            <a:ext cx="2560320" cy="201168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847088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56BFF"/>
                </a:solidFill>
                <a:latin typeface="Consolas"/>
              </a:defRPr>
            </a:pPr>
            <a:r>
              <a:t>[ STEP 03 ]</a:t>
            </a:r>
          </a:p>
          <a:p>
            <a:pPr>
              <a:spcBef>
                <a:spcPts val="200"/>
              </a:spcBef>
              <a:defRPr sz="1100" b="1">
                <a:solidFill>
                  <a:srgbClr val="F4F0E8"/>
                </a:solidFill>
                <a:latin typeface="Trebuchet MS"/>
              </a:defRPr>
            </a:pPr>
            <a:r>
              <a:t>DISPATCH &amp; ASSIGN</a:t>
            </a:r>
          </a:p>
          <a:p>
            <a:pPr>
              <a:spcBef>
                <a:spcPts val="4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Tasks assigned to specialized workers (Dev, Analyst, QA).</a:t>
            </a:r>
          </a:p>
          <a:p>
            <a:pPr>
              <a:spcBef>
                <a:spcPts val="600"/>
              </a:spcBef>
              <a:defRPr sz="750">
                <a:solidFill>
                  <a:srgbClr val="C4A77D"/>
                </a:solidFill>
                <a:latin typeface="Consolas"/>
              </a:defRPr>
            </a:pPr>
            <a:r>
              <a:t>ACTOR: SCHEDULER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06256" y="1737360"/>
            <a:ext cx="2560320" cy="201168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1847088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56BFF"/>
                </a:solidFill>
                <a:latin typeface="Consolas"/>
              </a:defRPr>
            </a:pPr>
            <a:r>
              <a:t>[ STEP 04 ]</a:t>
            </a:r>
          </a:p>
          <a:p>
            <a:pPr>
              <a:spcBef>
                <a:spcPts val="200"/>
              </a:spcBef>
              <a:defRPr sz="1100" b="1">
                <a:solidFill>
                  <a:srgbClr val="F4F0E8"/>
                </a:solidFill>
                <a:latin typeface="Trebuchet MS"/>
              </a:defRPr>
            </a:pPr>
            <a:r>
              <a:t>EXECUTION LOOP</a:t>
            </a:r>
          </a:p>
          <a:p>
            <a:pPr>
              <a:spcBef>
                <a:spcPts val="4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Agents write code, execute tools, and build artifacts.</a:t>
            </a:r>
          </a:p>
          <a:p>
            <a:pPr>
              <a:spcBef>
                <a:spcPts val="600"/>
              </a:spcBef>
              <a:defRPr sz="750">
                <a:solidFill>
                  <a:srgbClr val="C4A77D"/>
                </a:solidFill>
                <a:latin typeface="Consolas"/>
              </a:defRPr>
            </a:pPr>
            <a:r>
              <a:t>ACTOR: SANDBOX RUNTIME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77639"/>
            <a:ext cx="2560320" cy="201168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87367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56BFF"/>
                </a:solidFill>
                <a:latin typeface="Consolas"/>
              </a:defRPr>
            </a:pPr>
            <a:r>
              <a:t>[ STEP 05 ]</a:t>
            </a:r>
          </a:p>
          <a:p>
            <a:pPr>
              <a:spcBef>
                <a:spcPts val="200"/>
              </a:spcBef>
              <a:defRPr sz="1100" b="1">
                <a:solidFill>
                  <a:srgbClr val="F4F0E8"/>
                </a:solidFill>
                <a:latin typeface="Trebuchet MS"/>
              </a:defRPr>
            </a:pPr>
            <a:r>
              <a:t>QA VERIFICATION</a:t>
            </a:r>
          </a:p>
          <a:p>
            <a:pPr>
              <a:spcBef>
                <a:spcPts val="4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Automated test suites &amp; syntax audits run on outputs.</a:t>
            </a:r>
          </a:p>
          <a:p>
            <a:pPr>
              <a:spcBef>
                <a:spcPts val="600"/>
              </a:spcBef>
              <a:defRPr sz="750">
                <a:solidFill>
                  <a:srgbClr val="C4A77D"/>
                </a:solidFill>
                <a:latin typeface="Consolas"/>
              </a:defRPr>
            </a:pPr>
            <a:r>
              <a:t>ACTOR: VERIFICATION 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6432" y="3977639"/>
            <a:ext cx="2560320" cy="201168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4087367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56BFF"/>
                </a:solidFill>
                <a:latin typeface="Consolas"/>
              </a:defRPr>
            </a:pPr>
            <a:r>
              <a:t>[ STEP 06 ]</a:t>
            </a:r>
          </a:p>
          <a:p>
            <a:pPr>
              <a:spcBef>
                <a:spcPts val="200"/>
              </a:spcBef>
              <a:defRPr sz="1100" b="1">
                <a:solidFill>
                  <a:srgbClr val="F4F0E8"/>
                </a:solidFill>
                <a:latin typeface="Trebuchet MS"/>
              </a:defRPr>
            </a:pPr>
            <a:r>
              <a:t>SECURITY GATE</a:t>
            </a:r>
          </a:p>
          <a:p>
            <a:pPr>
              <a:spcBef>
                <a:spcPts val="4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Code audit scans for vulnerabilities and secret exposure.</a:t>
            </a:r>
          </a:p>
          <a:p>
            <a:pPr>
              <a:spcBef>
                <a:spcPts val="600"/>
              </a:spcBef>
              <a:defRPr sz="750">
                <a:solidFill>
                  <a:srgbClr val="C4A77D"/>
                </a:solidFill>
                <a:latin typeface="Consolas"/>
              </a:defRPr>
            </a:pPr>
            <a:r>
              <a:t>ACTOR: SECURITY SENTINEL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3977639"/>
            <a:ext cx="2560320" cy="2011680"/>
          </a:xfrm>
          <a:prstGeom prst="rect">
            <a:avLst/>
          </a:prstGeom>
          <a:solidFill>
            <a:srgbClr val="181818"/>
          </a:solidFill>
          <a:ln w="15240">
            <a:solidFill>
              <a:srgbClr val="C4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4087367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C4A77D"/>
                </a:solidFill>
                <a:latin typeface="Consolas"/>
              </a:defRPr>
            </a:pPr>
            <a:r>
              <a:t>[ STEP 07 ]</a:t>
            </a:r>
          </a:p>
          <a:p>
            <a:pPr>
              <a:spcBef>
                <a:spcPts val="200"/>
              </a:spcBef>
              <a:defRPr sz="1100" b="1">
                <a:solidFill>
                  <a:srgbClr val="F4F0E8"/>
                </a:solidFill>
                <a:latin typeface="Trebuchet MS"/>
              </a:defRPr>
            </a:pPr>
            <a:r>
              <a:t>APPROVAL GATE</a:t>
            </a:r>
          </a:p>
          <a:p>
            <a:pPr>
              <a:spcBef>
                <a:spcPts val="4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Human reviews diffs &amp; approves deployment/merge.</a:t>
            </a:r>
          </a:p>
          <a:p>
            <a:pPr>
              <a:spcBef>
                <a:spcPts val="600"/>
              </a:spcBef>
              <a:defRPr sz="750">
                <a:solidFill>
                  <a:srgbClr val="356BFF"/>
                </a:solidFill>
                <a:latin typeface="Consolas"/>
              </a:defRPr>
            </a:pPr>
            <a:r>
              <a:t>ACTOR: HUMAN-IN-THE-LOOP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6256" y="3977639"/>
            <a:ext cx="2560320" cy="201168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43416" y="4087367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56BFF"/>
                </a:solidFill>
                <a:latin typeface="Consolas"/>
              </a:defRPr>
            </a:pPr>
            <a:r>
              <a:t>[ STEP 08 ]</a:t>
            </a:r>
          </a:p>
          <a:p>
            <a:pPr>
              <a:spcBef>
                <a:spcPts val="200"/>
              </a:spcBef>
              <a:defRPr sz="1100" b="1">
                <a:solidFill>
                  <a:srgbClr val="F4F0E8"/>
                </a:solidFill>
                <a:latin typeface="Trebuchet MS"/>
              </a:defRPr>
            </a:pPr>
            <a:r>
              <a:t>FINAL DELIVERY</a:t>
            </a:r>
          </a:p>
          <a:p>
            <a:pPr>
              <a:spcBef>
                <a:spcPts val="4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Verified artifact deployed or pushed to remote repository.</a:t>
            </a:r>
          </a:p>
          <a:p>
            <a:pPr>
              <a:spcBef>
                <a:spcPts val="600"/>
              </a:spcBef>
              <a:defRPr sz="750">
                <a:solidFill>
                  <a:srgbClr val="C4A77D"/>
                </a:solidFill>
                <a:latin typeface="Consolas"/>
              </a:defRPr>
            </a:pPr>
            <a:r>
              <a:t>ACTOR: OUTCOME DELIVERED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4A77D"/>
                </a:solidFill>
                <a:latin typeface="Consolas"/>
              </a:defRPr>
            </a:pPr>
            <a:r>
              <a:t>NOTE: Unlike black-box autonomous loops, GeetorusAI halts execution at Step 07 until explicit human confirmation is received.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4A77D"/>
                </a:solidFill>
                <a:latin typeface="Consolas"/>
              </a:defRPr>
            </a:pPr>
            <a:r>
              <a:t>GEETORUSAI // CONTROL PLANE SPEC // ORGANIZATIONAL HIERARCHY &amp; TASK DELEGATION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56BFF"/>
                </a:solidFill>
                <a:latin typeface="Consolas"/>
              </a:defRPr>
            </a:pPr>
            <a:r>
              <a:t>[ 06 / 14 ]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F0E8"/>
                </a:solidFill>
                <a:latin typeface="Trebuchet MS"/>
              </a:defRPr>
            </a:pPr>
            <a:r>
              <a:t>MULTI-AGENT COLLABORATION: A VIRTUAL AI COMPANY STRUCTURE</a:t>
            </a:r>
          </a:p>
          <a:p>
            <a:pPr>
              <a:spcBef>
                <a:spcPts val="400"/>
              </a:spcBef>
              <a:defRPr sz="1200">
                <a:solidFill>
                  <a:srgbClr val="A0A0A0"/>
                </a:solidFill>
                <a:latin typeface="Segoe UI"/>
              </a:defRPr>
            </a:pPr>
            <a:r>
              <a:t>Specialized agents mirror software company roles, passing structured artifacts through dependency-managed execution lanes.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1965960"/>
          </a:xfrm>
          <a:prstGeom prst="rect">
            <a:avLst/>
          </a:prstGeom>
          <a:solidFill>
            <a:srgbClr val="121212"/>
          </a:solidFill>
          <a:ln w="15240">
            <a:solidFill>
              <a:srgbClr val="C4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C4A77D"/>
                </a:solidFill>
                <a:latin typeface="Consolas"/>
              </a:defRPr>
            </a:pPr>
            <a:r>
              <a:t>ROLE // 01</a:t>
            </a:r>
          </a:p>
          <a:p>
            <a:pPr>
              <a:spcBef>
                <a:spcPts val="200"/>
              </a:spcBef>
              <a:defRPr sz="1150" b="1">
                <a:solidFill>
                  <a:srgbClr val="F4F0E8"/>
                </a:solidFill>
                <a:latin typeface="Trebuchet MS"/>
              </a:defRPr>
            </a:pPr>
            <a:r>
              <a:t>ORCHESTRATOR / TECH LEAD</a:t>
            </a:r>
          </a:p>
          <a:p>
            <a:pPr>
              <a:spcBef>
                <a:spcPts val="400"/>
              </a:spcBef>
              <a:defRPr sz="900">
                <a:solidFill>
                  <a:srgbClr val="A0A0A0"/>
                </a:solidFill>
                <a:latin typeface="Segoe UI"/>
              </a:defRPr>
            </a:pPr>
            <a:r>
              <a:t>Decomposes user objectives into atomic tasks, monitors agent health, resolves deadlocks, and aggregates results.</a:t>
            </a:r>
          </a:p>
          <a:p>
            <a:pPr>
              <a:spcBef>
                <a:spcPts val="600"/>
              </a:spcBef>
              <a:defRPr sz="800">
                <a:solidFill>
                  <a:srgbClr val="356BFF"/>
                </a:solidFill>
                <a:latin typeface="Consolas"/>
              </a:defRPr>
            </a:pPr>
            <a:r>
              <a:t>SUGGESTED ENGINE: GPT-4o / Claude 3.7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737360"/>
            <a:ext cx="3383280" cy="196596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47088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A0A0A0"/>
                </a:solidFill>
                <a:latin typeface="Consolas"/>
              </a:defRPr>
            </a:pPr>
            <a:r>
              <a:t>ROLE // 02</a:t>
            </a:r>
          </a:p>
          <a:p>
            <a:pPr>
              <a:spcBef>
                <a:spcPts val="200"/>
              </a:spcBef>
              <a:defRPr sz="1150" b="1">
                <a:solidFill>
                  <a:srgbClr val="F4F0E8"/>
                </a:solidFill>
                <a:latin typeface="Trebuchet MS"/>
              </a:defRPr>
            </a:pPr>
            <a:r>
              <a:t>RESEARCH ANALYST</a:t>
            </a:r>
          </a:p>
          <a:p>
            <a:pPr>
              <a:spcBef>
                <a:spcPts val="400"/>
              </a:spcBef>
              <a:defRPr sz="900">
                <a:solidFill>
                  <a:srgbClr val="A0A0A0"/>
                </a:solidFill>
                <a:latin typeface="Segoe UI"/>
              </a:defRPr>
            </a:pPr>
            <a:r>
              <a:t>Investigates APIs, retrieves documentation, scrapes requirements, and prepares background synthesis.</a:t>
            </a:r>
          </a:p>
          <a:p>
            <a:pPr>
              <a:spcBef>
                <a:spcPts val="600"/>
              </a:spcBef>
              <a:defRPr sz="800">
                <a:solidFill>
                  <a:srgbClr val="356BFF"/>
                </a:solidFill>
                <a:latin typeface="Consolas"/>
              </a:defRPr>
            </a:pPr>
            <a:r>
              <a:t>SUGGESTED ENGINE: DeepSeek-R1 / Sonnet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737360"/>
            <a:ext cx="3383280" cy="1965960"/>
          </a:xfrm>
          <a:prstGeom prst="rect">
            <a:avLst/>
          </a:prstGeom>
          <a:solidFill>
            <a:srgbClr val="121212"/>
          </a:solidFill>
          <a:ln w="15240">
            <a:solidFill>
              <a:srgbClr val="3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847088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56BFF"/>
                </a:solidFill>
                <a:latin typeface="Consolas"/>
              </a:defRPr>
            </a:pPr>
            <a:r>
              <a:t>ROLE // 03</a:t>
            </a:r>
          </a:p>
          <a:p>
            <a:pPr>
              <a:spcBef>
                <a:spcPts val="200"/>
              </a:spcBef>
              <a:defRPr sz="1150" b="1">
                <a:solidFill>
                  <a:srgbClr val="F4F0E8"/>
                </a:solidFill>
                <a:latin typeface="Trebuchet MS"/>
              </a:defRPr>
            </a:pPr>
            <a:r>
              <a:t>SOFTWARE DEVELOPER</a:t>
            </a:r>
          </a:p>
          <a:p>
            <a:pPr>
              <a:spcBef>
                <a:spcPts val="400"/>
              </a:spcBef>
              <a:defRPr sz="900">
                <a:solidFill>
                  <a:srgbClr val="A0A0A0"/>
                </a:solidFill>
                <a:latin typeface="Segoe UI"/>
              </a:defRPr>
            </a:pPr>
            <a:r>
              <a:t>Implements features, writes modular code, refactors components, and generates unit test harnesses.</a:t>
            </a:r>
          </a:p>
          <a:p>
            <a:pPr>
              <a:spcBef>
                <a:spcPts val="600"/>
              </a:spcBef>
              <a:defRPr sz="800">
                <a:solidFill>
                  <a:srgbClr val="356BFF"/>
                </a:solidFill>
                <a:latin typeface="Consolas"/>
              </a:defRPr>
            </a:pPr>
            <a:r>
              <a:t>SUGGESTED ENGINE: OpenCode / Codex / Gemma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3383280" cy="196596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41648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A0A0A0"/>
                </a:solidFill>
                <a:latin typeface="Consolas"/>
              </a:defRPr>
            </a:pPr>
            <a:r>
              <a:t>ROLE // 04</a:t>
            </a:r>
          </a:p>
          <a:p>
            <a:pPr>
              <a:spcBef>
                <a:spcPts val="200"/>
              </a:spcBef>
              <a:defRPr sz="1150" b="1">
                <a:solidFill>
                  <a:srgbClr val="F4F0E8"/>
                </a:solidFill>
                <a:latin typeface="Trebuchet MS"/>
              </a:defRPr>
            </a:pPr>
            <a:r>
              <a:t>QA ENGINEER</a:t>
            </a:r>
          </a:p>
          <a:p>
            <a:pPr>
              <a:spcBef>
                <a:spcPts val="400"/>
              </a:spcBef>
              <a:defRPr sz="900">
                <a:solidFill>
                  <a:srgbClr val="A0A0A0"/>
                </a:solidFill>
                <a:latin typeface="Segoe UI"/>
              </a:defRPr>
            </a:pPr>
            <a:r>
              <a:t>Executes integration tests, runs linters, catches edge cases, and returns structured regression tickets.</a:t>
            </a:r>
          </a:p>
          <a:p>
            <a:pPr>
              <a:spcBef>
                <a:spcPts val="600"/>
              </a:spcBef>
              <a:defRPr sz="800">
                <a:solidFill>
                  <a:srgbClr val="356BFF"/>
                </a:solidFill>
                <a:latin typeface="Consolas"/>
              </a:defRPr>
            </a:pPr>
            <a:r>
              <a:t>SUGGESTED ENGINE: Claude Haiku / GPT-4o-mini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931920"/>
            <a:ext cx="3383280" cy="196596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4041648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A0A0A0"/>
                </a:solidFill>
                <a:latin typeface="Consolas"/>
              </a:defRPr>
            </a:pPr>
            <a:r>
              <a:t>ROLE // 05</a:t>
            </a:r>
          </a:p>
          <a:p>
            <a:pPr>
              <a:spcBef>
                <a:spcPts val="200"/>
              </a:spcBef>
              <a:defRPr sz="1150" b="1">
                <a:solidFill>
                  <a:srgbClr val="F4F0E8"/>
                </a:solidFill>
                <a:latin typeface="Trebuchet MS"/>
              </a:defRPr>
            </a:pPr>
            <a:r>
              <a:t>SECURITY AUDITOR</a:t>
            </a:r>
          </a:p>
          <a:p>
            <a:pPr>
              <a:spcBef>
                <a:spcPts val="400"/>
              </a:spcBef>
              <a:defRPr sz="900">
                <a:solidFill>
                  <a:srgbClr val="A0A0A0"/>
                </a:solidFill>
                <a:latin typeface="Segoe UI"/>
              </a:defRPr>
            </a:pPr>
            <a:r>
              <a:t>Reviews code diffs for CVEs, credential leaks, injection vectors, and permission boundaries.</a:t>
            </a:r>
          </a:p>
          <a:p>
            <a:pPr>
              <a:spcBef>
                <a:spcPts val="600"/>
              </a:spcBef>
              <a:defRPr sz="800">
                <a:solidFill>
                  <a:srgbClr val="356BFF"/>
                </a:solidFill>
                <a:latin typeface="Consolas"/>
              </a:defRPr>
            </a:pPr>
            <a:r>
              <a:t>SUGGESTED ENGINE: Nemotron / Llama-Guard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3931920"/>
            <a:ext cx="3383280" cy="196596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4041648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A0A0A0"/>
                </a:solidFill>
                <a:latin typeface="Consolas"/>
              </a:defRPr>
            </a:pPr>
            <a:r>
              <a:t>ROLE // 06</a:t>
            </a:r>
          </a:p>
          <a:p>
            <a:pPr>
              <a:spcBef>
                <a:spcPts val="200"/>
              </a:spcBef>
              <a:defRPr sz="1150" b="1">
                <a:solidFill>
                  <a:srgbClr val="F4F0E8"/>
                </a:solidFill>
                <a:latin typeface="Trebuchet MS"/>
              </a:defRPr>
            </a:pPr>
            <a:r>
              <a:t>RELEASE REVIEWER</a:t>
            </a:r>
          </a:p>
          <a:p>
            <a:pPr>
              <a:spcBef>
                <a:spcPts val="400"/>
              </a:spcBef>
              <a:defRPr sz="900">
                <a:solidFill>
                  <a:srgbClr val="A0A0A0"/>
                </a:solidFill>
                <a:latin typeface="Segoe UI"/>
              </a:defRPr>
            </a:pPr>
            <a:r>
              <a:t>Validates output against original user acceptance criteria before signaling for human sign-off.</a:t>
            </a:r>
          </a:p>
          <a:p>
            <a:pPr>
              <a:spcBef>
                <a:spcPts val="600"/>
              </a:spcBef>
              <a:defRPr sz="800">
                <a:solidFill>
                  <a:srgbClr val="356BFF"/>
                </a:solidFill>
                <a:latin typeface="Consolas"/>
              </a:defRPr>
            </a:pPr>
            <a:r>
              <a:t>SUGGESTED ENGINE: Tech Lead / Orchestrator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943600"/>
            <a:ext cx="10728655" cy="50292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98932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4F0E8"/>
                </a:solidFill>
                <a:latin typeface="Consolas"/>
              </a:defRPr>
            </a:pPr>
            <a:r>
              <a:t>PARALLEL EXECUTION: Independent research &amp; coding run concurrently. Sequential gates block QA until development merges.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4A77D"/>
                </a:solidFill>
                <a:latin typeface="Consolas"/>
              </a:defRPr>
            </a:pPr>
            <a:r>
              <a:t>GEETORUSAI // CONTROL PLANE SPEC // CAPABILITY MATRIX &amp; VERIFICATION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56BFF"/>
                </a:solidFill>
                <a:latin typeface="Consolas"/>
              </a:defRPr>
            </a:pPr>
            <a:r>
              <a:t>[ 07 / 14 ]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F0E8"/>
                </a:solidFill>
                <a:latin typeface="Trebuchet MS"/>
              </a:defRPr>
            </a:pPr>
            <a:r>
              <a:t>FEATURES &amp; CAPABILITIES: AUDITED STATUS MATRIX</a:t>
            </a:r>
          </a:p>
          <a:p>
            <a:pPr>
              <a:spcBef>
                <a:spcPts val="400"/>
              </a:spcBef>
              <a:defRPr sz="1200">
                <a:solidFill>
                  <a:srgbClr val="A0A0A0"/>
                </a:solidFill>
                <a:latin typeface="Segoe UI"/>
              </a:defRPr>
            </a:pPr>
            <a:r>
              <a:t>Clear demarcation between verified production capabilities in the v0.3.1 codebase, partial implementations, and roadmap goals.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210312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2880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4A77D"/>
                </a:solidFill>
                <a:latin typeface="Trebuchet MS"/>
              </a:defRPr>
            </a:pPr>
            <a:r>
              <a:t>01 / AGENT MANAGEMENT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Company-Scoped Agent Catalog </a:t>
            </a:r>
            <a:r>
              <a:rPr sz="750" b="1">
                <a:solidFill>
                  <a:srgbClr val="2E7D32"/>
                </a:solidFill>
                <a:latin typeface="Consolas"/>
              </a:rPr>
              <a:t>[ VERIFIED ]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Custom Role &amp; Skill Bindings </a:t>
            </a:r>
            <a:r>
              <a:rPr sz="750" b="1">
                <a:solidFill>
                  <a:srgbClr val="2E7D32"/>
                </a:solidFill>
                <a:latin typeface="Consolas"/>
              </a:rPr>
              <a:t>[ VERIFIED ]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Real-time Heartbeat &amp; Health Check </a:t>
            </a:r>
            <a:r>
              <a:rPr sz="750" b="1">
                <a:solidFill>
                  <a:srgbClr val="2E7D32"/>
                </a:solidFill>
                <a:latin typeface="Consolas"/>
              </a:rPr>
              <a:t>[ VERIFIED ]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Dynamic Autonomous Agent Spawning </a:t>
            </a:r>
            <a:r>
              <a:rPr sz="750" b="1">
                <a:solidFill>
                  <a:srgbClr val="E65100"/>
                </a:solidFill>
                <a:latin typeface="Consolas"/>
              </a:rPr>
              <a:t>[ PARTIAL ]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737360"/>
            <a:ext cx="3383280" cy="210312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82880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4A77D"/>
                </a:solidFill>
                <a:latin typeface="Trebuchet MS"/>
              </a:defRPr>
            </a:pPr>
            <a:r>
              <a:t>02 / WORKFLOW ORCHESTRATION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Task DAG Creation &amp; State Tracking </a:t>
            </a:r>
            <a:r>
              <a:rPr sz="750" b="1">
                <a:solidFill>
                  <a:srgbClr val="2E7D32"/>
                </a:solidFill>
                <a:latin typeface="Consolas"/>
              </a:rPr>
              <a:t>[ VERIFIED ]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Step-level Dependency Management </a:t>
            </a:r>
            <a:r>
              <a:rPr sz="750" b="1">
                <a:solidFill>
                  <a:srgbClr val="2E7D32"/>
                </a:solidFill>
                <a:latin typeface="Consolas"/>
              </a:rPr>
              <a:t>[ VERIFIED ]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Automated Task Retry &amp; Recovery </a:t>
            </a:r>
            <a:r>
              <a:rPr sz="750" b="1">
                <a:solidFill>
                  <a:srgbClr val="E65100"/>
                </a:solidFill>
                <a:latin typeface="Consolas"/>
              </a:rPr>
              <a:t>[ PARTIAL ]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Autonomous Multi-Goal Rescheduling </a:t>
            </a:r>
            <a:r>
              <a:rPr sz="750" b="1">
                <a:solidFill>
                  <a:srgbClr val="5A5A5A"/>
                </a:solidFill>
                <a:latin typeface="Consolas"/>
              </a:rPr>
              <a:t>[ PLANNED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737360"/>
            <a:ext cx="3383280" cy="210312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182880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4A77D"/>
                </a:solidFill>
                <a:latin typeface="Trebuchet MS"/>
              </a:defRPr>
            </a:pPr>
            <a:r>
              <a:t>03 / MODEL CONNECTIVITY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OpenCode Local Execution Adapter </a:t>
            </a:r>
            <a:r>
              <a:rPr sz="750" b="1">
                <a:solidFill>
                  <a:srgbClr val="2E7D32"/>
                </a:solidFill>
                <a:latin typeface="Consolas"/>
              </a:rPr>
              <a:t>[ VERIFIED ]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Hosted LLM Support (OpenAI/Anthropic) </a:t>
            </a:r>
            <a:r>
              <a:rPr sz="750" b="1">
                <a:solidFill>
                  <a:srgbClr val="2E7D32"/>
                </a:solidFill>
                <a:latin typeface="Consolas"/>
              </a:rPr>
              <a:t>[ VERIFIED ]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Local Runtime Aliasing &amp; Auto-fallback </a:t>
            </a:r>
            <a:r>
              <a:rPr sz="750" b="1">
                <a:solidFill>
                  <a:srgbClr val="2E7D32"/>
                </a:solidFill>
                <a:latin typeface="Consolas"/>
              </a:rPr>
              <a:t>[ VERIFIED ]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Dynamic Cost/Latency Model Router </a:t>
            </a:r>
            <a:r>
              <a:rPr sz="750" b="1">
                <a:solidFill>
                  <a:srgbClr val="5A5A5A"/>
                </a:solidFill>
                <a:latin typeface="Consolas"/>
              </a:rPr>
              <a:t>[ PLANNED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3383280" cy="210312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1480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4A77D"/>
                </a:solidFill>
                <a:latin typeface="Trebuchet MS"/>
              </a:defRPr>
            </a:pPr>
            <a:r>
              <a:t>04 / GOVERNANCE &amp; BUDGETS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Hard Company Token-Gate Enforcement </a:t>
            </a:r>
            <a:r>
              <a:rPr sz="750" b="1">
                <a:solidFill>
                  <a:srgbClr val="2E7D32"/>
                </a:solidFill>
                <a:latin typeface="Consolas"/>
              </a:rPr>
              <a:t>[ VERIFIED ]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Approval Boundary Modals in UI </a:t>
            </a:r>
            <a:r>
              <a:rPr sz="750" b="1">
                <a:solidFill>
                  <a:srgbClr val="2E7D32"/>
                </a:solidFill>
                <a:latin typeface="Consolas"/>
              </a:rPr>
              <a:t>[ VERIFIED ]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Granular Cost Ledger per Run </a:t>
            </a:r>
            <a:r>
              <a:rPr sz="750" b="1">
                <a:solidFill>
                  <a:srgbClr val="2E7D32"/>
                </a:solidFill>
                <a:latin typeface="Consolas"/>
              </a:rPr>
              <a:t>[ VERIFIED ]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Multi-Tenant Org SSO / RBAC </a:t>
            </a:r>
            <a:r>
              <a:rPr sz="750" b="1">
                <a:solidFill>
                  <a:srgbClr val="5A5A5A"/>
                </a:solidFill>
                <a:latin typeface="Consolas"/>
              </a:rPr>
              <a:t>[ PLANNED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4023360"/>
            <a:ext cx="3383280" cy="210312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411480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4A77D"/>
                </a:solidFill>
                <a:latin typeface="Trebuchet MS"/>
              </a:defRPr>
            </a:pPr>
            <a:r>
              <a:t>05 / DEVELOPER EXPERIENCE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Modern Digital Brutalist UI </a:t>
            </a:r>
            <a:r>
              <a:rPr sz="750" b="1">
                <a:solidFill>
                  <a:srgbClr val="2E7D32"/>
                </a:solidFill>
                <a:latin typeface="Consolas"/>
              </a:rPr>
              <a:t>[ VERIFIED ]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Comprehensive CLI &amp; Local Runner </a:t>
            </a:r>
            <a:r>
              <a:rPr sz="750" b="1">
                <a:solidFill>
                  <a:srgbClr val="2E7D32"/>
                </a:solidFill>
                <a:latin typeface="Consolas"/>
              </a:rPr>
              <a:t>[ VERIFIED ]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Embedded Zero-Config PostgreSQL </a:t>
            </a:r>
            <a:r>
              <a:rPr sz="750" b="1">
                <a:solidFill>
                  <a:srgbClr val="2E7D32"/>
                </a:solidFill>
                <a:latin typeface="Consolas"/>
              </a:rPr>
              <a:t>[ VERIFIED ]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Custom Plugin SDK Architecture </a:t>
            </a:r>
            <a:r>
              <a:rPr sz="750" b="1">
                <a:solidFill>
                  <a:srgbClr val="E65100"/>
                </a:solidFill>
                <a:latin typeface="Consolas"/>
              </a:rPr>
              <a:t>[ PARTIAL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4023360"/>
            <a:ext cx="3383280" cy="210312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411480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4A77D"/>
                </a:solidFill>
                <a:latin typeface="Trebuchet MS"/>
              </a:defRPr>
            </a:pPr>
            <a:r>
              <a:t>06 / RESILIENCE &amp; OBSERVABILITY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End-to-End Audit &amp; Execution Logs </a:t>
            </a:r>
            <a:r>
              <a:rPr sz="750" b="1">
                <a:solidFill>
                  <a:srgbClr val="2E7D32"/>
                </a:solidFill>
                <a:latin typeface="Consolas"/>
              </a:rPr>
              <a:t>[ VERIFIED ]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Structured JSON Event Streams </a:t>
            </a:r>
            <a:r>
              <a:rPr sz="750" b="1">
                <a:solidFill>
                  <a:srgbClr val="2E7D32"/>
                </a:solidFill>
                <a:latin typeface="Consolas"/>
              </a:rPr>
              <a:t>[ VERIFIED ]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Automated Rollback on Test Failure </a:t>
            </a:r>
            <a:r>
              <a:rPr sz="750" b="1">
                <a:solidFill>
                  <a:srgbClr val="E65100"/>
                </a:solidFill>
                <a:latin typeface="Consolas"/>
              </a:rPr>
              <a:t>[ PARTIAL ]</a:t>
            </a: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• Self-Healing Agent Network </a:t>
            </a:r>
            <a:r>
              <a:rPr sz="750" b="1">
                <a:solidFill>
                  <a:srgbClr val="5A5A5A"/>
                </a:solidFill>
                <a:latin typeface="Consolas"/>
              </a:rPr>
              <a:t>[ PLANNED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4A77D"/>
                </a:solidFill>
                <a:latin typeface="Consolas"/>
              </a:defRPr>
            </a:pPr>
            <a:r>
              <a:t>GEETORUSAI // CONTROL PLANE SPEC // AUDIENCE ALIGNMENT &amp; USER VALUE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56BFF"/>
                </a:solidFill>
                <a:latin typeface="Consolas"/>
              </a:defRPr>
            </a:pPr>
            <a:r>
              <a:t>[ 08 / 14 ]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F0E8"/>
                </a:solidFill>
                <a:latin typeface="Trebuchet MS"/>
              </a:defRPr>
            </a:pPr>
            <a:r>
              <a:t>TARGET PERSONAS: WHO NEEDS THE GEETORUSAI CONTROL PLANE?</a:t>
            </a:r>
          </a:p>
          <a:p>
            <a:pPr>
              <a:spcBef>
                <a:spcPts val="400"/>
              </a:spcBef>
              <a:defRPr sz="1200">
                <a:solidFill>
                  <a:srgbClr val="A0A0A0"/>
                </a:solidFill>
                <a:latin typeface="Segoe UI"/>
              </a:defRPr>
            </a:pPr>
            <a:r>
              <a:t>Addressing specific operational pain points across indie builders, high-velocity startups, software teams, and enterprises.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120640" cy="2057400"/>
          </a:xfrm>
          <a:prstGeom prst="rect">
            <a:avLst/>
          </a:prstGeom>
          <a:solidFill>
            <a:srgbClr val="121212"/>
          </a:solidFill>
          <a:ln w="15240">
            <a:solidFill>
              <a:srgbClr val="C4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4A77D"/>
                </a:solidFill>
                <a:latin typeface="Trebuchet MS"/>
              </a:defRPr>
            </a:pPr>
            <a:r>
              <a:t>01 / INDIE DEVELOPERS &amp; BUILDERS</a:t>
            </a:r>
          </a:p>
          <a:p>
            <a:pPr>
              <a:spcBef>
                <a:spcPts val="400"/>
              </a:spcBef>
              <a:defRPr sz="950">
                <a:solidFill>
                  <a:srgbClr val="A0A0A0"/>
                </a:solidFill>
                <a:latin typeface="Segoe UI"/>
              </a:defRPr>
            </a:pPr>
            <a:r>
              <a:t>PAIN: Context switching between coding, testing, docs, and deployments alone.</a:t>
            </a:r>
          </a:p>
          <a:p>
            <a:pPr>
              <a:spcBef>
                <a:spcPts val="400"/>
              </a:spcBef>
              <a:defRPr sz="950">
                <a:solidFill>
                  <a:srgbClr val="A0A0A0"/>
                </a:solidFill>
                <a:latin typeface="Segoe UI"/>
              </a:defRPr>
            </a:pPr>
            <a:r>
              <a:t>WORKFLOW: Assign feature requests to Dev agent, test generation to QA agent.</a:t>
            </a:r>
          </a:p>
          <a:p>
            <a:pPr>
              <a:spcBef>
                <a:spcPts val="400"/>
              </a:spcBef>
              <a:defRPr sz="950">
                <a:solidFill>
                  <a:srgbClr val="F4F0E8"/>
                </a:solidFill>
                <a:latin typeface="Segoe UI"/>
              </a:defRPr>
            </a:pPr>
            <a:r>
              <a:t>VALUE: 5x delivery velocity without hiring contractor teams.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120640" cy="205740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56BFF"/>
                </a:solidFill>
                <a:latin typeface="Trebuchet MS"/>
              </a:defRPr>
            </a:pPr>
            <a:r>
              <a:t>02 / FAST-GROWING TECH STARTUPS</a:t>
            </a:r>
          </a:p>
          <a:p>
            <a:pPr>
              <a:spcBef>
                <a:spcPts val="400"/>
              </a:spcBef>
              <a:defRPr sz="950">
                <a:solidFill>
                  <a:srgbClr val="A0A0A0"/>
                </a:solidFill>
                <a:latin typeface="Segoe UI"/>
              </a:defRPr>
            </a:pPr>
            <a:r>
              <a:t>PAIN: High developer burn, slow sprint cycles, unmanaged AI tool sprawl.</a:t>
            </a:r>
          </a:p>
          <a:p>
            <a:pPr>
              <a:spcBef>
                <a:spcPts val="400"/>
              </a:spcBef>
              <a:defRPr sz="950">
                <a:solidFill>
                  <a:srgbClr val="A0A0A0"/>
                </a:solidFill>
                <a:latin typeface="Segoe UI"/>
              </a:defRPr>
            </a:pPr>
            <a:r>
              <a:t>WORKFLOW: Standardize automated code reviews, PR audits, and API docs.</a:t>
            </a:r>
          </a:p>
          <a:p>
            <a:pPr>
              <a:spcBef>
                <a:spcPts val="400"/>
              </a:spcBef>
              <a:defRPr sz="950">
                <a:solidFill>
                  <a:srgbClr val="F4F0E8"/>
                </a:solidFill>
                <a:latin typeface="Segoe UI"/>
              </a:defRPr>
            </a:pPr>
            <a:r>
              <a:t>VALUE: Enforces team-wide standards and cuts manual review time by 60%.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77639"/>
            <a:ext cx="5120640" cy="2057400"/>
          </a:xfrm>
          <a:prstGeom prst="rect">
            <a:avLst/>
          </a:prstGeom>
          <a:solidFill>
            <a:srgbClr val="121212"/>
          </a:solidFill>
          <a:ln w="15240">
            <a:solidFill>
              <a:srgbClr val="C4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79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4A77D"/>
                </a:solidFill>
                <a:latin typeface="Trebuchet MS"/>
              </a:defRPr>
            </a:pPr>
            <a:r>
              <a:t>03 / ENTERPRISE SOFTWARE TEAMS</a:t>
            </a:r>
          </a:p>
          <a:p>
            <a:pPr>
              <a:spcBef>
                <a:spcPts val="400"/>
              </a:spcBef>
              <a:defRPr sz="950">
                <a:solidFill>
                  <a:srgbClr val="A0A0A0"/>
                </a:solidFill>
                <a:latin typeface="Segoe UI"/>
              </a:defRPr>
            </a:pPr>
            <a:r>
              <a:t>PAIN: Fear of unconstrained AI agents committing unvetted code into production.</a:t>
            </a:r>
          </a:p>
          <a:p>
            <a:pPr>
              <a:spcBef>
                <a:spcPts val="400"/>
              </a:spcBef>
              <a:defRPr sz="950">
                <a:solidFill>
                  <a:srgbClr val="A0A0A0"/>
                </a:solidFill>
                <a:latin typeface="Segoe UI"/>
              </a:defRPr>
            </a:pPr>
            <a:r>
              <a:t>WORKFLOW: Mandatory approval boundaries and strict token budget policies.</a:t>
            </a:r>
          </a:p>
          <a:p>
            <a:pPr>
              <a:spcBef>
                <a:spcPts val="400"/>
              </a:spcBef>
              <a:defRPr sz="950">
                <a:solidFill>
                  <a:srgbClr val="F4F0E8"/>
                </a:solidFill>
                <a:latin typeface="Segoe UI"/>
              </a:defRPr>
            </a:pPr>
            <a:r>
              <a:t>VALUE: Governed autonomy with full SOC2-ready auditability and rollback.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77639"/>
            <a:ext cx="5120640" cy="205740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1479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56BFF"/>
                </a:solidFill>
                <a:latin typeface="Trebuchet MS"/>
              </a:defRPr>
            </a:pPr>
            <a:r>
              <a:t>04 / AI RESEARCHERS &amp; EXPERIMENTERS</a:t>
            </a:r>
          </a:p>
          <a:p>
            <a:pPr>
              <a:spcBef>
                <a:spcPts val="400"/>
              </a:spcBef>
              <a:defRPr sz="950">
                <a:solidFill>
                  <a:srgbClr val="A0A0A0"/>
                </a:solidFill>
                <a:latin typeface="Segoe UI"/>
              </a:defRPr>
            </a:pPr>
            <a:r>
              <a:t>PAIN: Difficulty bench-marking multi-agent graphs across diverse local models.</a:t>
            </a:r>
          </a:p>
          <a:p>
            <a:pPr>
              <a:spcBef>
                <a:spcPts val="400"/>
              </a:spcBef>
              <a:defRPr sz="950">
                <a:solidFill>
                  <a:srgbClr val="A0A0A0"/>
                </a:solidFill>
                <a:latin typeface="Segoe UI"/>
              </a:defRPr>
            </a:pPr>
            <a:r>
              <a:t>WORKFLOW: Pluggable model adapters (Ollama, LMStudio, OpenCode, Cloud APIs).</a:t>
            </a:r>
          </a:p>
          <a:p>
            <a:pPr>
              <a:spcBef>
                <a:spcPts val="400"/>
              </a:spcBef>
              <a:defRPr sz="950">
                <a:solidFill>
                  <a:srgbClr val="F4F0E8"/>
                </a:solidFill>
                <a:latin typeface="Segoe UI"/>
              </a:defRPr>
            </a:pPr>
            <a:r>
              <a:t>VALUE: Transparent runtime metrics, token traces, and zero vendor lock-in.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989320"/>
            <a:ext cx="10728655" cy="502920"/>
          </a:xfrm>
          <a:prstGeom prst="rect">
            <a:avLst/>
          </a:prstGeom>
          <a:solidFill>
            <a:srgbClr val="121212"/>
          </a:solidFill>
          <a:ln w="15240">
            <a:solidFill>
              <a:srgbClr val="3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4F0E8"/>
                </a:solidFill>
                <a:latin typeface="Consolas"/>
              </a:defRPr>
            </a:pPr>
            <a:r>
              <a:t>CORE PROMISE: Whether you are 1 person building a SaaS or a 50-person engineering org, GeetorusAI scales operational control.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4A77D"/>
                </a:solidFill>
                <a:latin typeface="Consolas"/>
              </a:defRPr>
            </a:pPr>
            <a:r>
              <a:t>GEETORUSAI // CONTROL PLANE SPEC // MARKET POSITIONING &amp; OBJECTIVE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56BFF"/>
                </a:solidFill>
                <a:latin typeface="Consolas"/>
              </a:defRPr>
            </a:pPr>
            <a:r>
              <a:t>[ 09 / 14 ]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F0E8"/>
                </a:solidFill>
                <a:latin typeface="Trebuchet MS"/>
              </a:defRPr>
            </a:pPr>
            <a:r>
              <a:t>COMPETITIVE LANDSCAPE: WHERE DOES GEETORUSAI FIT?</a:t>
            </a:r>
          </a:p>
          <a:p>
            <a:pPr>
              <a:spcBef>
                <a:spcPts val="400"/>
              </a:spcBef>
              <a:defRPr sz="1200">
                <a:solidFill>
                  <a:srgbClr val="A0A0A0"/>
                </a:solidFill>
                <a:latin typeface="Segoe UI"/>
              </a:defRPr>
            </a:pPr>
            <a:r>
              <a:t>Unlike code-only agent libraries or isolated coding bots, GeetorusAI delivers a comprehensive, self-hostable Virtual Company Control Plane.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737360"/>
                <a:gridCol w="1737360"/>
                <a:gridCol w="1737360"/>
                <a:gridCol w="1737360"/>
                <a:gridCol w="1676095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4F0E8"/>
                          </a:solidFill>
                          <a:latin typeface="Consolas"/>
                        </a:defRPr>
                      </a:pPr>
                      <a:r>
                        <a:t>CAPABILITY / CRITERIA</a:t>
                      </a:r>
                    </a:p>
                  </a:txBody>
                  <a:tcPr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4F0E8"/>
                          </a:solidFill>
                          <a:latin typeface="Consolas"/>
                        </a:defRPr>
                      </a:pPr>
                      <a:r>
                        <a:t>GEETORUSAI</a:t>
                      </a:r>
                    </a:p>
                  </a:txBody>
                  <a:tcPr>
                    <a:solidFill>
                      <a:srgbClr val="356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4F0E8"/>
                          </a:solidFill>
                          <a:latin typeface="Consolas"/>
                        </a:defRPr>
                      </a:pPr>
                      <a:r>
                        <a:t>LANGGRAPH</a:t>
                      </a:r>
                    </a:p>
                  </a:txBody>
                  <a:tcPr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4F0E8"/>
                          </a:solidFill>
                          <a:latin typeface="Consolas"/>
                        </a:defRPr>
                      </a:pPr>
                      <a:r>
                        <a:t>CREWAI</a:t>
                      </a:r>
                    </a:p>
                  </a:txBody>
                  <a:tcPr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4F0E8"/>
                          </a:solidFill>
                          <a:latin typeface="Consolas"/>
                        </a:defRPr>
                      </a:pPr>
                      <a:r>
                        <a:t>AUTOGEN</a:t>
                      </a:r>
                    </a:p>
                  </a:txBody>
                  <a:tcPr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4F0E8"/>
                          </a:solidFill>
                          <a:latin typeface="Consolas"/>
                        </a:defRPr>
                      </a:pPr>
                      <a:r>
                        <a:t>OPENHANDS</a:t>
                      </a:r>
                    </a:p>
                  </a:txBody>
                  <a:tcPr>
                    <a:solidFill>
                      <a:srgbClr val="18181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F4F0E8"/>
                          </a:solidFill>
                          <a:latin typeface="Consolas"/>
                        </a:defRPr>
                      </a:pPr>
                      <a:r>
                        <a:t>Primary Product Class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4A77D"/>
                          </a:solidFill>
                          <a:latin typeface="Segoe UI"/>
                        </a:defRPr>
                      </a:pPr>
                      <a:r>
                        <a:t>Control Plane / OS</a:t>
                      </a:r>
                    </a:p>
                  </a:txBody>
                  <a:tcPr>
                    <a:solidFill>
                      <a:srgbClr val="101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A0A0A0"/>
                          </a:solidFill>
                          <a:latin typeface="Segoe UI"/>
                        </a:defRPr>
                      </a:pPr>
                      <a:r>
                        <a:t>Graph Framework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A0A0A0"/>
                          </a:solidFill>
                          <a:latin typeface="Segoe UI"/>
                        </a:defRPr>
                      </a:pPr>
                      <a:r>
                        <a:t>Agent Framework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A0A0A0"/>
                          </a:solidFill>
                          <a:latin typeface="Segoe UI"/>
                        </a:defRPr>
                      </a:pPr>
                      <a:r>
                        <a:t>Multi-Agent SDK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A0A0A0"/>
                          </a:solidFill>
                          <a:latin typeface="Segoe UI"/>
                        </a:defRPr>
                      </a:pPr>
                      <a:r>
                        <a:t>Single Coding Agent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F4F0E8"/>
                          </a:solidFill>
                          <a:latin typeface="Consolas"/>
                        </a:defRPr>
                      </a:pPr>
                      <a:r>
                        <a:t>Out-of-Box Web UI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4A77D"/>
                          </a:solidFill>
                          <a:latin typeface="Segoe UI"/>
                        </a:defRPr>
                      </a:pPr>
                      <a:r>
                        <a:t>Full React Dashboard</a:t>
                      </a:r>
                    </a:p>
                  </a:txBody>
                  <a:tcPr>
                    <a:solidFill>
                      <a:srgbClr val="101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A0A0A0"/>
                          </a:solidFill>
                          <a:latin typeface="Segoe UI"/>
                        </a:defRPr>
                      </a:pPr>
                      <a:r>
                        <a:t>LangGraph Studio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A0A0A0"/>
                          </a:solidFill>
                          <a:latin typeface="Segoe UI"/>
                        </a:defRPr>
                      </a:pPr>
                      <a:r>
                        <a:t>CrewAI Enterprise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A0A0A0"/>
                          </a:solidFill>
                          <a:latin typeface="Segoe UI"/>
                        </a:defRPr>
                      </a:pPr>
                      <a:r>
                        <a:t>AutoGen Studio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A0A0A0"/>
                          </a:solidFill>
                          <a:latin typeface="Segoe UI"/>
                        </a:defRPr>
                      </a:pPr>
                      <a:r>
                        <a:t>React Web Sandbox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F4F0E8"/>
                          </a:solidFill>
                          <a:latin typeface="Consolas"/>
                        </a:defRPr>
                      </a:pPr>
                      <a:r>
                        <a:t>Token &amp; Budget Gates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4A77D"/>
                          </a:solidFill>
                          <a:latin typeface="Segoe UI"/>
                        </a:defRPr>
                      </a:pPr>
                      <a:r>
                        <a:t>Hard Limits Verified</a:t>
                      </a:r>
                    </a:p>
                  </a:txBody>
                  <a:tcPr>
                    <a:solidFill>
                      <a:srgbClr val="101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A0A0A0"/>
                          </a:solidFill>
                          <a:latin typeface="Segoe UI"/>
                        </a:defRPr>
                      </a:pPr>
                      <a:r>
                        <a:t>Config Dependent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A0A0A0"/>
                          </a:solidFill>
                          <a:latin typeface="Segoe UI"/>
                        </a:defRPr>
                      </a:pPr>
                      <a:r>
                        <a:t>Manual Tracking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A0A0A0"/>
                          </a:solidFill>
                          <a:latin typeface="Segoe UI"/>
                        </a:defRPr>
                      </a:pPr>
                      <a:r>
                        <a:t>Manual Tracking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A0A0A0"/>
                          </a:solidFill>
                          <a:latin typeface="Segoe UI"/>
                        </a:defRPr>
                      </a:pPr>
                      <a:r>
                        <a:t>Session Limits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F4F0E8"/>
                          </a:solidFill>
                          <a:latin typeface="Consolas"/>
                        </a:defRPr>
                      </a:pPr>
                      <a:r>
                        <a:t>Approval Boundaries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4A77D"/>
                          </a:solidFill>
                          <a:latin typeface="Segoe UI"/>
                        </a:defRPr>
                      </a:pPr>
                      <a:r>
                        <a:t>Native Modal Gates</a:t>
                      </a:r>
                    </a:p>
                  </a:txBody>
                  <a:tcPr>
                    <a:solidFill>
                      <a:srgbClr val="101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A0A0A0"/>
                          </a:solidFill>
                          <a:latin typeface="Segoe UI"/>
                        </a:defRPr>
                      </a:pPr>
                      <a:r>
                        <a:t>Human-in-loop Node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A0A0A0"/>
                          </a:solidFill>
                          <a:latin typeface="Segoe UI"/>
                        </a:defRPr>
                      </a:pPr>
                      <a:r>
                        <a:t>Manual Hook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A0A0A0"/>
                          </a:solidFill>
                          <a:latin typeface="Segoe UI"/>
                        </a:defRPr>
                      </a:pPr>
                      <a:r>
                        <a:t>UserProxyAgent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A0A0A0"/>
                          </a:solidFill>
                          <a:latin typeface="Segoe UI"/>
                        </a:defRPr>
                      </a:pPr>
                      <a:r>
                        <a:t>Terminal Prompts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F4F0E8"/>
                          </a:solidFill>
                          <a:latin typeface="Consolas"/>
                        </a:defRPr>
                      </a:pPr>
                      <a:r>
                        <a:t>Self-Hosted / Open DB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4A77D"/>
                          </a:solidFill>
                          <a:latin typeface="Segoe UI"/>
                        </a:defRPr>
                      </a:pPr>
                      <a:r>
                        <a:t>PostgreSQL + Drizzle</a:t>
                      </a:r>
                    </a:p>
                  </a:txBody>
                  <a:tcPr>
                    <a:solidFill>
                      <a:srgbClr val="101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A0A0A0"/>
                          </a:solidFill>
                          <a:latin typeface="Segoe UI"/>
                        </a:defRPr>
                      </a:pPr>
                      <a:r>
                        <a:t>Cloud / Local state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A0A0A0"/>
                          </a:solidFill>
                          <a:latin typeface="Segoe UI"/>
                        </a:defRPr>
                      </a:pPr>
                      <a:r>
                        <a:t>Cloud / SQLite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A0A0A0"/>
                          </a:solidFill>
                          <a:latin typeface="Segoe UI"/>
                        </a:defRPr>
                      </a:pPr>
                      <a:r>
                        <a:t>Local JSON/SQLite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A0A0A0"/>
                          </a:solidFill>
                          <a:latin typeface="Segoe UI"/>
                        </a:defRPr>
                      </a:pPr>
                      <a:r>
                        <a:t>Docker Container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0350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0A0A0"/>
                </a:solidFill>
                <a:latin typeface="Consolas"/>
              </a:defRPr>
            </a:pPr>
            <a:r>
              <a:t>SOURCES: Official documentation from LangChain/LangGraph, CrewAI, Microsoft AutoGen, and OpenHands (AllRightsReserved 2025/2026). Comparative matrix reflects out-of-the-box features vs. required developer scaffolding.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4A77D"/>
                </a:solidFill>
                <a:latin typeface="Consolas"/>
              </a:defRPr>
            </a:pPr>
            <a:r>
              <a:t>GEETORUSAI // CONTROL PLANE SPEC // STRATEGIC MOAT &amp; TECHNICAL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56BFF"/>
                </a:solidFill>
                <a:latin typeface="Consolas"/>
              </a:defRPr>
            </a:pPr>
            <a:r>
              <a:t>[ 10 / 14 ]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F0E8"/>
                </a:solidFill>
                <a:latin typeface="Trebuchet MS"/>
              </a:defRPr>
            </a:pPr>
            <a:r>
              <a:t>DIFFERENTIATION: WHY BUILD ON GEETORUSAI?</a:t>
            </a:r>
          </a:p>
          <a:p>
            <a:pPr>
              <a:spcBef>
                <a:spcPts val="400"/>
              </a:spcBef>
              <a:defRPr sz="1200">
                <a:solidFill>
                  <a:srgbClr val="A0A0A0"/>
                </a:solidFill>
                <a:latin typeface="Segoe UI"/>
              </a:defRPr>
            </a:pPr>
            <a:r>
              <a:t>The strategic architecture that sets GeetorusAI apart from code libraries, black-box bots, and proprietary closed clouds.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4114800"/>
          </a:xfrm>
          <a:prstGeom prst="rect">
            <a:avLst/>
          </a:prstGeom>
          <a:solidFill>
            <a:srgbClr val="121212"/>
          </a:solidFill>
          <a:ln w="15240">
            <a:solidFill>
              <a:srgbClr val="C4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30540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4A77D"/>
                </a:solidFill>
                <a:latin typeface="Trebuchet MS"/>
              </a:defRPr>
            </a:pPr>
            <a:r>
              <a:t>PILLAR 01: CONTROL PLANE FIRST</a:t>
            </a:r>
          </a:p>
          <a:p>
            <a:pPr>
              <a:spcBef>
                <a:spcPts val="600"/>
              </a:spcBef>
              <a:defRPr sz="950" b="1">
                <a:solidFill>
                  <a:srgbClr val="F4F0E8"/>
                </a:solidFill>
                <a:latin typeface="Segoe UI"/>
              </a:defRPr>
            </a:pPr>
            <a:r>
              <a:t>Libraries give you code syntax; GeetorusAI gives you an operational control plane.</a:t>
            </a:r>
          </a:p>
          <a:p>
            <a:pPr>
              <a:spcBef>
                <a:spcPts val="600"/>
              </a:spcBef>
              <a:defRPr sz="900">
                <a:solidFill>
                  <a:srgbClr val="A0A0A0"/>
                </a:solidFill>
                <a:latin typeface="Segoe UI"/>
              </a:defRPr>
            </a:pPr>
            <a:r>
              <a:t>&gt; Pre-built company workspaces and permission hierarchies.</a:t>
            </a:r>
          </a:p>
          <a:p>
            <a:pPr>
              <a:spcBef>
                <a:spcPts val="600"/>
              </a:spcBef>
              <a:defRPr sz="900">
                <a:solidFill>
                  <a:srgbClr val="A0A0A0"/>
                </a:solidFill>
                <a:latin typeface="Segoe UI"/>
              </a:defRPr>
            </a:pPr>
            <a:r>
              <a:t>&gt; Persistent task DAGs that survive server restarts.</a:t>
            </a:r>
          </a:p>
          <a:p>
            <a:pPr>
              <a:spcBef>
                <a:spcPts val="600"/>
              </a:spcBef>
              <a:defRPr sz="900">
                <a:solidFill>
                  <a:srgbClr val="A0A0A0"/>
                </a:solidFill>
                <a:latin typeface="Segoe UI"/>
              </a:defRPr>
            </a:pPr>
            <a:r>
              <a:t>&gt; Decoupled from specific model APIs—switch from OpenAI to local Ollama in one click.</a:t>
            </a:r>
          </a:p>
          <a:p>
            <a:pPr>
              <a:spcBef>
                <a:spcPts val="600"/>
              </a:spcBef>
              <a:defRPr sz="900">
                <a:solidFill>
                  <a:srgbClr val="A0A0A0"/>
                </a:solidFill>
                <a:latin typeface="Segoe UI"/>
              </a:defRPr>
            </a:pPr>
            <a:r>
              <a:t>&gt; True multi-agent coordination, not a single looped prompt.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737360"/>
            <a:ext cx="3383280" cy="4114800"/>
          </a:xfrm>
          <a:prstGeom prst="rect">
            <a:avLst/>
          </a:prstGeom>
          <a:solidFill>
            <a:srgbClr val="121212"/>
          </a:solidFill>
          <a:ln w="15240">
            <a:solidFill>
              <a:srgbClr val="3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874519"/>
            <a:ext cx="30540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56BFF"/>
                </a:solidFill>
                <a:latin typeface="Trebuchet MS"/>
              </a:defRPr>
            </a:pPr>
            <a:r>
              <a:t>PILLAR 02: GOVERNED BY DESIGN</a:t>
            </a:r>
          </a:p>
          <a:p>
            <a:pPr>
              <a:spcBef>
                <a:spcPts val="600"/>
              </a:spcBef>
              <a:defRPr sz="950" b="1">
                <a:solidFill>
                  <a:srgbClr val="F4F0E8"/>
                </a:solidFill>
                <a:latin typeface="Segoe UI"/>
              </a:defRPr>
            </a:pPr>
            <a:r>
              <a:t>Autonomy without governance is an enterprise non-starter.</a:t>
            </a:r>
          </a:p>
          <a:p>
            <a:pPr>
              <a:spcBef>
                <a:spcPts val="600"/>
              </a:spcBef>
              <a:defRPr sz="900">
                <a:solidFill>
                  <a:srgbClr val="A0A0A0"/>
                </a:solidFill>
                <a:latin typeface="Segoe UI"/>
              </a:defRPr>
            </a:pPr>
            <a:r>
              <a:t>&gt; Hardware-enforced token thresholds per company.</a:t>
            </a:r>
          </a:p>
          <a:p>
            <a:pPr>
              <a:spcBef>
                <a:spcPts val="600"/>
              </a:spcBef>
              <a:defRPr sz="900">
                <a:solidFill>
                  <a:srgbClr val="A0A0A0"/>
                </a:solidFill>
                <a:latin typeface="Segoe UI"/>
              </a:defRPr>
            </a:pPr>
            <a:r>
              <a:t>&gt; Interactive approval gates for git pushes and database migrations.</a:t>
            </a:r>
          </a:p>
          <a:p>
            <a:pPr>
              <a:spcBef>
                <a:spcPts val="600"/>
              </a:spcBef>
              <a:defRPr sz="900">
                <a:solidFill>
                  <a:srgbClr val="A0A0A0"/>
                </a:solidFill>
                <a:latin typeface="Segoe UI"/>
              </a:defRPr>
            </a:pPr>
            <a:r>
              <a:t>&gt; Full audit trails recording model tokens, execution latency, and bash traces.</a:t>
            </a:r>
          </a:p>
          <a:p>
            <a:pPr>
              <a:spcBef>
                <a:spcPts val="600"/>
              </a:spcBef>
              <a:defRPr sz="900">
                <a:solidFill>
                  <a:srgbClr val="A0A0A0"/>
                </a:solidFill>
                <a:latin typeface="Segoe UI"/>
              </a:defRPr>
            </a:pPr>
            <a:r>
              <a:t>&gt; Air-gapped and self-hostable on internal private clouds.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737360"/>
            <a:ext cx="3383280" cy="411480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874519"/>
            <a:ext cx="30540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F0E8"/>
                </a:solidFill>
                <a:latin typeface="Trebuchet MS"/>
              </a:defRPr>
            </a:pPr>
            <a:r>
              <a:t>PILLAR 03: DEVELOPER TRANSPARENCY</a:t>
            </a:r>
          </a:p>
          <a:p>
            <a:pPr>
              <a:spcBef>
                <a:spcPts val="600"/>
              </a:spcBef>
              <a:defRPr sz="950" b="1">
                <a:solidFill>
                  <a:srgbClr val="F4F0E8"/>
                </a:solidFill>
                <a:latin typeface="Segoe UI"/>
              </a:defRPr>
            </a:pPr>
            <a:r>
              <a:t>Zero vendor lock-in with a modular, inspectable TypeScript/React architecture.</a:t>
            </a:r>
          </a:p>
          <a:p>
            <a:pPr>
              <a:spcBef>
                <a:spcPts val="600"/>
              </a:spcBef>
              <a:defRPr sz="900">
                <a:solidFill>
                  <a:srgbClr val="A0A0A0"/>
                </a:solidFill>
                <a:latin typeface="Segoe UI"/>
              </a:defRPr>
            </a:pPr>
            <a:r>
              <a:t>&gt; Clean separation: Server, UI, DB, Shared, Adapters, Plugins.</a:t>
            </a:r>
          </a:p>
          <a:p>
            <a:pPr>
              <a:spcBef>
                <a:spcPts val="600"/>
              </a:spcBef>
              <a:defRPr sz="900">
                <a:solidFill>
                  <a:srgbClr val="A0A0A0"/>
                </a:solidFill>
                <a:latin typeface="Segoe UI"/>
              </a:defRPr>
            </a:pPr>
            <a:r>
              <a:t>&gt; Embedded zero-config PostgreSQL for immediate local hacking.</a:t>
            </a:r>
          </a:p>
          <a:p>
            <a:pPr>
              <a:spcBef>
                <a:spcPts val="600"/>
              </a:spcBef>
              <a:defRPr sz="900">
                <a:solidFill>
                  <a:srgbClr val="A0A0A0"/>
                </a:solidFill>
                <a:latin typeface="Segoe UI"/>
              </a:defRPr>
            </a:pPr>
            <a:r>
              <a:t>&gt; Extensible adapter SDK to plug in proprietary enterprise tools.</a:t>
            </a:r>
          </a:p>
          <a:p>
            <a:pPr>
              <a:spcBef>
                <a:spcPts val="600"/>
              </a:spcBef>
              <a:defRPr sz="900">
                <a:solidFill>
                  <a:srgbClr val="A0A0A0"/>
                </a:solidFill>
                <a:latin typeface="Segoe UI"/>
              </a:defRPr>
            </a:pPr>
            <a:r>
              <a:t>&gt; Modern brutalist design language for dense, productive workflows.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350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4A77D"/>
                </a:solidFill>
                <a:latin typeface="Consolas"/>
              </a:defRPr>
            </a:pPr>
            <a:r>
              <a:t>POSITIONING STATEMENT: GeetorusAI turns autonomous AI agents into controllable, auditable, and collaborative engineering teammates.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4A77D"/>
                </a:solidFill>
                <a:latin typeface="Consolas"/>
              </a:defRPr>
            </a:pPr>
            <a:r>
              <a:t>GEETORUSAI // CONTROL PLANE SPEC // COMMERCIALIZATION &amp; MARKET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56BFF"/>
                </a:solidFill>
                <a:latin typeface="Consolas"/>
              </a:defRPr>
            </a:pPr>
            <a:r>
              <a:t>[ 11 / 14 ]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F0E8"/>
                </a:solidFill>
                <a:latin typeface="Trebuchet MS"/>
              </a:defRPr>
            </a:pPr>
            <a:r>
              <a:t>BUSINESS MODEL: PROPOSED MONETIZATION &amp; MARKET EXPANSION</a:t>
            </a:r>
          </a:p>
          <a:p>
            <a:pPr>
              <a:spcBef>
                <a:spcPts val="400"/>
              </a:spcBef>
              <a:defRPr sz="1200">
                <a:solidFill>
                  <a:srgbClr val="A0A0A0"/>
                </a:solidFill>
                <a:latin typeface="Segoe UI"/>
              </a:defRPr>
            </a:pPr>
            <a:r>
              <a:t>An open-core model designed to capture developer grassroots adoption and transition into governed enterprise control planes.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411480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30540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4F0E8"/>
                </a:solidFill>
                <a:latin typeface="Trebuchet MS"/>
              </a:defRPr>
            </a:pPr>
            <a:r>
              <a:t>TIER 1: OPEN-SOURCE CORE</a:t>
            </a:r>
          </a:p>
          <a:p>
            <a:pPr>
              <a:spcBef>
                <a:spcPts val="200"/>
              </a:spcBef>
              <a:defRPr sz="800" b="1">
                <a:solidFill>
                  <a:srgbClr val="C4A77D"/>
                </a:solidFill>
                <a:latin typeface="Consolas"/>
              </a:defRPr>
            </a:pPr>
            <a:r>
              <a:t>FREE FOREVER // APACHE 2.0 / MIT</a:t>
            </a:r>
          </a:p>
          <a:p>
            <a:pPr>
              <a:spcBef>
                <a:spcPts val="3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• Self-hosted single-node instance</a:t>
            </a:r>
          </a:p>
          <a:p>
            <a:pPr>
              <a:spcBef>
                <a:spcPts val="3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• Embedded PostgreSQL runtime</a:t>
            </a:r>
          </a:p>
          <a:p>
            <a:pPr>
              <a:spcBef>
                <a:spcPts val="3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• Unlimited local and hosted model connections</a:t>
            </a:r>
          </a:p>
          <a:p>
            <a:pPr>
              <a:spcBef>
                <a:spcPts val="3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• Core task DAG decomposition engine</a:t>
            </a:r>
          </a:p>
          <a:p>
            <a:pPr>
              <a:spcBef>
                <a:spcPts val="3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• Community plugins and role definitions</a:t>
            </a:r>
          </a:p>
          <a:p>
            <a:pPr>
              <a:spcBef>
                <a:spcPts val="300"/>
              </a:spcBef>
              <a:defRPr sz="850">
                <a:solidFill>
                  <a:srgbClr val="A0A0A0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GOAL: Drive global developer mindshare and become the default standard for autonomous agent coordination.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737360"/>
            <a:ext cx="3383280" cy="4114800"/>
          </a:xfrm>
          <a:prstGeom prst="rect">
            <a:avLst/>
          </a:prstGeom>
          <a:solidFill>
            <a:srgbClr val="121212"/>
          </a:solidFill>
          <a:ln w="15240">
            <a:solidFill>
              <a:srgbClr val="C4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874519"/>
            <a:ext cx="30540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4F0E8"/>
                </a:solidFill>
                <a:latin typeface="Trebuchet MS"/>
              </a:defRPr>
            </a:pPr>
            <a:r>
              <a:t>TIER 2: MANAGED PRO &amp; TEAMS</a:t>
            </a:r>
          </a:p>
          <a:p>
            <a:pPr>
              <a:spcBef>
                <a:spcPts val="200"/>
              </a:spcBef>
              <a:defRPr sz="800" b="1">
                <a:solidFill>
                  <a:srgbClr val="C4A77D"/>
                </a:solidFill>
                <a:latin typeface="Consolas"/>
              </a:defRPr>
            </a:pPr>
            <a:r>
              <a:t>SUBSCRIPTION (SAAS / CLOUD)</a:t>
            </a:r>
          </a:p>
          <a:p>
            <a:pPr>
              <a:spcBef>
                <a:spcPts val="3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• Fully hosted Geetorus Cloud (no ops required)</a:t>
            </a:r>
          </a:p>
          <a:p>
            <a:pPr>
              <a:spcBef>
                <a:spcPts val="3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• Multi-user team collaboration &amp; shared workspaces</a:t>
            </a:r>
          </a:p>
          <a:p>
            <a:pPr>
              <a:spcBef>
                <a:spcPts val="3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• Persistent distributed cloud storage</a:t>
            </a:r>
          </a:p>
          <a:p>
            <a:pPr>
              <a:spcBef>
                <a:spcPts val="3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• Centralized API key &amp; secret vaulting</a:t>
            </a:r>
          </a:p>
          <a:p>
            <a:pPr>
              <a:spcBef>
                <a:spcPts val="3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• Advanced analytics and cost optimization alerts</a:t>
            </a:r>
          </a:p>
          <a:p>
            <a:pPr>
              <a:spcBef>
                <a:spcPts val="300"/>
              </a:spcBef>
              <a:defRPr sz="850">
                <a:solidFill>
                  <a:srgbClr val="A0A0A0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GOAL: Monetize high-velocity startups and growing engineering agencies.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737360"/>
            <a:ext cx="3383280" cy="4114800"/>
          </a:xfrm>
          <a:prstGeom prst="rect">
            <a:avLst/>
          </a:prstGeom>
          <a:solidFill>
            <a:srgbClr val="121212"/>
          </a:solidFill>
          <a:ln w="15240">
            <a:solidFill>
              <a:srgbClr val="3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874519"/>
            <a:ext cx="30540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4F0E8"/>
                </a:solidFill>
                <a:latin typeface="Trebuchet MS"/>
              </a:defRPr>
            </a:pPr>
            <a:r>
              <a:t>TIER 3: ENTERPRISE CONTROL PLANE</a:t>
            </a:r>
          </a:p>
          <a:p>
            <a:pPr>
              <a:spcBef>
                <a:spcPts val="200"/>
              </a:spcBef>
              <a:defRPr sz="800" b="1">
                <a:solidFill>
                  <a:srgbClr val="356BFF"/>
                </a:solidFill>
                <a:latin typeface="Consolas"/>
              </a:defRPr>
            </a:pPr>
            <a:r>
              <a:t>ANNUAL CONTRACT // AIR-GAPPED</a:t>
            </a:r>
          </a:p>
          <a:p>
            <a:pPr>
              <a:spcBef>
                <a:spcPts val="3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• Private VPC &amp; air-gapped on-premises deployment</a:t>
            </a:r>
          </a:p>
          <a:p>
            <a:pPr>
              <a:spcBef>
                <a:spcPts val="3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• Enterprise SSO (SAML/Okta) &amp; granular RBAC</a:t>
            </a:r>
          </a:p>
          <a:p>
            <a:pPr>
              <a:spcBef>
                <a:spcPts val="3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• SOC2 Type II compliance audit logging</a:t>
            </a:r>
          </a:p>
          <a:p>
            <a:pPr>
              <a:spcBef>
                <a:spcPts val="3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• Dedicated SLA and custom adapter engineering</a:t>
            </a:r>
          </a:p>
          <a:p>
            <a:pPr>
              <a:spcBef>
                <a:spcPts val="3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• Multi-region agent mesh coordination</a:t>
            </a:r>
          </a:p>
          <a:p>
            <a:pPr>
              <a:spcBef>
                <a:spcPts val="300"/>
              </a:spcBef>
              <a:defRPr sz="850">
                <a:solidFill>
                  <a:srgbClr val="A0A0A0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GOAL: Capture high-value enterprise AI governance budgets.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350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4A77D"/>
                </a:solidFill>
                <a:latin typeface="Consolas"/>
              </a:defRPr>
            </a:pPr>
            <a:r>
              <a:t>MARKET CONTEXT: Enterprise AI spending is shifting from raw inference (LLMs) to orchestration, evaluation, and governance platforms.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4A77D"/>
                </a:solidFill>
                <a:latin typeface="Consolas"/>
              </a:defRPr>
            </a:pPr>
            <a:r>
              <a:t>GEETORUSAI // CONTROL PLANE SPEC // RISK CONTAINMENT &amp; OPERATIONAL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56BFF"/>
                </a:solidFill>
                <a:latin typeface="Consolas"/>
              </a:defRPr>
            </a:pPr>
            <a:r>
              <a:t>[ 12 / 14 ]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F0E8"/>
                </a:solidFill>
                <a:latin typeface="Trebuchet MS"/>
              </a:defRPr>
            </a:pPr>
            <a:r>
              <a:t>SECURITY &amp; RESPONSIBLE AUTONOMY: GOVERNING AGENT RISKS</a:t>
            </a:r>
          </a:p>
          <a:p>
            <a:pPr>
              <a:spcBef>
                <a:spcPts val="400"/>
              </a:spcBef>
              <a:defRPr sz="1200">
                <a:solidFill>
                  <a:srgbClr val="A0A0A0"/>
                </a:solidFill>
                <a:latin typeface="Segoe UI"/>
              </a:defRPr>
            </a:pPr>
            <a:r>
              <a:t>Architectural isolation boundaries, least-privilege tool execution, hard budget fences, and deterministic rollback systems.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120640" cy="1920240"/>
          </a:xfrm>
          <a:prstGeom prst="rect">
            <a:avLst/>
          </a:prstGeom>
          <a:solidFill>
            <a:srgbClr val="121212"/>
          </a:solidFill>
          <a:ln w="15240">
            <a:solidFill>
              <a:srgbClr val="C4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C4A77D"/>
                </a:solidFill>
                <a:latin typeface="Trebuchet MS"/>
              </a:defRPr>
            </a:pPr>
            <a:r>
              <a:t>01 / ISOLATED EXECUTION SANDBOXES</a:t>
            </a:r>
          </a:p>
          <a:p>
            <a:pPr>
              <a:spcBef>
                <a:spcPts val="400"/>
              </a:spcBef>
              <a:defRPr sz="900">
                <a:solidFill>
                  <a:srgbClr val="F4F0E8"/>
                </a:solidFill>
                <a:latin typeface="Segoe UI"/>
              </a:defRPr>
            </a:pPr>
            <a:r>
              <a:t>Agent code execution (bash scripts, git operations, file writes) occurs within bounded directories. Untrusted AI code is isolated from host system secrets.</a:t>
            </a:r>
          </a:p>
          <a:p>
            <a:pPr>
              <a:spcBef>
                <a:spcPts val="600"/>
              </a:spcBef>
              <a:defRPr sz="850" b="1">
                <a:solidFill>
                  <a:srgbClr val="C4A77D"/>
                </a:solidFill>
                <a:latin typeface="Consolas"/>
              </a:defRPr>
            </a:pPr>
            <a:r>
              <a:t>DEFENSE: Host containment &amp; ephemeral execution containers.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120640" cy="1920240"/>
          </a:xfrm>
          <a:prstGeom prst="rect">
            <a:avLst/>
          </a:prstGeom>
          <a:solidFill>
            <a:srgbClr val="121212"/>
          </a:solidFill>
          <a:ln w="15240">
            <a:solidFill>
              <a:srgbClr val="3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47088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56BFF"/>
                </a:solidFill>
                <a:latin typeface="Trebuchet MS"/>
              </a:defRPr>
            </a:pPr>
            <a:r>
              <a:t>02 / INTERACTIVE APPROVAL BOUNDARIES</a:t>
            </a:r>
          </a:p>
          <a:p>
            <a:pPr>
              <a:spcBef>
                <a:spcPts val="400"/>
              </a:spcBef>
              <a:defRPr sz="900">
                <a:solidFill>
                  <a:srgbClr val="F4F0E8"/>
                </a:solidFill>
                <a:latin typeface="Segoe UI"/>
              </a:defRPr>
            </a:pPr>
            <a:r>
              <a:t>High-consequence actions (pushing code to production, deleting databases, altering network configs) halt automatically until verified by a human operator.</a:t>
            </a:r>
          </a:p>
          <a:p>
            <a:pPr>
              <a:spcBef>
                <a:spcPts val="600"/>
              </a:spcBef>
              <a:defRPr sz="850" b="1">
                <a:solidFill>
                  <a:srgbClr val="C4A77D"/>
                </a:solidFill>
                <a:latin typeface="Consolas"/>
              </a:defRPr>
            </a:pPr>
            <a:r>
              <a:t>DEFENSE: Zero unauthorized production deployments.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40479"/>
            <a:ext cx="5120640" cy="1920240"/>
          </a:xfrm>
          <a:prstGeom prst="rect">
            <a:avLst/>
          </a:prstGeom>
          <a:solidFill>
            <a:srgbClr val="121212"/>
          </a:solidFill>
          <a:ln w="15240">
            <a:solidFill>
              <a:srgbClr val="C4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50207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C4A77D"/>
                </a:solidFill>
                <a:latin typeface="Trebuchet MS"/>
              </a:defRPr>
            </a:pPr>
            <a:r>
              <a:t>03 / COMPANY-LEVEL TOKEN GATES</a:t>
            </a:r>
          </a:p>
          <a:p>
            <a:pPr>
              <a:spcBef>
                <a:spcPts val="400"/>
              </a:spcBef>
              <a:defRPr sz="900">
                <a:solidFill>
                  <a:srgbClr val="F4F0E8"/>
                </a:solidFill>
                <a:latin typeface="Segoe UI"/>
              </a:defRPr>
            </a:pPr>
            <a:r>
              <a:t>Hard budget fences enforced at the SQL database layer. If an agent loops on an error, the company token gate trips and immediately terminates execution.</a:t>
            </a:r>
          </a:p>
          <a:p>
            <a:pPr>
              <a:spcBef>
                <a:spcPts val="600"/>
              </a:spcBef>
              <a:defRPr sz="850" b="1">
                <a:solidFill>
                  <a:srgbClr val="C4A77D"/>
                </a:solidFill>
                <a:latin typeface="Consolas"/>
              </a:defRPr>
            </a:pPr>
            <a:r>
              <a:t>DEFENSE: Guaranteed protection against runaway API invoices.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840479"/>
            <a:ext cx="5120640" cy="1920240"/>
          </a:xfrm>
          <a:prstGeom prst="rect">
            <a:avLst/>
          </a:prstGeom>
          <a:solidFill>
            <a:srgbClr val="121212"/>
          </a:solidFill>
          <a:ln w="15240">
            <a:solidFill>
              <a:srgbClr val="3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950207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56BFF"/>
                </a:solidFill>
                <a:latin typeface="Trebuchet MS"/>
              </a:defRPr>
            </a:pPr>
            <a:r>
              <a:t>04 / FULL EXECUTION TRACE AUDITABILITY</a:t>
            </a:r>
          </a:p>
          <a:p>
            <a:pPr>
              <a:spcBef>
                <a:spcPts val="400"/>
              </a:spcBef>
              <a:defRPr sz="900">
                <a:solidFill>
                  <a:srgbClr val="F4F0E8"/>
                </a:solidFill>
                <a:latin typeface="Segoe UI"/>
              </a:defRPr>
            </a:pPr>
            <a:r>
              <a:t>Every heartbeat, model prompt, tool call, stdout/stderr stream, and state mutation is logged with immutable timestamps for complete forensics.</a:t>
            </a:r>
          </a:p>
          <a:p>
            <a:pPr>
              <a:spcBef>
                <a:spcPts val="600"/>
              </a:spcBef>
              <a:defRPr sz="850" b="1">
                <a:solidFill>
                  <a:srgbClr val="C4A77D"/>
                </a:solidFill>
                <a:latin typeface="Consolas"/>
              </a:defRPr>
            </a:pPr>
            <a:r>
              <a:t>DEFENSE: Comprehensive regulatory compliance &amp; post-mortem debuggability.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608076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4F0E8"/>
                </a:solidFill>
                <a:latin typeface="Consolas"/>
              </a:defRPr>
            </a:pPr>
            <a:r>
              <a:t>PRINCIPLE: AI autonomy is only scalable when paired with rigorous, deterministic safety boundaries.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4A77D"/>
                </a:solidFill>
                <a:latin typeface="Consolas"/>
              </a:defRPr>
            </a:pPr>
            <a:r>
              <a:t>GEETORUSAI // CONTROL PLANE SPEC // STRATEGIC EVOLUTION &amp; ENGINEERING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56BFF"/>
                </a:solidFill>
                <a:latin typeface="Consolas"/>
              </a:defRPr>
            </a:pPr>
            <a:r>
              <a:t>[ 13 / 14 ]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F0E8"/>
                </a:solidFill>
                <a:latin typeface="Trebuchet MS"/>
              </a:defRPr>
            </a:pPr>
            <a:r>
              <a:t>PRODUCT ROADMAP: FROM AGENT CONTROL TO AUTONOMOUS ORGS</a:t>
            </a:r>
          </a:p>
          <a:p>
            <a:pPr>
              <a:spcBef>
                <a:spcPts val="400"/>
              </a:spcBef>
              <a:defRPr sz="1200">
                <a:solidFill>
                  <a:srgbClr val="A0A0A0"/>
                </a:solidFill>
                <a:latin typeface="Segoe UI"/>
              </a:defRPr>
            </a:pPr>
            <a:r>
              <a:t>A staged progression from stable single-company control plane to distributed, self-healing multi-agent meshes.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4114800"/>
          </a:xfrm>
          <a:prstGeom prst="rect">
            <a:avLst/>
          </a:prstGeom>
          <a:solidFill>
            <a:srgbClr val="121212"/>
          </a:solidFill>
          <a:ln w="15240">
            <a:solidFill>
              <a:srgbClr val="C4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30540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F0E8"/>
                </a:solidFill>
                <a:latin typeface="Trebuchet MS"/>
              </a:defRPr>
            </a:pPr>
            <a:r>
              <a:t>PHASE 1: FOUNDATION</a:t>
            </a:r>
          </a:p>
          <a:p>
            <a:pPr>
              <a:spcBef>
                <a:spcPts val="200"/>
              </a:spcBef>
              <a:defRPr sz="850" b="1">
                <a:solidFill>
                  <a:srgbClr val="C4A77D"/>
                </a:solidFill>
                <a:latin typeface="Consolas"/>
              </a:defRPr>
            </a:pPr>
            <a:r>
              <a:t>CURRENT: v0.3.1 (NOW)</a:t>
            </a:r>
          </a:p>
          <a:p>
            <a:pPr>
              <a:spcBef>
                <a:spcPts val="4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[DONE] Company-scoped agent &amp; task persistence</a:t>
            </a:r>
          </a:p>
          <a:p>
            <a:pPr>
              <a:spcBef>
                <a:spcPts val="4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[DONE] Embedded zero-config PostgreSQL runtime</a:t>
            </a:r>
          </a:p>
          <a:p>
            <a:pPr>
              <a:spcBef>
                <a:spcPts val="4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[DONE] OpenCode local model adapter &amp; model fallback</a:t>
            </a:r>
          </a:p>
          <a:p>
            <a:pPr>
              <a:spcBef>
                <a:spcPts val="4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[DONE] Hard token gates &amp; approval boundary UI</a:t>
            </a:r>
          </a:p>
          <a:p>
            <a:pPr>
              <a:spcBef>
                <a:spcPts val="400"/>
              </a:spcBef>
              <a:defRPr sz="850">
                <a:solidFill>
                  <a:srgbClr val="F4F0E8"/>
                </a:solidFill>
                <a:latin typeface="Segoe UI"/>
              </a:defRPr>
            </a:pPr>
            <a:r>
              <a:t>[DONE] Modern brutalist engineering interface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737360"/>
            <a:ext cx="3383280" cy="4114800"/>
          </a:xfrm>
          <a:prstGeom prst="rect">
            <a:avLst/>
          </a:prstGeom>
          <a:solidFill>
            <a:srgbClr val="121212"/>
          </a:solidFill>
          <a:ln w="15240">
            <a:solidFill>
              <a:srgbClr val="3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874519"/>
            <a:ext cx="30540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F0E8"/>
                </a:solidFill>
                <a:latin typeface="Trebuchet MS"/>
              </a:defRPr>
            </a:pPr>
            <a:r>
              <a:t>PHASE 2: COLLABORATION</a:t>
            </a:r>
          </a:p>
          <a:p>
            <a:pPr>
              <a:spcBef>
                <a:spcPts val="200"/>
              </a:spcBef>
              <a:defRPr sz="850" b="1">
                <a:solidFill>
                  <a:srgbClr val="356BFF"/>
                </a:solidFill>
                <a:latin typeface="Consolas"/>
              </a:defRPr>
            </a:pPr>
            <a:r>
              <a:t>NEXT: v0.4.0 (Q1-Q2)</a:t>
            </a:r>
          </a:p>
          <a:p>
            <a:pPr>
              <a:spcBef>
                <a:spcPts val="4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[NEXT] Multi-agent dynamic DAG rescheduling</a:t>
            </a:r>
          </a:p>
          <a:p>
            <a:pPr>
              <a:spcBef>
                <a:spcPts val="4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[NEXT] Automated regression QA feedback loops</a:t>
            </a:r>
          </a:p>
          <a:p>
            <a:pPr>
              <a:spcBef>
                <a:spcPts val="4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[NEXT] Shared vector workspace memory across agents</a:t>
            </a:r>
          </a:p>
          <a:p>
            <a:pPr>
              <a:spcBef>
                <a:spcPts val="4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[NEXT] Native GitHub PR &amp; CI/CD webhook triggers</a:t>
            </a:r>
          </a:p>
          <a:p>
            <a:pPr>
              <a:spcBef>
                <a:spcPts val="4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[NEXT] Distributed task worker queues (Redis/BullMQ)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737360"/>
            <a:ext cx="3383280" cy="411480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874519"/>
            <a:ext cx="30540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F0E8"/>
                </a:solidFill>
                <a:latin typeface="Trebuchet MS"/>
              </a:defRPr>
            </a:pPr>
            <a:r>
              <a:t>PHASE 3: GOVERNANCE &amp; MESH</a:t>
            </a:r>
          </a:p>
          <a:p>
            <a:pPr>
              <a:spcBef>
                <a:spcPts val="200"/>
              </a:spcBef>
              <a:defRPr sz="850" b="1">
                <a:solidFill>
                  <a:srgbClr val="C4A77D"/>
                </a:solidFill>
                <a:latin typeface="Consolas"/>
              </a:defRPr>
            </a:pPr>
            <a:r>
              <a:t>LATER: v0.5.0+ (ROADMAP)</a:t>
            </a:r>
          </a:p>
          <a:p>
            <a:pPr>
              <a:spcBef>
                <a:spcPts val="4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[ROADMAP] Air-gapped enterprise SSO &amp; SAML RBAC</a:t>
            </a:r>
          </a:p>
          <a:p>
            <a:pPr>
              <a:spcBef>
                <a:spcPts val="4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[ROADMAP] Dynamic cross-model cost/latency optimizer</a:t>
            </a:r>
          </a:p>
          <a:p>
            <a:pPr>
              <a:spcBef>
                <a:spcPts val="4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[ROADMAP] Multi-tenant Kubernetes agent cluster deploy</a:t>
            </a:r>
          </a:p>
          <a:p>
            <a:pPr>
              <a:spcBef>
                <a:spcPts val="4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[ROADMAP] Self-healing agent consensus verification</a:t>
            </a:r>
          </a:p>
          <a:p>
            <a:pPr>
              <a:spcBef>
                <a:spcPts val="400"/>
              </a:spcBef>
              <a:defRPr sz="850">
                <a:solidFill>
                  <a:srgbClr val="A0A0A0"/>
                </a:solidFill>
                <a:latin typeface="Segoe UI"/>
              </a:defRPr>
            </a:pPr>
            <a:r>
              <a:t>[ROADMAP] Community marketplace for custom roles &amp;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350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0A0A0"/>
                </a:solidFill>
                <a:latin typeface="Consolas"/>
              </a:defRPr>
            </a:pPr>
            <a:r>
              <a:t>MILESTONE TRACKING: All items labeled [DONE] are verified in git history; future milestones reflect proposed engineering roadmap.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4A77D"/>
                </a:solidFill>
                <a:latin typeface="Consolas"/>
              </a:defRPr>
            </a:pPr>
            <a:r>
              <a:t>// CONCLUSION // GEETORUSAI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4F0E8"/>
                </a:solidFill>
                <a:latin typeface="Trebuchet MS"/>
              </a:defRPr>
            </a:pPr>
            <a:r>
              <a:t>ONE GOAL. MULTIPLE AGENTS.</a:t>
            </a:r>
            <a:br/>
            <a:r>
              <a:t>COORDINATED EXECUTION.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017520"/>
            <a:ext cx="3154680" cy="164592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10896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C4A77D"/>
                </a:solidFill>
                <a:latin typeface="Consolas"/>
              </a:defRPr>
            </a:pPr>
            <a:r>
              <a:t>[ 01 ]  VERIFIED FOUNDATION</a:t>
            </a:r>
          </a:p>
          <a:p>
            <a:pPr>
              <a:spcBef>
                <a:spcPts val="400"/>
              </a:spcBef>
              <a:defRPr sz="900">
                <a:solidFill>
                  <a:srgbClr val="A0A0A0"/>
                </a:solidFill>
                <a:latin typeface="Segoe UI"/>
              </a:defRPr>
            </a:pPr>
            <a:r>
              <a:t>Production-tested v0.3.1 core with embedded DB, React UI, heartbeat runner, and model adapters ready today.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3017520"/>
            <a:ext cx="3154680" cy="164592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10896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56BFF"/>
                </a:solidFill>
                <a:latin typeface="Consolas"/>
              </a:defRPr>
            </a:pPr>
            <a:r>
              <a:t>[ 02 ]  GOVERNED AUTONOMY</a:t>
            </a:r>
          </a:p>
          <a:p>
            <a:pPr>
              <a:spcBef>
                <a:spcPts val="400"/>
              </a:spcBef>
              <a:defRPr sz="900">
                <a:solidFill>
                  <a:srgbClr val="A0A0A0"/>
                </a:solidFill>
                <a:latin typeface="Segoe UI"/>
              </a:defRPr>
            </a:pPr>
            <a:r>
              <a:t>Deterministic budget limits and human-in-the-loop approval gates designed for real software engineering risks.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3017520"/>
            <a:ext cx="3154680" cy="1645920"/>
          </a:xfrm>
          <a:prstGeom prst="rect">
            <a:avLst/>
          </a:prstGeom>
          <a:solidFill>
            <a:srgbClr val="121212"/>
          </a:solidFill>
          <a:ln w="1524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39" y="310896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4F0E8"/>
                </a:solidFill>
                <a:latin typeface="Consolas"/>
              </a:defRPr>
            </a:pPr>
            <a:r>
              <a:t>[ 03 ]  OPEN ECOSYSTEM</a:t>
            </a:r>
          </a:p>
          <a:p>
            <a:pPr>
              <a:spcBef>
                <a:spcPts val="400"/>
              </a:spcBef>
              <a:defRPr sz="900">
                <a:solidFill>
                  <a:srgbClr val="A0A0A0"/>
                </a:solidFill>
                <a:latin typeface="Segoe UI"/>
              </a:defRPr>
            </a:pPr>
            <a:r>
              <a:t>Extensible, self-hostable control plane ready to coordinate whatever frontier models or local runtimes you deploy.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846320"/>
            <a:ext cx="9966960" cy="914400"/>
          </a:xfrm>
          <a:prstGeom prst="rect">
            <a:avLst/>
          </a:prstGeom>
          <a:solidFill>
            <a:srgbClr val="181818"/>
          </a:solidFill>
          <a:ln w="15240">
            <a:solidFill>
              <a:srgbClr val="C4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937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F0E8"/>
                </a:solidFill>
                <a:latin typeface="Trebuchet MS"/>
              </a:defRPr>
            </a:pPr>
            <a:r>
              <a:t>JOIN THE NEXT GENERATION OF AUTONOMOUS ENGINEERING</a:t>
            </a:r>
          </a:p>
          <a:p>
            <a:pPr>
              <a:spcBef>
                <a:spcPts val="200"/>
              </a:spcBef>
              <a:defRPr sz="950">
                <a:solidFill>
                  <a:srgbClr val="C4A77D"/>
                </a:solidFill>
                <a:latin typeface="Consolas"/>
              </a:defRPr>
            </a:pPr>
            <a:r>
              <a:t>GitHub: https://github.com/geetorusai/geetorus  |  Repository: geetorus-core v0.3.1  |  License: Open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