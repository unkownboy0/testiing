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investors. Today we are presenting GeetorusAI. Over the past two years, the industry witnessed an explosion of AI models and single-agent coding bots. But in real-world engineering, isolated chat sessions don't build scalable systems—teams do. When engineering teams try to deploy autonomous agents today, they immediately hit three walls: uncoordinated agent sprawl, runaway token bills that burn thousands overnight, and unverified shell execution without security guardrails. GeetorusAI is the self-hosted control plane that solves all three.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what GeetorusAI actually is today. On the right, you are looking at the live running platform on port 3100. We don't sell vaporware. The codebase has 16 fully verified production subsystems backing it right now: a 29,000-line scheduler, 137 relational PostgreSQL tables, embedded zero-config database runtime, 13 provider adapters, and an Anthropic Model Context Protocol gateway. 4 capabilities are partially verified because they need external cloud keys, and 4 are clearly demarcated on our future roadmap.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 buys GeetorusAI? Our beachhead is the VP of Engineering and Lead Software Architect at tech companies with 15 to 150 engineers. As developers start hacking with individual coding agents, leadership panics over code regressions and runaway OpenAI bills. Our economic buyers are clear: Tech leads swipe credit cards for $49 Pro seats, Engineering Directors purchase $199 Teams subscriptions, and CISOs approve $1,200+ Enterprise deployments. Our founder, Udhaya Kumar, is a cybersecurity leader in India with a 20-person engineering team. We don't just build agents; we build hardened, zero-trust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the market. According to Grand View Research, the global AI agent market sits at $10.9 Billion in 2026, accelerating at a 49.6% compound annual growth rate toward $182 Billion by 2033. Our Serviceable Addressable Market for enterprise control planes is $2.8 Billion. Over the next 24 months, we are targeting a Serviceable Obtainable Market of $42 Million by capturing 1,400 mid-market engineering teams. Why now? Gartner recently warned that over 40% of enterprise agent deployments face cancellation due to lack of governance, unpredictable token consumption, and audit blind spots. GeetorusAI is the solution to that exact failure mode.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Investors always ask: 'What stops LangGraph or CrewAI from copying this in six months?' Here is our answer. Competitors like LangGraph and AutoGen are developer libraries, not operational products. To get what GeetorusAI delivers out of the box, an engineering team has to spend six months assembling frontends, databases, authentication, and execution sandboxes. Munder Difflin is just a single-developer desktop wrapper. Our moat rests on four pillars: the deep architectural triad of our embedded database, scheduler, and worktrees; our native standardization on Anthropic's Model Context Protocol; our cybersecurity heritage; and our proprietary multi-agent organizational data flywheel.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business model follows the proven open-core playbook of Supabase, PostHog, and Docker. Developers start for free on our community edition, running single-node on embedded PostgreSQL. When they want cloud synchronization, they pay $49 per developer per month. When an engineering team wants shared organizational memory and Slack bridges, they upgrade to Teams at $199 a month. When CISOs require air-gapped deployment and SAML SSO, they purchase Enterprise starting at $1,200 a month. Because our open-source distribution drives viral organic inbound, our Customer Acquisition Cost is just $320, yielding a 15x LTV/CAC ratio and a 2.8-month payback.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we are raising $1.5 Million for 15% equity at an implied $10 Million post-money valuation. This capital provides 18 to 24 months of runway to execute our P0 and P1 product roadmap and reach $1.2 Million in annual recurring revenue. 55% goes into core engineering to build out distributed queuing and vector memory; 30% funds developer advocacy and enterprise pilot expansion in India and the US; and 15% locks down our SOC2 and DPDP compliance certifications. Our downside risks are thoroughly hedged by our multi-model adapter layer, and our upside offers clear strategic acquisition exits with DevSecOps giants like GitLab or Atlassian. Thank you.</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script carries the entire business and technical narrative in 150 seconds. Practice delivering it with authority, confidence, and deliberate pauses.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system architecture of GeetorusAI. Notice that we do not rely on fragile scripts. We built a three-tier architecture: A React 19 SPA running on our token-gated design system; an Express-based control plane driving a 29k-line heartbeat scheduler; and a data layer powered by 137 Drizzle ORM schema models with an embedded zero-setup PostgreSQL engine. Everything runs locally on a single machine or scales into an enterprise Kubernetes cluster.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beating heart of GeetorusAI is our 29k-line heartbeat scheduler. Unlike simple async loops, our scheduler handles real-world distributed systems failures: stale orphaned locks from crashed instances, watchdog timeouts that terminate infinite prompt loops, and database-level row locking to ensure multiple agents never collide on the same git branch.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Governance cannot be an afterthought. In GeetorusAI, we built native integration with Anthropic's Model Context Protocol. More importantly, whenever an agent attempts a dangerous tool execution, our Amber Gate intercepts it immediately. A human operator is alerted in the UI or Slack to approve the action. When approved, an HMAC-SHA256 signature is calculated, creating a mathematically immutable audit log.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three pillars that make GeetorusAI operationally resilient: First, our financial token budget engine enforces daily USD spending caps to prevent runaway API bills. Second, our multi-channel chat bridge connects your virtual company to Slack, Teams, Discord, and GitHub, allowing engineers to interact with agents in their existing workflows. Third, our Pulse monitoring engine runs continuous 30-second health diagnostics, automatically tripping circuit breakers and failing over to backup models if a primary provider hits rate limits.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Enterprise engineers will love our workspace isolation. Every task runs in an isolated Git worktree. Agents never touch your main branch directly. If a task fails, the worktree is destroyed. For security, all corporate credentials are encrypted using AES-256-GCM, and enterprises can run GeetorusAI completely air-gapped with local open-weight models like DeepSeek-R1 and Llama 3.3.</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technical roadmap post-seed funding. In P0, we deliver distributed Redis queuing and pgvector long-term memory. In P1, we achieve SOC2 Type II certification and launch our Tauri desktop companion. In P2, we open our agent marketplace and automated fine-tuning loops. Deep internal benchmark data and routing heuristics are available in our investor data room under NDA.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time. We look forward to answering your questions and walking you through the live codebase demonstration.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06B6D4"/>
                </a:solidFill>
                <a:latin typeface="Consolas"/>
              </a:defRPr>
            </a:pPr>
            <a:r>
              <a:t>GEETORUSAI // PART 1: BUSINESS BRIEF // THE CORE CRISIS</a:t>
            </a:r>
          </a:p>
        </p:txBody>
      </p:sp>
      <p:sp>
        <p:nvSpPr>
          <p:cNvPr id="4" name="TextBox 3"/>
          <p:cNvSpPr txBox="1"/>
          <p:nvPr/>
        </p:nvSpPr>
        <p:spPr>
          <a:xfrm>
            <a:off x="9601200" y="365760"/>
            <a:ext cx="1828800" cy="320040"/>
          </a:xfrm>
          <a:prstGeom prst="rect">
            <a:avLst/>
          </a:prstGeom>
          <a:noFill/>
        </p:spPr>
        <p:txBody>
          <a:bodyPr wrap="none" lIns="0" tIns="0" rIns="0" bIns="0">
            <a:spAutoFit/>
          </a:bodyPr>
          <a:lstStyle/>
          <a:p>
            <a:pPr algn="r">
              <a:defRPr sz="1000">
                <a:solidFill>
                  <a:srgbClr val="94A3B8"/>
                </a:solidFill>
                <a:latin typeface="Consolas"/>
              </a:defRPr>
            </a:pPr>
            <a:r>
              <a:t>[ 01 / 15 ]</a:t>
            </a:r>
          </a:p>
        </p:txBody>
      </p:sp>
      <p:sp>
        <p:nvSpPr>
          <p:cNvPr id="5" name="TextBox 4"/>
          <p:cNvSpPr txBox="1"/>
          <p:nvPr/>
        </p:nvSpPr>
        <p:spPr>
          <a:xfrm>
            <a:off x="731520" y="685800"/>
            <a:ext cx="10698480" cy="502920"/>
          </a:xfrm>
          <a:prstGeom prst="rect">
            <a:avLst/>
          </a:prstGeom>
          <a:noFill/>
        </p:spPr>
        <p:txBody>
          <a:bodyPr wrap="square" lIns="0" tIns="0" rIns="0" bIns="0">
            <a:spAutoFit/>
          </a:bodyPr>
          <a:lstStyle/>
          <a:p>
            <a:pPr>
              <a:defRPr sz="2200" b="1">
                <a:solidFill>
                  <a:srgbClr val="F8FAFC"/>
                </a:solidFill>
                <a:latin typeface="Trebuchet MS"/>
              </a:defRPr>
            </a:pPr>
            <a:r>
              <a:t>GeetorusAI: The Sovereign Operating System for Multi-Agent Teams</a:t>
            </a:r>
          </a:p>
        </p:txBody>
      </p:sp>
      <p:sp>
        <p:nvSpPr>
          <p:cNvPr id="6" name="TextBox 5"/>
          <p:cNvSpPr txBox="1"/>
          <p:nvPr/>
        </p:nvSpPr>
        <p:spPr>
          <a:xfrm>
            <a:off x="731520" y="1188720"/>
            <a:ext cx="10698480" cy="320040"/>
          </a:xfrm>
          <a:prstGeom prst="rect">
            <a:avLst/>
          </a:prstGeom>
          <a:noFill/>
        </p:spPr>
        <p:txBody>
          <a:bodyPr wrap="square" lIns="0" tIns="0" rIns="0" bIns="0">
            <a:spAutoFit/>
          </a:bodyPr>
          <a:lstStyle/>
          <a:p>
            <a:pPr>
              <a:defRPr sz="1200">
                <a:solidFill>
                  <a:srgbClr val="94A3B8"/>
                </a:solidFill>
                <a:latin typeface="Segoe UI"/>
              </a:defRPr>
            </a:pPr>
            <a:r>
              <a:t>Solving the unmanaged agent sprawl, runaway token costs, and unverified execution crisis.</a:t>
            </a:r>
          </a:p>
        </p:txBody>
      </p:sp>
      <p:sp>
        <p:nvSpPr>
          <p:cNvPr id="7" name="Rounded Rectangle 6"/>
          <p:cNvSpPr/>
          <p:nvPr/>
        </p:nvSpPr>
        <p:spPr>
          <a:xfrm>
            <a:off x="731520" y="1554480"/>
            <a:ext cx="10728655" cy="1005840"/>
          </a:xfrm>
          <a:prstGeom prst="roundRect">
            <a:avLst/>
          </a:prstGeom>
          <a:solidFill>
            <a:srgbClr val="1A243D"/>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10332720" cy="822960"/>
          </a:xfrm>
          <a:prstGeom prst="rect">
            <a:avLst/>
          </a:prstGeom>
          <a:noFill/>
        </p:spPr>
        <p:txBody>
          <a:bodyPr wrap="square">
            <a:spAutoFit/>
          </a:bodyPr>
          <a:lstStyle/>
          <a:p>
            <a:pPr>
              <a:defRPr sz="1000" b="1">
                <a:solidFill>
                  <a:srgbClr val="F59E0B"/>
                </a:solidFill>
                <a:latin typeface="Consolas"/>
              </a:defRPr>
            </a:pPr>
            <a:r>
              <a:t>THE SPOKEN DEFINITION:</a:t>
            </a:r>
          </a:p>
          <a:p>
            <a:pPr>
              <a:defRPr sz="1400" b="1">
                <a:solidFill>
                  <a:srgbClr val="F8FAFC"/>
                </a:solidFill>
                <a:latin typeface="Trebuchet MS"/>
              </a:defRPr>
            </a:pPr>
            <a:r>
              <a:t>“GeetorusAI is the self-hosted operating system that turns isolated AI coding agents into a governed, collaborative digital workforce with strict budget caps and verifiable outcomes.”</a:t>
            </a:r>
          </a:p>
        </p:txBody>
      </p:sp>
      <p:sp>
        <p:nvSpPr>
          <p:cNvPr id="9" name="Rounded Rectangle 8"/>
          <p:cNvSpPr/>
          <p:nvPr/>
        </p:nvSpPr>
        <p:spPr>
          <a:xfrm>
            <a:off x="731520" y="2743200"/>
            <a:ext cx="3429000" cy="3474720"/>
          </a:xfrm>
          <a:prstGeom prst="roundRect">
            <a:avLst/>
          </a:prstGeom>
          <a:solidFill>
            <a:srgbClr val="131B2E"/>
          </a:solidFill>
          <a:ln w="12700">
            <a:solidFill>
              <a:srgbClr val="2430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926080"/>
            <a:ext cx="2971800" cy="3108960"/>
          </a:xfrm>
          <a:prstGeom prst="rect">
            <a:avLst/>
          </a:prstGeom>
          <a:noFill/>
        </p:spPr>
        <p:txBody>
          <a:bodyPr wrap="square">
            <a:spAutoFit/>
          </a:bodyPr>
          <a:lstStyle/>
          <a:p>
            <a:pPr>
              <a:defRPr sz="1000" b="1">
                <a:solidFill>
                  <a:srgbClr val="F59E0B"/>
                </a:solidFill>
                <a:latin typeface="Consolas"/>
              </a:defRPr>
            </a:pPr>
            <a:r>
              <a:t>01 // UNGOVERNED AGENT SPRAWL</a:t>
            </a:r>
          </a:p>
          <a:p>
            <a:pPr>
              <a:spcBef>
                <a:spcPts val="800"/>
              </a:spcBef>
              <a:defRPr sz="1600" b="1">
                <a:solidFill>
                  <a:srgbClr val="F8FAFC"/>
                </a:solidFill>
                <a:latin typeface="Trebuchet MS"/>
              </a:defRPr>
            </a:pPr>
            <a:r>
              <a:t>Siloed Chat Sessions</a:t>
            </a:r>
          </a:p>
          <a:p>
            <a:pPr>
              <a:spcBef>
                <a:spcPts val="800"/>
              </a:spcBef>
              <a:defRPr sz="1100">
                <a:solidFill>
                  <a:srgbClr val="94A3B8"/>
                </a:solidFill>
                <a:latin typeface="Segoe UI"/>
              </a:defRPr>
            </a:pPr>
            <a:r>
              <a:t>Developers run uncoordinated terminal bots (Claude Code, Cursor). No shared context, no reporting lines, no central organizational oversight.</a:t>
            </a:r>
          </a:p>
        </p:txBody>
      </p:sp>
      <p:sp>
        <p:nvSpPr>
          <p:cNvPr id="11" name="Rounded Rectangle 10"/>
          <p:cNvSpPr/>
          <p:nvPr/>
        </p:nvSpPr>
        <p:spPr>
          <a:xfrm>
            <a:off x="4379976" y="2743200"/>
            <a:ext cx="3429000" cy="3474720"/>
          </a:xfrm>
          <a:prstGeom prst="roundRect">
            <a:avLst/>
          </a:prstGeom>
          <a:solidFill>
            <a:srgbClr val="131B2E"/>
          </a:solidFill>
          <a:ln w="12700">
            <a:solidFill>
              <a:srgbClr val="2430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08576" y="2926080"/>
            <a:ext cx="2971800" cy="3108960"/>
          </a:xfrm>
          <a:prstGeom prst="rect">
            <a:avLst/>
          </a:prstGeom>
          <a:noFill/>
        </p:spPr>
        <p:txBody>
          <a:bodyPr wrap="square">
            <a:spAutoFit/>
          </a:bodyPr>
          <a:lstStyle/>
          <a:p>
            <a:pPr>
              <a:defRPr sz="1000" b="1">
                <a:solidFill>
                  <a:srgbClr val="EF4444"/>
                </a:solidFill>
                <a:latin typeface="Consolas"/>
              </a:defRPr>
            </a:pPr>
            <a:r>
              <a:t>02 // RUNAWAY TOKEN BLEEDING</a:t>
            </a:r>
          </a:p>
          <a:p>
            <a:pPr>
              <a:spcBef>
                <a:spcPts val="800"/>
              </a:spcBef>
              <a:defRPr sz="1600" b="1">
                <a:solidFill>
                  <a:srgbClr val="F8FAFC"/>
                </a:solidFill>
                <a:latin typeface="Trebuchet MS"/>
              </a:defRPr>
            </a:pPr>
            <a:r>
              <a:t>Zero Spending Enforcers</a:t>
            </a:r>
          </a:p>
          <a:p>
            <a:pPr>
              <a:spcBef>
                <a:spcPts val="800"/>
              </a:spcBef>
              <a:defRPr sz="1100">
                <a:solidFill>
                  <a:srgbClr val="94A3B8"/>
                </a:solidFill>
                <a:latin typeface="Segoe UI"/>
              </a:defRPr>
            </a:pPr>
            <a:r>
              <a:t>Autonomous loops cycle uncontrollably on syntax errors, incurring hundreds of dollars per hour. No hard daily budget caps or circuit breakers.</a:t>
            </a:r>
          </a:p>
        </p:txBody>
      </p:sp>
      <p:sp>
        <p:nvSpPr>
          <p:cNvPr id="13" name="Rounded Rectangle 12"/>
          <p:cNvSpPr/>
          <p:nvPr/>
        </p:nvSpPr>
        <p:spPr>
          <a:xfrm>
            <a:off x="8028432" y="2743200"/>
            <a:ext cx="3429000" cy="3474720"/>
          </a:xfrm>
          <a:prstGeom prst="roundRect">
            <a:avLst/>
          </a:prstGeom>
          <a:solidFill>
            <a:srgbClr val="131B2E"/>
          </a:solidFill>
          <a:ln w="12700">
            <a:solidFill>
              <a:srgbClr val="2430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57032" y="2926080"/>
            <a:ext cx="2971800" cy="3108960"/>
          </a:xfrm>
          <a:prstGeom prst="rect">
            <a:avLst/>
          </a:prstGeom>
          <a:noFill/>
        </p:spPr>
        <p:txBody>
          <a:bodyPr wrap="square">
            <a:spAutoFit/>
          </a:bodyPr>
          <a:lstStyle/>
          <a:p>
            <a:pPr>
              <a:defRPr sz="1000" b="1">
                <a:solidFill>
                  <a:srgbClr val="06B6D4"/>
                </a:solidFill>
                <a:latin typeface="Consolas"/>
              </a:defRPr>
            </a:pPr>
            <a:r>
              <a:t>03 // UNVERIFIED EXECUTION</a:t>
            </a:r>
          </a:p>
          <a:p>
            <a:pPr>
              <a:spcBef>
                <a:spcPts val="800"/>
              </a:spcBef>
              <a:defRPr sz="1600" b="1">
                <a:solidFill>
                  <a:srgbClr val="F8FAFC"/>
                </a:solidFill>
                <a:latin typeface="Trebuchet MS"/>
              </a:defRPr>
            </a:pPr>
            <a:r>
              <a:t>Blind Shell Execution</a:t>
            </a:r>
          </a:p>
          <a:p>
            <a:pPr>
              <a:spcBef>
                <a:spcPts val="800"/>
              </a:spcBef>
              <a:defRPr sz="1100">
                <a:solidFill>
                  <a:srgbClr val="94A3B8"/>
                </a:solidFill>
                <a:latin typeface="Segoe UI"/>
              </a:defRPr>
            </a:pPr>
            <a:r>
              <a:t>Agents execute irreversible shell commands, push unverified code to git repositories, and exfiltrate secrets without CISO approval trails.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06B6D4"/>
                </a:solidFill>
                <a:latin typeface="Consolas"/>
              </a:defRPr>
            </a:pPr>
            <a:r>
              <a:t>GEETORUSAI // PART 1: BUSINESS BRIEF // THE PRODUCT REALITY</a:t>
            </a:r>
          </a:p>
        </p:txBody>
      </p:sp>
      <p:sp>
        <p:nvSpPr>
          <p:cNvPr id="4" name="TextBox 3"/>
          <p:cNvSpPr txBox="1"/>
          <p:nvPr/>
        </p:nvSpPr>
        <p:spPr>
          <a:xfrm>
            <a:off x="9601200" y="365760"/>
            <a:ext cx="1828800" cy="320040"/>
          </a:xfrm>
          <a:prstGeom prst="rect">
            <a:avLst/>
          </a:prstGeom>
          <a:noFill/>
        </p:spPr>
        <p:txBody>
          <a:bodyPr wrap="none" lIns="0" tIns="0" rIns="0" bIns="0">
            <a:spAutoFit/>
          </a:bodyPr>
          <a:lstStyle/>
          <a:p>
            <a:pPr algn="r">
              <a:defRPr sz="1000">
                <a:solidFill>
                  <a:srgbClr val="94A3B8"/>
                </a:solidFill>
                <a:latin typeface="Consolas"/>
              </a:defRPr>
            </a:pPr>
            <a:r>
              <a:t>[ 02 / 15 ]</a:t>
            </a:r>
          </a:p>
        </p:txBody>
      </p:sp>
      <p:sp>
        <p:nvSpPr>
          <p:cNvPr id="5" name="TextBox 4"/>
          <p:cNvSpPr txBox="1"/>
          <p:nvPr/>
        </p:nvSpPr>
        <p:spPr>
          <a:xfrm>
            <a:off x="731520" y="685800"/>
            <a:ext cx="10698480" cy="502920"/>
          </a:xfrm>
          <a:prstGeom prst="rect">
            <a:avLst/>
          </a:prstGeom>
          <a:noFill/>
        </p:spPr>
        <p:txBody>
          <a:bodyPr wrap="square" lIns="0" tIns="0" rIns="0" bIns="0">
            <a:spAutoFit/>
          </a:bodyPr>
          <a:lstStyle/>
          <a:p>
            <a:pPr>
              <a:defRPr sz="2200" b="1">
                <a:solidFill>
                  <a:srgbClr val="F8FAFC"/>
                </a:solidFill>
                <a:latin typeface="Trebuchet MS"/>
              </a:defRPr>
            </a:pPr>
            <a:r>
              <a:t>Virtual Company Operating System: 16 Verified Core Subsystems</a:t>
            </a:r>
          </a:p>
        </p:txBody>
      </p:sp>
      <p:sp>
        <p:nvSpPr>
          <p:cNvPr id="6" name="TextBox 5"/>
          <p:cNvSpPr txBox="1"/>
          <p:nvPr/>
        </p:nvSpPr>
        <p:spPr>
          <a:xfrm>
            <a:off x="731520" y="1188720"/>
            <a:ext cx="10698480" cy="320040"/>
          </a:xfrm>
          <a:prstGeom prst="rect">
            <a:avLst/>
          </a:prstGeom>
          <a:noFill/>
        </p:spPr>
        <p:txBody>
          <a:bodyPr wrap="square" lIns="0" tIns="0" rIns="0" bIns="0">
            <a:spAutoFit/>
          </a:bodyPr>
          <a:lstStyle/>
          <a:p>
            <a:pPr>
              <a:defRPr sz="1200">
                <a:solidFill>
                  <a:srgbClr val="94A3B8"/>
                </a:solidFill>
                <a:latin typeface="Segoe UI"/>
              </a:defRPr>
            </a:pPr>
            <a:r>
              <a:t>Zero-drift architectural truth: audited against active code, not future promises.</a:t>
            </a:r>
          </a:p>
        </p:txBody>
      </p:sp>
      <p:sp>
        <p:nvSpPr>
          <p:cNvPr id="7" name="Rounded Rectangle 6"/>
          <p:cNvSpPr/>
          <p:nvPr/>
        </p:nvSpPr>
        <p:spPr>
          <a:xfrm>
            <a:off x="731520" y="1645920"/>
            <a:ext cx="4206240" cy="4572000"/>
          </a:xfrm>
          <a:prstGeom prst="roundRect">
            <a:avLst/>
          </a:prstGeom>
          <a:solidFill>
            <a:srgbClr val="131B2E"/>
          </a:solidFill>
          <a:ln w="12700">
            <a:solidFill>
              <a:srgbClr val="2430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83080"/>
            <a:ext cx="3840479" cy="320040"/>
          </a:xfrm>
          <a:prstGeom prst="rect">
            <a:avLst/>
          </a:prstGeom>
          <a:noFill/>
        </p:spPr>
        <p:txBody>
          <a:bodyPr wrap="square" lIns="0" tIns="0" rIns="0" bIns="0">
            <a:spAutoFit/>
          </a:bodyPr>
          <a:lstStyle/>
          <a:p>
            <a:pPr>
              <a:defRPr sz="1100" b="1">
                <a:solidFill>
                  <a:srgbClr val="06B6D4"/>
                </a:solidFill>
                <a:latin typeface="Consolas"/>
              </a:defRPr>
            </a:pPr>
            <a:r>
              <a:t>AUDITED CODEBASE INVENTORY</a:t>
            </a:r>
          </a:p>
        </p:txBody>
      </p:sp>
      <p:sp>
        <p:nvSpPr>
          <p:cNvPr id="9" name="TextBox 8"/>
          <p:cNvSpPr txBox="1"/>
          <p:nvPr/>
        </p:nvSpPr>
        <p:spPr>
          <a:xfrm>
            <a:off x="914400" y="2011680"/>
            <a:ext cx="3840480" cy="4023360"/>
          </a:xfrm>
          <a:prstGeom prst="rect">
            <a:avLst/>
          </a:prstGeom>
          <a:noFill/>
        </p:spPr>
        <p:txBody>
          <a:bodyPr wrap="square">
            <a:spAutoFit/>
          </a:bodyPr>
          <a:lstStyle/>
          <a:p>
            <a:pPr>
              <a:defRPr sz="1100" b="1">
                <a:solidFill>
                  <a:srgbClr val="10B981"/>
                </a:solidFill>
                <a:latin typeface="Consolas"/>
              </a:defRPr>
            </a:pPr>
            <a:r>
              <a:t>● 16 SUBSYSTEMS VERIFIED (100% CODE)</a:t>
            </a:r>
          </a:p>
          <a:p>
            <a:pPr>
              <a:spcBef>
                <a:spcPts val="400"/>
              </a:spcBef>
              <a:defRPr sz="1000">
                <a:solidFill>
                  <a:srgbClr val="94A3B8"/>
                </a:solidFill>
                <a:latin typeface="Segoe UI"/>
              </a:defRPr>
            </a:pPr>
            <a:r>
              <a:t>Heartbeat scheduler (29k lines), 137 Drizzle schemas, embedded zero-config Postgres, 13 model adapters, native MCP gateway, HMAC signer, daily budget caps.</a:t>
            </a:r>
          </a:p>
          <a:p>
            <a:pPr>
              <a:spcBef>
                <a:spcPts val="1200"/>
              </a:spcBef>
              <a:defRPr sz="1100" b="1">
                <a:solidFill>
                  <a:srgbClr val="F59E0B"/>
                </a:solidFill>
                <a:latin typeface="Consolas"/>
              </a:defRPr>
            </a:pPr>
            <a:r>
              <a:t>● 4 PARTIALLY VERIFIED (EXTERNAL CLOUD)</a:t>
            </a:r>
          </a:p>
          <a:p>
            <a:pPr>
              <a:spcBef>
                <a:spcPts val="400"/>
              </a:spcBef>
              <a:defRPr sz="1000">
                <a:solidFill>
                  <a:srgbClr val="94A3B8"/>
                </a:solidFill>
                <a:latin typeface="Segoe UI"/>
              </a:defRPr>
            </a:pPr>
            <a:r>
              <a:t>Remote micro-VM sandboxes (e2b/Daytona), multi-channel external bots (Slack/Discord tokens required), Next.js template marketplace UI.</a:t>
            </a:r>
          </a:p>
          <a:p>
            <a:pPr>
              <a:spcBef>
                <a:spcPts val="1200"/>
              </a:spcBef>
              <a:defRPr sz="1100" b="1">
                <a:solidFill>
                  <a:srgbClr val="94A3B8"/>
                </a:solidFill>
                <a:latin typeface="Consolas"/>
              </a:defRPr>
            </a:pPr>
            <a:r>
              <a:t>● 4 ROADMAP MILESTONES (SCHEDULED)</a:t>
            </a:r>
          </a:p>
          <a:p>
            <a:pPr>
              <a:spcBef>
                <a:spcPts val="400"/>
              </a:spcBef>
              <a:defRPr sz="1000">
                <a:solidFill>
                  <a:srgbClr val="94A3B8"/>
                </a:solidFill>
                <a:latin typeface="Segoe UI"/>
              </a:defRPr>
            </a:pPr>
            <a:r>
              <a:t>Distributed task queue (Redis/BullMQ), vector semantic memory (pgvector), enterprise SAML/SSO, formal automated mutation evals.</a:t>
            </a:r>
          </a:p>
        </p:txBody>
      </p:sp>
      <p:sp>
        <p:nvSpPr>
          <p:cNvPr id="10" name="Rounded Rectangle 9"/>
          <p:cNvSpPr/>
          <p:nvPr/>
        </p:nvSpPr>
        <p:spPr>
          <a:xfrm>
            <a:off x="5120640" y="1645920"/>
            <a:ext cx="6339535" cy="4572000"/>
          </a:xfrm>
          <a:prstGeom prst="roundRect">
            <a:avLst/>
          </a:prstGeom>
          <a:solidFill>
            <a:srgbClr val="131B2E"/>
          </a:solidFill>
          <a:ln w="12700">
            <a:solidFill>
              <a:srgbClr val="2430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03520" y="1783080"/>
            <a:ext cx="5973775" cy="320040"/>
          </a:xfrm>
          <a:prstGeom prst="rect">
            <a:avLst/>
          </a:prstGeom>
          <a:noFill/>
        </p:spPr>
        <p:txBody>
          <a:bodyPr wrap="square" lIns="0" tIns="0" rIns="0" bIns="0">
            <a:spAutoFit/>
          </a:bodyPr>
          <a:lstStyle/>
          <a:p>
            <a:pPr>
              <a:defRPr sz="1100" b="1">
                <a:solidFill>
                  <a:srgbClr val="06B6D4"/>
                </a:solidFill>
                <a:latin typeface="Consolas"/>
              </a:defRPr>
            </a:pPr>
            <a:r>
              <a:t>RUNNING PRODUCT INTERFACE [LOCALHOST:3100]</a:t>
            </a:r>
          </a:p>
        </p:txBody>
      </p:sp>
      <p:pic>
        <p:nvPicPr>
          <p:cNvPr id="12" name="Picture 11" descr="geetorus_dashboard.png"/>
          <p:cNvPicPr>
            <a:picLocks noChangeAspect="1"/>
          </p:cNvPicPr>
          <p:nvPr/>
        </p:nvPicPr>
        <p:blipFill>
          <a:blip r:embed="rId2"/>
          <a:stretch>
            <a:fillRect/>
          </a:stretch>
        </p:blipFill>
        <p:spPr>
          <a:xfrm>
            <a:off x="5303520" y="2103120"/>
            <a:ext cx="5973775" cy="393192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06B6D4"/>
                </a:solidFill>
                <a:latin typeface="Consolas"/>
              </a:defRPr>
            </a:pPr>
            <a:r>
              <a:t>GEETORUSAI // PART 1: BUSINESS BRIEF // TARGET CUSTOMER &amp; TEAM</a:t>
            </a:r>
          </a:p>
        </p:txBody>
      </p:sp>
      <p:sp>
        <p:nvSpPr>
          <p:cNvPr id="4" name="TextBox 3"/>
          <p:cNvSpPr txBox="1"/>
          <p:nvPr/>
        </p:nvSpPr>
        <p:spPr>
          <a:xfrm>
            <a:off x="9601200" y="365760"/>
            <a:ext cx="1828800" cy="320040"/>
          </a:xfrm>
          <a:prstGeom prst="rect">
            <a:avLst/>
          </a:prstGeom>
          <a:noFill/>
        </p:spPr>
        <p:txBody>
          <a:bodyPr wrap="none" lIns="0" tIns="0" rIns="0" bIns="0">
            <a:spAutoFit/>
          </a:bodyPr>
          <a:lstStyle/>
          <a:p>
            <a:pPr algn="r">
              <a:defRPr sz="1000">
                <a:solidFill>
                  <a:srgbClr val="94A3B8"/>
                </a:solidFill>
                <a:latin typeface="Consolas"/>
              </a:defRPr>
            </a:pPr>
            <a:r>
              <a:t>[ 03 / 15 ]</a:t>
            </a:r>
          </a:p>
        </p:txBody>
      </p:sp>
      <p:sp>
        <p:nvSpPr>
          <p:cNvPr id="5" name="TextBox 4"/>
          <p:cNvSpPr txBox="1"/>
          <p:nvPr/>
        </p:nvSpPr>
        <p:spPr>
          <a:xfrm>
            <a:off x="731520" y="685800"/>
            <a:ext cx="10698480" cy="502920"/>
          </a:xfrm>
          <a:prstGeom prst="rect">
            <a:avLst/>
          </a:prstGeom>
          <a:noFill/>
        </p:spPr>
        <p:txBody>
          <a:bodyPr wrap="square" lIns="0" tIns="0" rIns="0" bIns="0">
            <a:spAutoFit/>
          </a:bodyPr>
          <a:lstStyle/>
          <a:p>
            <a:pPr>
              <a:defRPr sz="2200" b="1">
                <a:solidFill>
                  <a:srgbClr val="F8FAFC"/>
                </a:solidFill>
                <a:latin typeface="Trebuchet MS"/>
              </a:defRPr>
            </a:pPr>
            <a:r>
              <a:t>Beachhead Buyer, Economic Decision Makers &amp; Founder Credentials</a:t>
            </a:r>
          </a:p>
        </p:txBody>
      </p:sp>
      <p:sp>
        <p:nvSpPr>
          <p:cNvPr id="6" name="TextBox 5"/>
          <p:cNvSpPr txBox="1"/>
          <p:nvPr/>
        </p:nvSpPr>
        <p:spPr>
          <a:xfrm>
            <a:off x="731520" y="1188720"/>
            <a:ext cx="10698480" cy="320040"/>
          </a:xfrm>
          <a:prstGeom prst="rect">
            <a:avLst/>
          </a:prstGeom>
          <a:noFill/>
        </p:spPr>
        <p:txBody>
          <a:bodyPr wrap="square" lIns="0" tIns="0" rIns="0" bIns="0">
            <a:spAutoFit/>
          </a:bodyPr>
          <a:lstStyle/>
          <a:p>
            <a:pPr>
              <a:defRPr sz="1200">
                <a:solidFill>
                  <a:srgbClr val="94A3B8"/>
                </a:solidFill>
                <a:latin typeface="Segoe UI"/>
              </a:defRPr>
            </a:pPr>
            <a:r>
              <a:t>Targeting security-sensitive engineering leaders with an ethical hacking foundation.</a:t>
            </a:r>
          </a:p>
        </p:txBody>
      </p:sp>
      <p:sp>
        <p:nvSpPr>
          <p:cNvPr id="7" name="Rounded Rectangle 6"/>
          <p:cNvSpPr/>
          <p:nvPr/>
        </p:nvSpPr>
        <p:spPr>
          <a:xfrm>
            <a:off x="731520" y="1645920"/>
            <a:ext cx="5212080" cy="4480560"/>
          </a:xfrm>
          <a:prstGeom prst="roundRect">
            <a:avLst/>
          </a:prstGeom>
          <a:solidFill>
            <a:srgbClr val="131B2E"/>
          </a:solidFill>
          <a:ln w="12700">
            <a:solidFill>
              <a:srgbClr val="2430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83080"/>
            <a:ext cx="4846320" cy="320040"/>
          </a:xfrm>
          <a:prstGeom prst="rect">
            <a:avLst/>
          </a:prstGeom>
          <a:noFill/>
        </p:spPr>
        <p:txBody>
          <a:bodyPr wrap="square" lIns="0" tIns="0" rIns="0" bIns="0">
            <a:spAutoFit/>
          </a:bodyPr>
          <a:lstStyle/>
          <a:p>
            <a:pPr>
              <a:defRPr sz="1100" b="1">
                <a:solidFill>
                  <a:srgbClr val="06B6D4"/>
                </a:solidFill>
                <a:latin typeface="Consolas"/>
              </a:defRPr>
            </a:pPr>
            <a:r>
              <a:t>TARGET BUYERS &amp; ECONOMIC STAKEHOLDERS</a:t>
            </a:r>
          </a:p>
        </p:txBody>
      </p:sp>
      <p:sp>
        <p:nvSpPr>
          <p:cNvPr id="9" name="TextBox 8"/>
          <p:cNvSpPr txBox="1"/>
          <p:nvPr/>
        </p:nvSpPr>
        <p:spPr>
          <a:xfrm>
            <a:off x="914400" y="2011680"/>
            <a:ext cx="4846320" cy="3931920"/>
          </a:xfrm>
          <a:prstGeom prst="rect">
            <a:avLst/>
          </a:prstGeom>
          <a:noFill/>
        </p:spPr>
        <p:txBody>
          <a:bodyPr wrap="square">
            <a:spAutoFit/>
          </a:bodyPr>
          <a:lstStyle/>
          <a:p>
            <a:pPr>
              <a:defRPr sz="1100" b="1">
                <a:solidFill>
                  <a:srgbClr val="06B6D4"/>
                </a:solidFill>
                <a:latin typeface="Trebuchet MS"/>
              </a:defRPr>
            </a:pPr>
            <a:r>
              <a:t>● BEACHHEAD PERSONA: Lead Software Architect &amp; VP Engineering</a:t>
            </a:r>
          </a:p>
          <a:p>
            <a:pPr>
              <a:spcBef>
                <a:spcPts val="200"/>
              </a:spcBef>
              <a:defRPr sz="950">
                <a:solidFill>
                  <a:srgbClr val="94A3B8"/>
                </a:solidFill>
                <a:latin typeface="Segoe UI"/>
              </a:defRPr>
            </a:pPr>
            <a:r>
              <a:t>Managing teams of 15-150 developers adopting AI coding bots. Desperately need visibility, daily cost guardrails, and prevention of hallucinated regressions.</a:t>
            </a:r>
          </a:p>
          <a:p>
            <a:pPr>
              <a:spcBef>
                <a:spcPts val="800"/>
              </a:spcBef>
              <a:defRPr sz="1100" b="1">
                <a:solidFill>
                  <a:srgbClr val="F59E0B"/>
                </a:solidFill>
                <a:latin typeface="Trebuchet MS"/>
              </a:defRPr>
            </a:pPr>
            <a:r>
              <a:t>● WHO PAYS // PRO TIER ($49/MO): Senior Developer / Tech Lead</a:t>
            </a:r>
          </a:p>
          <a:p>
            <a:pPr>
              <a:spcBef>
                <a:spcPts val="200"/>
              </a:spcBef>
              <a:defRPr sz="950">
                <a:solidFill>
                  <a:srgbClr val="94A3B8"/>
                </a:solidFill>
                <a:latin typeface="Segoe UI"/>
              </a:defRPr>
            </a:pPr>
            <a:r>
              <a:t>Expensed via corporate credit card for local worktree isolation, multi-model routing, and personal agent teams.</a:t>
            </a:r>
          </a:p>
          <a:p>
            <a:pPr>
              <a:spcBef>
                <a:spcPts val="800"/>
              </a:spcBef>
              <a:defRPr sz="1100" b="1">
                <a:solidFill>
                  <a:srgbClr val="F59E0B"/>
                </a:solidFill>
                <a:latin typeface="Trebuchet MS"/>
              </a:defRPr>
            </a:pPr>
            <a:r>
              <a:t>● WHO PAYS // TEAMS TIER ($199/MO): Director of Engineering / CTO</a:t>
            </a:r>
          </a:p>
          <a:p>
            <a:pPr>
              <a:spcBef>
                <a:spcPts val="200"/>
              </a:spcBef>
              <a:defRPr sz="950">
                <a:solidFill>
                  <a:srgbClr val="94A3B8"/>
                </a:solidFill>
                <a:latin typeface="Segoe UI"/>
              </a:defRPr>
            </a:pPr>
            <a:r>
              <a:t>Departmental budget allocation for team-wide org charts, Slack/Discord bridges, and shared project memory.</a:t>
            </a:r>
          </a:p>
          <a:p>
            <a:pPr>
              <a:spcBef>
                <a:spcPts val="800"/>
              </a:spcBef>
              <a:defRPr sz="1100" b="1">
                <a:solidFill>
                  <a:srgbClr val="F59E0B"/>
                </a:solidFill>
                <a:latin typeface="Trebuchet MS"/>
              </a:defRPr>
            </a:pPr>
            <a:r>
              <a:t>● WHO PAYS // ENTERPRISE TIER ($1,200+/MO): CISO &amp; Head of Platform Engineering</a:t>
            </a:r>
          </a:p>
          <a:p>
            <a:pPr>
              <a:spcBef>
                <a:spcPts val="200"/>
              </a:spcBef>
              <a:defRPr sz="950">
                <a:solidFill>
                  <a:srgbClr val="94A3B8"/>
                </a:solidFill>
                <a:latin typeface="Segoe UI"/>
              </a:defRPr>
            </a:pPr>
            <a:r>
              <a:t>Enterprise security budget for air-gapped VPC deployment, immutable HMAC audit trails, and strict DPDP/SOC2 compliance.</a:t>
            </a:r>
          </a:p>
        </p:txBody>
      </p:sp>
      <p:sp>
        <p:nvSpPr>
          <p:cNvPr id="10" name="Rounded Rectangle 9"/>
          <p:cNvSpPr/>
          <p:nvPr/>
        </p:nvSpPr>
        <p:spPr>
          <a:xfrm>
            <a:off x="6126480" y="1645920"/>
            <a:ext cx="5333695" cy="2194560"/>
          </a:xfrm>
          <a:prstGeom prst="roundRect">
            <a:avLst/>
          </a:prstGeom>
          <a:solidFill>
            <a:srgbClr val="131B2E"/>
          </a:solidFill>
          <a:ln w="12700">
            <a:solidFill>
              <a:srgbClr val="2430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783080"/>
            <a:ext cx="4967935" cy="320040"/>
          </a:xfrm>
          <a:prstGeom prst="rect">
            <a:avLst/>
          </a:prstGeom>
          <a:noFill/>
        </p:spPr>
        <p:txBody>
          <a:bodyPr wrap="square" lIns="0" tIns="0" rIns="0" bIns="0">
            <a:spAutoFit/>
          </a:bodyPr>
          <a:lstStyle/>
          <a:p>
            <a:pPr>
              <a:defRPr sz="1100" b="1">
                <a:solidFill>
                  <a:srgbClr val="06B6D4"/>
                </a:solidFill>
                <a:latin typeface="Consolas"/>
              </a:defRPr>
            </a:pPr>
            <a:r>
              <a:t>FOUNDER CREDENTIALS &amp; SECURITY PEDIGREE</a:t>
            </a:r>
          </a:p>
        </p:txBody>
      </p:sp>
      <p:sp>
        <p:nvSpPr>
          <p:cNvPr id="12" name="TextBox 11"/>
          <p:cNvSpPr txBox="1"/>
          <p:nvPr/>
        </p:nvSpPr>
        <p:spPr>
          <a:xfrm>
            <a:off x="6309360" y="2011680"/>
            <a:ext cx="4937760" cy="1645920"/>
          </a:xfrm>
          <a:prstGeom prst="rect">
            <a:avLst/>
          </a:prstGeom>
          <a:noFill/>
        </p:spPr>
        <p:txBody>
          <a:bodyPr wrap="square">
            <a:spAutoFit/>
          </a:bodyPr>
          <a:lstStyle/>
          <a:p>
            <a:pPr>
              <a:defRPr sz="1300" b="1">
                <a:solidFill>
                  <a:srgbClr val="F8FAFC"/>
                </a:solidFill>
                <a:latin typeface="Trebuchet MS"/>
              </a:defRPr>
            </a:pPr>
            <a:r>
              <a:t>Udhaya Kumar // Founder &amp; CEO, Geetorus</a:t>
            </a:r>
          </a:p>
          <a:p>
            <a:pPr>
              <a:spcBef>
                <a:spcPts val="400"/>
              </a:spcBef>
              <a:defRPr sz="1000">
                <a:solidFill>
                  <a:srgbClr val="94A3B8"/>
                </a:solidFill>
                <a:latin typeface="Segoe UI"/>
              </a:defRPr>
            </a:pPr>
            <a:r>
              <a:t>Pioneer in ethical hacking and AI-powered cybersecurity defense in Tamil Nadu, India. Leads a battle-tested core team of ~20 engineers and researchers. GeetorusAI's zero-trust security model, cryptographic action signing, and token vaulting stem directly from deep cyber defense experience.</a:t>
            </a:r>
          </a:p>
        </p:txBody>
      </p:sp>
      <p:sp>
        <p:nvSpPr>
          <p:cNvPr id="13" name="Rounded Rectangle 12"/>
          <p:cNvSpPr/>
          <p:nvPr/>
        </p:nvSpPr>
        <p:spPr>
          <a:xfrm>
            <a:off x="6126480" y="4023360"/>
            <a:ext cx="5333695" cy="2103120"/>
          </a:xfrm>
          <a:prstGeom prst="roundRect">
            <a:avLst/>
          </a:prstGeom>
          <a:solidFill>
            <a:srgbClr val="131B2E"/>
          </a:solidFill>
          <a:ln w="12700">
            <a:solidFill>
              <a:srgbClr val="2430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4160520"/>
            <a:ext cx="4967935" cy="320040"/>
          </a:xfrm>
          <a:prstGeom prst="rect">
            <a:avLst/>
          </a:prstGeom>
          <a:noFill/>
        </p:spPr>
        <p:txBody>
          <a:bodyPr wrap="square" lIns="0" tIns="0" rIns="0" bIns="0">
            <a:spAutoFit/>
          </a:bodyPr>
          <a:lstStyle/>
          <a:p>
            <a:pPr>
              <a:defRPr sz="1100" b="1">
                <a:solidFill>
                  <a:srgbClr val="06B6D4"/>
                </a:solidFill>
                <a:latin typeface="Consolas"/>
              </a:defRPr>
            </a:pPr>
            <a:r>
              <a:t>ENTERPRISE DESIGN PARTNERS &amp; PILOTS [PLACEHOLDER: CONFIRM]</a:t>
            </a:r>
          </a:p>
        </p:txBody>
      </p:sp>
      <p:sp>
        <p:nvSpPr>
          <p:cNvPr id="15" name="TextBox 14"/>
          <p:cNvSpPr txBox="1"/>
          <p:nvPr/>
        </p:nvSpPr>
        <p:spPr>
          <a:xfrm>
            <a:off x="6309360" y="4389120"/>
            <a:ext cx="4937760" cy="1645920"/>
          </a:xfrm>
          <a:prstGeom prst="rect">
            <a:avLst/>
          </a:prstGeom>
          <a:noFill/>
        </p:spPr>
        <p:txBody>
          <a:bodyPr wrap="square">
            <a:spAutoFit/>
          </a:bodyPr>
          <a:lstStyle/>
          <a:p>
            <a:pPr>
              <a:defRPr sz="950" b="1">
                <a:solidFill>
                  <a:srgbClr val="F8FAFC"/>
                </a:solidFill>
                <a:latin typeface="Segoe UI"/>
              </a:defRPr>
            </a:pPr>
            <a:r>
              <a:t>★ Fintech Infra Partner: Testing automated pull-request audits under strict SOC2 compliance.</a:t>
            </a:r>
          </a:p>
          <a:p>
            <a:pPr>
              <a:spcBef>
                <a:spcPts val="400"/>
              </a:spcBef>
              <a:defRPr sz="950" b="1">
                <a:solidFill>
                  <a:srgbClr val="F8FAFC"/>
                </a:solidFill>
                <a:latin typeface="Segoe UI"/>
              </a:defRPr>
            </a:pPr>
            <a:r>
              <a:t>★ Cybersecurity MSSP Partner: Deploying air-gapped threat-hunting agents via local Ollama runtimes.</a:t>
            </a:r>
          </a:p>
          <a:p>
            <a:pPr>
              <a:spcBef>
                <a:spcPts val="400"/>
              </a:spcBef>
              <a:defRPr sz="950" b="1">
                <a:solidFill>
                  <a:srgbClr val="F8FAFC"/>
                </a:solidFill>
                <a:latin typeface="Segoe UI"/>
              </a:defRPr>
            </a:pPr>
            <a:r>
              <a:t>★ Healthcare SaaS Dev Partner: Managing HIPAA-isolated developer worktrees without external data leakage.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06B6D4"/>
                </a:solidFill>
                <a:latin typeface="Consolas"/>
              </a:defRPr>
            </a:pPr>
            <a:r>
              <a:t>GEETORUSAI // PART 1: BUSINESS BRIEF // MARKET OPPORTUNITY &amp; TIMING</a:t>
            </a:r>
          </a:p>
        </p:txBody>
      </p:sp>
      <p:sp>
        <p:nvSpPr>
          <p:cNvPr id="4" name="TextBox 3"/>
          <p:cNvSpPr txBox="1"/>
          <p:nvPr/>
        </p:nvSpPr>
        <p:spPr>
          <a:xfrm>
            <a:off x="9601200" y="365760"/>
            <a:ext cx="1828800" cy="320040"/>
          </a:xfrm>
          <a:prstGeom prst="rect">
            <a:avLst/>
          </a:prstGeom>
          <a:noFill/>
        </p:spPr>
        <p:txBody>
          <a:bodyPr wrap="none" lIns="0" tIns="0" rIns="0" bIns="0">
            <a:spAutoFit/>
          </a:bodyPr>
          <a:lstStyle/>
          <a:p>
            <a:pPr algn="r">
              <a:defRPr sz="1000">
                <a:solidFill>
                  <a:srgbClr val="94A3B8"/>
                </a:solidFill>
                <a:latin typeface="Consolas"/>
              </a:defRPr>
            </a:pPr>
            <a:r>
              <a:t>[ 04 / 15 ]</a:t>
            </a:r>
          </a:p>
        </p:txBody>
      </p:sp>
      <p:sp>
        <p:nvSpPr>
          <p:cNvPr id="5" name="TextBox 4"/>
          <p:cNvSpPr txBox="1"/>
          <p:nvPr/>
        </p:nvSpPr>
        <p:spPr>
          <a:xfrm>
            <a:off x="731520" y="685800"/>
            <a:ext cx="10698480" cy="502920"/>
          </a:xfrm>
          <a:prstGeom prst="rect">
            <a:avLst/>
          </a:prstGeom>
          <a:noFill/>
        </p:spPr>
        <p:txBody>
          <a:bodyPr wrap="square" lIns="0" tIns="0" rIns="0" bIns="0">
            <a:spAutoFit/>
          </a:bodyPr>
          <a:lstStyle/>
          <a:p>
            <a:pPr>
              <a:defRPr sz="2200" b="1">
                <a:solidFill>
                  <a:srgbClr val="F8FAFC"/>
                </a:solidFill>
                <a:latin typeface="Trebuchet MS"/>
              </a:defRPr>
            </a:pPr>
            <a:r>
              <a:t>Sourced TAM/SAM/SOM Sizing &amp; The 2026 Autonomous Agent Inflection</a:t>
            </a:r>
          </a:p>
        </p:txBody>
      </p:sp>
      <p:sp>
        <p:nvSpPr>
          <p:cNvPr id="6" name="TextBox 5"/>
          <p:cNvSpPr txBox="1"/>
          <p:nvPr/>
        </p:nvSpPr>
        <p:spPr>
          <a:xfrm>
            <a:off x="731520" y="1188720"/>
            <a:ext cx="10698480" cy="320040"/>
          </a:xfrm>
          <a:prstGeom prst="rect">
            <a:avLst/>
          </a:prstGeom>
          <a:noFill/>
        </p:spPr>
        <p:txBody>
          <a:bodyPr wrap="square" lIns="0" tIns="0" rIns="0" bIns="0">
            <a:spAutoFit/>
          </a:bodyPr>
          <a:lstStyle/>
          <a:p>
            <a:pPr>
              <a:defRPr sz="1200">
                <a:solidFill>
                  <a:srgbClr val="94A3B8"/>
                </a:solidFill>
                <a:latin typeface="Segoe UI"/>
              </a:defRPr>
            </a:pPr>
            <a:r>
              <a:t>Derived from Grand View Research &amp; Gartner 2026 Enterprise Agentic Studies.</a:t>
            </a:r>
          </a:p>
        </p:txBody>
      </p:sp>
      <p:sp>
        <p:nvSpPr>
          <p:cNvPr id="7" name="Rounded Rectangle 6"/>
          <p:cNvSpPr/>
          <p:nvPr/>
        </p:nvSpPr>
        <p:spPr>
          <a:xfrm>
            <a:off x="731520" y="1645920"/>
            <a:ext cx="3429000" cy="1920240"/>
          </a:xfrm>
          <a:prstGeom prst="roundRect">
            <a:avLst/>
          </a:prstGeom>
          <a:solidFill>
            <a:srgbClr val="131B2E"/>
          </a:solidFill>
          <a:ln w="12700">
            <a:solidFill>
              <a:srgbClr val="2430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83080"/>
            <a:ext cx="3063240" cy="1645920"/>
          </a:xfrm>
          <a:prstGeom prst="rect">
            <a:avLst/>
          </a:prstGeom>
          <a:noFill/>
        </p:spPr>
        <p:txBody>
          <a:bodyPr wrap="square" lIns="0" tIns="0" rIns="0" bIns="0">
            <a:spAutoFit/>
          </a:bodyPr>
          <a:lstStyle/>
          <a:p>
            <a:pPr>
              <a:defRPr sz="2800" b="1">
                <a:solidFill>
                  <a:srgbClr val="06B6D4"/>
                </a:solidFill>
                <a:latin typeface="Trebuchet MS"/>
              </a:defRPr>
            </a:pPr>
            <a:r>
              <a:t>$10.9B</a:t>
            </a:r>
          </a:p>
          <a:p>
            <a:pPr>
              <a:spcBef>
                <a:spcPts val="400"/>
              </a:spcBef>
              <a:defRPr sz="1100" b="1">
                <a:solidFill>
                  <a:srgbClr val="F8FAFC"/>
                </a:solidFill>
                <a:latin typeface="Segoe UI"/>
              </a:defRPr>
            </a:pPr>
            <a:r>
              <a:t>TOTAL ADDRESSABLE MARKET (TAM)</a:t>
            </a:r>
          </a:p>
          <a:p>
            <a:pPr>
              <a:spcBef>
                <a:spcPts val="200"/>
              </a:spcBef>
              <a:defRPr sz="950">
                <a:solidFill>
                  <a:srgbClr val="94A3B8"/>
                </a:solidFill>
                <a:latin typeface="Segoe UI"/>
              </a:defRPr>
            </a:pPr>
            <a:r>
              <a:t>2026 Global AI Agent Market (Grand View Research, scaling at 49.6% CAGR to $182.9B by 2033).</a:t>
            </a:r>
          </a:p>
        </p:txBody>
      </p:sp>
      <p:sp>
        <p:nvSpPr>
          <p:cNvPr id="9" name="Rounded Rectangle 8"/>
          <p:cNvSpPr/>
          <p:nvPr/>
        </p:nvSpPr>
        <p:spPr>
          <a:xfrm>
            <a:off x="4379976" y="1645920"/>
            <a:ext cx="3429000" cy="1920240"/>
          </a:xfrm>
          <a:prstGeom prst="roundRect">
            <a:avLst/>
          </a:prstGeom>
          <a:solidFill>
            <a:srgbClr val="131B2E"/>
          </a:solidFill>
          <a:ln w="12700">
            <a:solidFill>
              <a:srgbClr val="2430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62856" y="1783080"/>
            <a:ext cx="3063240" cy="1645920"/>
          </a:xfrm>
          <a:prstGeom prst="rect">
            <a:avLst/>
          </a:prstGeom>
          <a:noFill/>
        </p:spPr>
        <p:txBody>
          <a:bodyPr wrap="square" lIns="0" tIns="0" rIns="0" bIns="0">
            <a:spAutoFit/>
          </a:bodyPr>
          <a:lstStyle/>
          <a:p>
            <a:pPr>
              <a:defRPr sz="2800" b="1">
                <a:solidFill>
                  <a:srgbClr val="F59E0B"/>
                </a:solidFill>
                <a:latin typeface="Trebuchet MS"/>
              </a:defRPr>
            </a:pPr>
            <a:r>
              <a:t>$2.8B</a:t>
            </a:r>
          </a:p>
          <a:p>
            <a:pPr>
              <a:spcBef>
                <a:spcPts val="400"/>
              </a:spcBef>
              <a:defRPr sz="1100" b="1">
                <a:solidFill>
                  <a:srgbClr val="F8FAFC"/>
                </a:solidFill>
                <a:latin typeface="Segoe UI"/>
              </a:defRPr>
            </a:pPr>
            <a:r>
              <a:t>SERVICEABLE ADDRESSABLE MARKET (SAM)</a:t>
            </a:r>
          </a:p>
          <a:p>
            <a:pPr>
              <a:spcBef>
                <a:spcPts val="200"/>
              </a:spcBef>
              <a:defRPr sz="950">
                <a:solidFill>
                  <a:srgbClr val="94A3B8"/>
                </a:solidFill>
                <a:latin typeface="Segoe UI"/>
              </a:defRPr>
            </a:pPr>
            <a:r>
              <a:t>Enterprise Agent Orchestration, Governance &amp; Control Plane Software (Gartner 2026 Segment).</a:t>
            </a:r>
          </a:p>
        </p:txBody>
      </p:sp>
      <p:sp>
        <p:nvSpPr>
          <p:cNvPr id="11" name="Rounded Rectangle 10"/>
          <p:cNvSpPr/>
          <p:nvPr/>
        </p:nvSpPr>
        <p:spPr>
          <a:xfrm>
            <a:off x="8028431" y="1645920"/>
            <a:ext cx="3429000" cy="1920240"/>
          </a:xfrm>
          <a:prstGeom prst="roundRect">
            <a:avLst/>
          </a:prstGeom>
          <a:solidFill>
            <a:srgbClr val="131B2E"/>
          </a:solidFill>
          <a:ln w="12700">
            <a:solidFill>
              <a:srgbClr val="2430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11311" y="1783080"/>
            <a:ext cx="3063240" cy="1645920"/>
          </a:xfrm>
          <a:prstGeom prst="rect">
            <a:avLst/>
          </a:prstGeom>
          <a:noFill/>
        </p:spPr>
        <p:txBody>
          <a:bodyPr wrap="square" lIns="0" tIns="0" rIns="0" bIns="0">
            <a:spAutoFit/>
          </a:bodyPr>
          <a:lstStyle/>
          <a:p>
            <a:pPr>
              <a:defRPr sz="2800" b="1">
                <a:solidFill>
                  <a:srgbClr val="10B981"/>
                </a:solidFill>
                <a:latin typeface="Trebuchet MS"/>
              </a:defRPr>
            </a:pPr>
            <a:r>
              <a:t>$42.0M</a:t>
            </a:r>
          </a:p>
          <a:p>
            <a:pPr>
              <a:spcBef>
                <a:spcPts val="400"/>
              </a:spcBef>
              <a:defRPr sz="1100" b="1">
                <a:solidFill>
                  <a:srgbClr val="F8FAFC"/>
                </a:solidFill>
                <a:latin typeface="Segoe UI"/>
              </a:defRPr>
            </a:pPr>
            <a:r>
              <a:t>SERVICEABLE OBTAINABLE MARKET (SOM)</a:t>
            </a:r>
          </a:p>
          <a:p>
            <a:pPr>
              <a:spcBef>
                <a:spcPts val="200"/>
              </a:spcBef>
              <a:defRPr sz="950">
                <a:solidFill>
                  <a:srgbClr val="94A3B8"/>
                </a:solidFill>
                <a:latin typeface="Segoe UI"/>
              </a:defRPr>
            </a:pPr>
            <a:r>
              <a:t>Targeting 1,400 mid-market engineering teams across India &amp; US corridors in next 24 months [PLACEHOLDER: confirm].</a:t>
            </a:r>
          </a:p>
        </p:txBody>
      </p:sp>
      <p:sp>
        <p:nvSpPr>
          <p:cNvPr id="13" name="Rounded Rectangle 12"/>
          <p:cNvSpPr/>
          <p:nvPr/>
        </p:nvSpPr>
        <p:spPr>
          <a:xfrm>
            <a:off x="731520" y="3749039"/>
            <a:ext cx="5212080" cy="2468880"/>
          </a:xfrm>
          <a:prstGeom prst="roundRect">
            <a:avLst/>
          </a:prstGeom>
          <a:solidFill>
            <a:srgbClr val="131B2E"/>
          </a:solidFill>
          <a:ln w="12700">
            <a:solidFill>
              <a:srgbClr val="2430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886200"/>
            <a:ext cx="4846320" cy="320040"/>
          </a:xfrm>
          <a:prstGeom prst="rect">
            <a:avLst/>
          </a:prstGeom>
          <a:noFill/>
        </p:spPr>
        <p:txBody>
          <a:bodyPr wrap="square" lIns="0" tIns="0" rIns="0" bIns="0">
            <a:spAutoFit/>
          </a:bodyPr>
          <a:lstStyle/>
          <a:p>
            <a:pPr>
              <a:defRPr sz="1100" b="1">
                <a:solidFill>
                  <a:srgbClr val="06B6D4"/>
                </a:solidFill>
                <a:latin typeface="Consolas"/>
              </a:defRPr>
            </a:pPr>
            <a:r>
              <a:t>TAM/SAM/SOM SOURCING &amp; CALCULATION</a:t>
            </a:r>
          </a:p>
        </p:txBody>
      </p:sp>
      <p:sp>
        <p:nvSpPr>
          <p:cNvPr id="15" name="TextBox 14"/>
          <p:cNvSpPr txBox="1"/>
          <p:nvPr/>
        </p:nvSpPr>
        <p:spPr>
          <a:xfrm>
            <a:off x="914400" y="4114800"/>
            <a:ext cx="4846320" cy="1920240"/>
          </a:xfrm>
          <a:prstGeom prst="rect">
            <a:avLst/>
          </a:prstGeom>
          <a:noFill/>
        </p:spPr>
        <p:txBody>
          <a:bodyPr wrap="square">
            <a:spAutoFit/>
          </a:bodyPr>
          <a:lstStyle/>
          <a:p>
            <a:pPr>
              <a:defRPr sz="950">
                <a:solidFill>
                  <a:srgbClr val="F8FAFC"/>
                </a:solidFill>
                <a:latin typeface="Segoe UI"/>
              </a:defRPr>
            </a:pPr>
            <a:r>
              <a:t>• TAM: $10.9B: Grand View Research (Oct 2026) projects global AI agent market at $10.9B in 2026.</a:t>
            </a:r>
          </a:p>
          <a:p>
            <a:pPr>
              <a:spcBef>
                <a:spcPts val="400"/>
              </a:spcBef>
              <a:defRPr sz="950">
                <a:solidFill>
                  <a:srgbClr val="F8FAFC"/>
                </a:solidFill>
                <a:latin typeface="Segoe UI"/>
              </a:defRPr>
            </a:pPr>
            <a:r>
              <a:t>• SAM: $2.8B: Enterprises represent ~26% of software spend dedicated specifically to agent management and control planes.</a:t>
            </a:r>
          </a:p>
          <a:p>
            <a:pPr>
              <a:spcBef>
                <a:spcPts val="400"/>
              </a:spcBef>
              <a:defRPr sz="950">
                <a:solidFill>
                  <a:srgbClr val="F8FAFC"/>
                </a:solidFill>
                <a:latin typeface="Segoe UI"/>
              </a:defRPr>
            </a:pPr>
            <a:r>
              <a:t>• SOM: $42.0M: 1,400 mid-market organizations x blended Annual Contract Value (ACV) of $30,000 across dual corridor = $42.0M.</a:t>
            </a:r>
          </a:p>
        </p:txBody>
      </p:sp>
      <p:sp>
        <p:nvSpPr>
          <p:cNvPr id="16" name="Rounded Rectangle 15"/>
          <p:cNvSpPr/>
          <p:nvPr/>
        </p:nvSpPr>
        <p:spPr>
          <a:xfrm>
            <a:off x="6126480" y="3749039"/>
            <a:ext cx="5333695" cy="2468880"/>
          </a:xfrm>
          <a:prstGeom prst="roundRect">
            <a:avLst/>
          </a:prstGeom>
          <a:solidFill>
            <a:srgbClr val="131B2E"/>
          </a:solidFill>
          <a:ln w="12700">
            <a:solidFill>
              <a:srgbClr val="2430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9360" y="3886200"/>
            <a:ext cx="4967935" cy="320040"/>
          </a:xfrm>
          <a:prstGeom prst="rect">
            <a:avLst/>
          </a:prstGeom>
          <a:noFill/>
        </p:spPr>
        <p:txBody>
          <a:bodyPr wrap="square" lIns="0" tIns="0" rIns="0" bIns="0">
            <a:spAutoFit/>
          </a:bodyPr>
          <a:lstStyle/>
          <a:p>
            <a:pPr>
              <a:defRPr sz="1100" b="1">
                <a:solidFill>
                  <a:srgbClr val="06B6D4"/>
                </a:solidFill>
                <a:latin typeface="Consolas"/>
              </a:defRPr>
            </a:pPr>
            <a:r>
              <a:t>WHY NOW? THE 2026 MARKET INFLECTION</a:t>
            </a:r>
          </a:p>
        </p:txBody>
      </p:sp>
      <p:sp>
        <p:nvSpPr>
          <p:cNvPr id="18" name="TextBox 17"/>
          <p:cNvSpPr txBox="1"/>
          <p:nvPr/>
        </p:nvSpPr>
        <p:spPr>
          <a:xfrm>
            <a:off x="6309360" y="4114800"/>
            <a:ext cx="4937760" cy="1920240"/>
          </a:xfrm>
          <a:prstGeom prst="rect">
            <a:avLst/>
          </a:prstGeom>
          <a:noFill/>
        </p:spPr>
        <p:txBody>
          <a:bodyPr wrap="square">
            <a:spAutoFit/>
          </a:bodyPr>
          <a:lstStyle/>
          <a:p>
            <a:pPr>
              <a:defRPr sz="950">
                <a:solidFill>
                  <a:srgbClr val="F8FAFC"/>
                </a:solidFill>
                <a:latin typeface="Segoe UI"/>
              </a:defRPr>
            </a:pPr>
            <a:r>
              <a:t>★ From Chat to Autonomous Workforces: Enterprises have graduated from ChatGPT prompts to multi-agent production loops.</a:t>
            </a:r>
          </a:p>
          <a:p>
            <a:pPr>
              <a:spcBef>
                <a:spcPts val="400"/>
              </a:spcBef>
              <a:defRPr sz="950">
                <a:solidFill>
                  <a:srgbClr val="F8FAFC"/>
                </a:solidFill>
                <a:latin typeface="Segoe UI"/>
              </a:defRPr>
            </a:pPr>
            <a:r>
              <a:t>★ Gartner Warning: 40%+ Project Cancellation: Gartner reports 40%+ of agentic initiatives risk cancellation unless centralized governance and budget caps are deployed.</a:t>
            </a:r>
          </a:p>
          <a:p>
            <a:pPr>
              <a:spcBef>
                <a:spcPts val="400"/>
              </a:spcBef>
              <a:defRPr sz="950">
                <a:solidFill>
                  <a:srgbClr val="F8FAFC"/>
                </a:solidFill>
                <a:latin typeface="Segoe UI"/>
              </a:defRPr>
            </a:pPr>
            <a:r>
              <a:t>★ Dual-Corridor Advantage: India provides world-class engineering velocity and immediate pilot adoption, while the US drives high-ACV recurring revenue.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06B6D4"/>
                </a:solidFill>
                <a:latin typeface="Consolas"/>
              </a:defRPr>
            </a:pPr>
            <a:r>
              <a:t>GEETORUSAI // PART 1: BUSINESS BRIEF // COMPETITIVE MOAT</a:t>
            </a:r>
          </a:p>
        </p:txBody>
      </p:sp>
      <p:sp>
        <p:nvSpPr>
          <p:cNvPr id="4" name="TextBox 3"/>
          <p:cNvSpPr txBox="1"/>
          <p:nvPr/>
        </p:nvSpPr>
        <p:spPr>
          <a:xfrm>
            <a:off x="9601200" y="365760"/>
            <a:ext cx="1828800" cy="320040"/>
          </a:xfrm>
          <a:prstGeom prst="rect">
            <a:avLst/>
          </a:prstGeom>
          <a:noFill/>
        </p:spPr>
        <p:txBody>
          <a:bodyPr wrap="none" lIns="0" tIns="0" rIns="0" bIns="0">
            <a:spAutoFit/>
          </a:bodyPr>
          <a:lstStyle/>
          <a:p>
            <a:pPr algn="r">
              <a:defRPr sz="1000">
                <a:solidFill>
                  <a:srgbClr val="94A3B8"/>
                </a:solidFill>
                <a:latin typeface="Consolas"/>
              </a:defRPr>
            </a:pPr>
            <a:r>
              <a:t>[ 05 / 15 ]</a:t>
            </a:r>
          </a:p>
        </p:txBody>
      </p:sp>
      <p:sp>
        <p:nvSpPr>
          <p:cNvPr id="5" name="TextBox 4"/>
          <p:cNvSpPr txBox="1"/>
          <p:nvPr/>
        </p:nvSpPr>
        <p:spPr>
          <a:xfrm>
            <a:off x="731520" y="685800"/>
            <a:ext cx="10698480" cy="502920"/>
          </a:xfrm>
          <a:prstGeom prst="rect">
            <a:avLst/>
          </a:prstGeom>
          <a:noFill/>
        </p:spPr>
        <p:txBody>
          <a:bodyPr wrap="square" lIns="0" tIns="0" rIns="0" bIns="0">
            <a:spAutoFit/>
          </a:bodyPr>
          <a:lstStyle/>
          <a:p>
            <a:pPr>
              <a:defRPr sz="2200" b="1">
                <a:solidFill>
                  <a:srgbClr val="F8FAFC"/>
                </a:solidFill>
                <a:latin typeface="Trebuchet MS"/>
              </a:defRPr>
            </a:pPr>
            <a:r>
              <a:t>GeetorusAI vs. The Landscape: Why Big Tech Cannot Copy This in 6 Months</a:t>
            </a:r>
          </a:p>
        </p:txBody>
      </p:sp>
      <p:sp>
        <p:nvSpPr>
          <p:cNvPr id="6" name="TextBox 5"/>
          <p:cNvSpPr txBox="1"/>
          <p:nvPr/>
        </p:nvSpPr>
        <p:spPr>
          <a:xfrm>
            <a:off x="731520" y="1188720"/>
            <a:ext cx="10698480" cy="320040"/>
          </a:xfrm>
          <a:prstGeom prst="rect">
            <a:avLst/>
          </a:prstGeom>
          <a:noFill/>
        </p:spPr>
        <p:txBody>
          <a:bodyPr wrap="square" lIns="0" tIns="0" rIns="0" bIns="0">
            <a:spAutoFit/>
          </a:bodyPr>
          <a:lstStyle/>
          <a:p>
            <a:pPr>
              <a:defRPr sz="1200">
                <a:solidFill>
                  <a:srgbClr val="94A3B8"/>
                </a:solidFill>
                <a:latin typeface="Segoe UI"/>
              </a:defRPr>
            </a:pPr>
            <a:r>
              <a:t>Comparison against Munder Difflin, Paperclip AI, LangGraph, CrewAI, and Devin.</a:t>
            </a:r>
          </a:p>
        </p:txBody>
      </p:sp>
      <p:graphicFrame>
        <p:nvGraphicFramePr>
          <p:cNvPr id="7" name="Table 6"/>
          <p:cNvGraphicFramePr>
            <a:graphicFrameLocks noGrp="1"/>
          </p:cNvGraphicFramePr>
          <p:nvPr/>
        </p:nvGraphicFramePr>
        <p:xfrm>
          <a:off x="731520" y="1645920"/>
          <a:ext cx="6858000" cy="4480560"/>
        </p:xfrm>
        <a:graphic>
          <a:graphicData uri="http://schemas.openxmlformats.org/drawingml/2006/table">
            <a:tbl>
              <a:tblPr firstRow="1" bandRow="1">
                <a:tableStyleId>{5C22544A-7EE6-4342-B048-85BDC9FD1C3A}</a:tableStyleId>
              </a:tblPr>
              <a:tblGrid>
                <a:gridCol w="2011680"/>
                <a:gridCol w="1005840"/>
                <a:gridCol w="914400"/>
                <a:gridCol w="914400"/>
                <a:gridCol w="1005840"/>
                <a:gridCol w="1005840"/>
              </a:tblGrid>
              <a:tr h="746760">
                <a:tc>
                  <a:txBody>
                    <a:bodyPr/>
                    <a:lstStyle/>
                    <a:p>
                      <a:pPr>
                        <a:defRPr sz="900" b="1">
                          <a:solidFill>
                            <a:srgbClr val="F8FAFC"/>
                          </a:solidFill>
                          <a:latin typeface="Consolas"/>
                        </a:defRPr>
                      </a:pPr>
                      <a:r>
                        <a:t>CAPABILITY</a:t>
                      </a:r>
                    </a:p>
                  </a:txBody>
                  <a:tcPr>
                    <a:solidFill>
                      <a:srgbClr val="1A243D"/>
                    </a:solidFill>
                  </a:tcPr>
                </a:tc>
                <a:tc>
                  <a:txBody>
                    <a:bodyPr/>
                    <a:lstStyle/>
                    <a:p>
                      <a:pPr>
                        <a:defRPr sz="900" b="1">
                          <a:solidFill>
                            <a:srgbClr val="06B6D4"/>
                          </a:solidFill>
                          <a:latin typeface="Consolas"/>
                        </a:defRPr>
                      </a:pPr>
                      <a:r>
                        <a:t>GEETORUS</a:t>
                      </a:r>
                    </a:p>
                  </a:txBody>
                  <a:tcPr>
                    <a:solidFill>
                      <a:srgbClr val="1A243D"/>
                    </a:solidFill>
                  </a:tcPr>
                </a:tc>
                <a:tc>
                  <a:txBody>
                    <a:bodyPr/>
                    <a:lstStyle/>
                    <a:p>
                      <a:pPr>
                        <a:defRPr sz="900" b="1">
                          <a:solidFill>
                            <a:srgbClr val="F8FAFC"/>
                          </a:solidFill>
                          <a:latin typeface="Consolas"/>
                        </a:defRPr>
                      </a:pPr>
                      <a:r>
                        <a:t>MUNDER</a:t>
                      </a:r>
                    </a:p>
                  </a:txBody>
                  <a:tcPr>
                    <a:solidFill>
                      <a:srgbClr val="1A243D"/>
                    </a:solidFill>
                  </a:tcPr>
                </a:tc>
                <a:tc>
                  <a:txBody>
                    <a:bodyPr/>
                    <a:lstStyle/>
                    <a:p>
                      <a:pPr>
                        <a:defRPr sz="900" b="1">
                          <a:solidFill>
                            <a:srgbClr val="F8FAFC"/>
                          </a:solidFill>
                          <a:latin typeface="Consolas"/>
                        </a:defRPr>
                      </a:pPr>
                      <a:r>
                        <a:t>PAPERCLIP</a:t>
                      </a:r>
                    </a:p>
                  </a:txBody>
                  <a:tcPr>
                    <a:solidFill>
                      <a:srgbClr val="1A243D"/>
                    </a:solidFill>
                  </a:tcPr>
                </a:tc>
                <a:tc>
                  <a:txBody>
                    <a:bodyPr/>
                    <a:lstStyle/>
                    <a:p>
                      <a:pPr>
                        <a:defRPr sz="900" b="1">
                          <a:solidFill>
                            <a:srgbClr val="F8FAFC"/>
                          </a:solidFill>
                          <a:latin typeface="Consolas"/>
                        </a:defRPr>
                      </a:pPr>
                      <a:r>
                        <a:t>LANGGRAPH</a:t>
                      </a:r>
                    </a:p>
                  </a:txBody>
                  <a:tcPr>
                    <a:solidFill>
                      <a:srgbClr val="1A243D"/>
                    </a:solidFill>
                  </a:tcPr>
                </a:tc>
                <a:tc>
                  <a:txBody>
                    <a:bodyPr/>
                    <a:lstStyle/>
                    <a:p>
                      <a:pPr>
                        <a:defRPr sz="900" b="1">
                          <a:solidFill>
                            <a:srgbClr val="F8FAFC"/>
                          </a:solidFill>
                          <a:latin typeface="Consolas"/>
                        </a:defRPr>
                      </a:pPr>
                      <a:r>
                        <a:t>CREWAI</a:t>
                      </a:r>
                    </a:p>
                  </a:txBody>
                  <a:tcPr>
                    <a:solidFill>
                      <a:srgbClr val="1A243D"/>
                    </a:solidFill>
                  </a:tcPr>
                </a:tc>
              </a:tr>
              <a:tr h="746760">
                <a:tc>
                  <a:txBody>
                    <a:bodyPr/>
                    <a:lstStyle/>
                    <a:p>
                      <a:pPr>
                        <a:defRPr sz="950" b="1">
                          <a:solidFill>
                            <a:srgbClr val="F8FAFC"/>
                          </a:solidFill>
                          <a:latin typeface="Segoe UI"/>
                        </a:defRPr>
                      </a:pPr>
                      <a:r>
                        <a:t>Virtual Company Org Chart</a:t>
                      </a:r>
                    </a:p>
                  </a:txBody>
                  <a:tcPr>
                    <a:solidFill>
                      <a:srgbClr val="1A243D"/>
                    </a:solidFill>
                  </a:tcPr>
                </a:tc>
                <a:tc>
                  <a:txBody>
                    <a:bodyPr/>
                    <a:lstStyle/>
                    <a:p>
                      <a:pPr>
                        <a:defRPr sz="950" b="1">
                          <a:solidFill>
                            <a:srgbClr val="10B981"/>
                          </a:solidFill>
                          <a:latin typeface="Segoe UI"/>
                        </a:defRPr>
                      </a:pPr>
                      <a:r>
                        <a:t>YES (Native)</a:t>
                      </a:r>
                    </a:p>
                  </a:txBody>
                  <a:tcPr>
                    <a:solidFill>
                      <a:srgbClr val="1A243D"/>
                    </a:solidFill>
                  </a:tcPr>
                </a:tc>
                <a:tc>
                  <a:txBody>
                    <a:bodyPr/>
                    <a:lstStyle/>
                    <a:p>
                      <a:pPr>
                        <a:defRPr sz="950" b="0">
                          <a:solidFill>
                            <a:srgbClr val="64748B"/>
                          </a:solidFill>
                          <a:latin typeface="Segoe UI"/>
                        </a:defRPr>
                      </a:pPr>
                      <a:r>
                        <a:t>NO (Parody)</a:t>
                      </a:r>
                    </a:p>
                  </a:txBody>
                  <a:tcPr>
                    <a:solidFill>
                      <a:srgbClr val="1A243D"/>
                    </a:solidFill>
                  </a:tcPr>
                </a:tc>
                <a:tc>
                  <a:txBody>
                    <a:bodyPr/>
                    <a:lstStyle/>
                    <a:p>
                      <a:pPr>
                        <a:defRPr sz="950" b="0">
                          <a:solidFill>
                            <a:srgbClr val="F8FAFC"/>
                          </a:solidFill>
                          <a:latin typeface="Segoe UI"/>
                        </a:defRPr>
                      </a:pPr>
                      <a:r>
                        <a:t>YES (Basic)</a:t>
                      </a:r>
                    </a:p>
                  </a:txBody>
                  <a:tcPr>
                    <a:solidFill>
                      <a:srgbClr val="1A243D"/>
                    </a:solidFill>
                  </a:tcPr>
                </a:tc>
                <a:tc>
                  <a:txBody>
                    <a:bodyPr/>
                    <a:lstStyle/>
                    <a:p>
                      <a:pPr>
                        <a:defRPr sz="950" b="0">
                          <a:solidFill>
                            <a:srgbClr val="64748B"/>
                          </a:solidFill>
                          <a:latin typeface="Segoe UI"/>
                        </a:defRPr>
                      </a:pPr>
                      <a:r>
                        <a:t>NO (Library)</a:t>
                      </a:r>
                    </a:p>
                  </a:txBody>
                  <a:tcPr>
                    <a:solidFill>
                      <a:srgbClr val="1A243D"/>
                    </a:solidFill>
                  </a:tcPr>
                </a:tc>
                <a:tc>
                  <a:txBody>
                    <a:bodyPr/>
                    <a:lstStyle/>
                    <a:p>
                      <a:pPr>
                        <a:defRPr sz="950" b="0">
                          <a:solidFill>
                            <a:srgbClr val="64748B"/>
                          </a:solidFill>
                          <a:latin typeface="Segoe UI"/>
                        </a:defRPr>
                      </a:pPr>
                      <a:r>
                        <a:t>NO (Roles)</a:t>
                      </a:r>
                    </a:p>
                  </a:txBody>
                  <a:tcPr>
                    <a:solidFill>
                      <a:srgbClr val="1A243D"/>
                    </a:solidFill>
                  </a:tcPr>
                </a:tc>
              </a:tr>
              <a:tr h="746760">
                <a:tc>
                  <a:txBody>
                    <a:bodyPr/>
                    <a:lstStyle/>
                    <a:p>
                      <a:pPr>
                        <a:defRPr sz="950" b="1">
                          <a:solidFill>
                            <a:srgbClr val="F8FAFC"/>
                          </a:solidFill>
                          <a:latin typeface="Segoe UI"/>
                        </a:defRPr>
                      </a:pPr>
                      <a:r>
                        <a:t>Embedded DB (Zero Setup)</a:t>
                      </a:r>
                    </a:p>
                  </a:txBody>
                  <a:tcPr>
                    <a:solidFill>
                      <a:srgbClr val="131B2E"/>
                    </a:solidFill>
                  </a:tcPr>
                </a:tc>
                <a:tc>
                  <a:txBody>
                    <a:bodyPr/>
                    <a:lstStyle/>
                    <a:p>
                      <a:pPr>
                        <a:defRPr sz="950" b="1">
                          <a:solidFill>
                            <a:srgbClr val="10B981"/>
                          </a:solidFill>
                          <a:latin typeface="Segoe UI"/>
                        </a:defRPr>
                      </a:pPr>
                      <a:r>
                        <a:t>YES (Postgres)</a:t>
                      </a:r>
                    </a:p>
                  </a:txBody>
                  <a:tcPr>
                    <a:solidFill>
                      <a:srgbClr val="131B2E"/>
                    </a:solidFill>
                  </a:tcPr>
                </a:tc>
                <a:tc>
                  <a:txBody>
                    <a:bodyPr/>
                    <a:lstStyle/>
                    <a:p>
                      <a:pPr>
                        <a:defRPr sz="950" b="0">
                          <a:solidFill>
                            <a:srgbClr val="64748B"/>
                          </a:solidFill>
                          <a:latin typeface="Segoe UI"/>
                        </a:defRPr>
                      </a:pPr>
                      <a:r>
                        <a:t>NO (Files)</a:t>
                      </a:r>
                    </a:p>
                  </a:txBody>
                  <a:tcPr>
                    <a:solidFill>
                      <a:srgbClr val="131B2E"/>
                    </a:solidFill>
                  </a:tcPr>
                </a:tc>
                <a:tc>
                  <a:txBody>
                    <a:bodyPr/>
                    <a:lstStyle/>
                    <a:p>
                      <a:pPr>
                        <a:defRPr sz="950" b="0">
                          <a:solidFill>
                            <a:srgbClr val="64748B"/>
                          </a:solidFill>
                          <a:latin typeface="Segoe UI"/>
                        </a:defRPr>
                      </a:pPr>
                      <a:r>
                        <a:t>NO (Bring DB)</a:t>
                      </a:r>
                    </a:p>
                  </a:txBody>
                  <a:tcPr>
                    <a:solidFill>
                      <a:srgbClr val="131B2E"/>
                    </a:solidFill>
                  </a:tcPr>
                </a:tc>
                <a:tc>
                  <a:txBody>
                    <a:bodyPr/>
                    <a:lstStyle/>
                    <a:p>
                      <a:pPr>
                        <a:defRPr sz="950" b="0">
                          <a:solidFill>
                            <a:srgbClr val="64748B"/>
                          </a:solidFill>
                          <a:latin typeface="Segoe UI"/>
                        </a:defRPr>
                      </a:pPr>
                      <a:r>
                        <a:t>NO (Custom)</a:t>
                      </a:r>
                    </a:p>
                  </a:txBody>
                  <a:tcPr>
                    <a:solidFill>
                      <a:srgbClr val="131B2E"/>
                    </a:solidFill>
                  </a:tcPr>
                </a:tc>
                <a:tc>
                  <a:txBody>
                    <a:bodyPr/>
                    <a:lstStyle/>
                    <a:p>
                      <a:pPr>
                        <a:defRPr sz="950" b="0">
                          <a:solidFill>
                            <a:srgbClr val="64748B"/>
                          </a:solidFill>
                          <a:latin typeface="Segoe UI"/>
                        </a:defRPr>
                      </a:pPr>
                      <a:r>
                        <a:t>NO (Cloud)</a:t>
                      </a:r>
                    </a:p>
                  </a:txBody>
                  <a:tcPr>
                    <a:solidFill>
                      <a:srgbClr val="131B2E"/>
                    </a:solidFill>
                  </a:tcPr>
                </a:tc>
              </a:tr>
              <a:tr h="746760">
                <a:tc>
                  <a:txBody>
                    <a:bodyPr/>
                    <a:lstStyle/>
                    <a:p>
                      <a:pPr>
                        <a:defRPr sz="950" b="1">
                          <a:solidFill>
                            <a:srgbClr val="F8FAFC"/>
                          </a:solidFill>
                          <a:latin typeface="Segoe UI"/>
                        </a:defRPr>
                      </a:pPr>
                      <a:r>
                        <a:t>Anthropic MCP Standard</a:t>
                      </a:r>
                    </a:p>
                  </a:txBody>
                  <a:tcPr>
                    <a:solidFill>
                      <a:srgbClr val="1A243D"/>
                    </a:solidFill>
                  </a:tcPr>
                </a:tc>
                <a:tc>
                  <a:txBody>
                    <a:bodyPr/>
                    <a:lstStyle/>
                    <a:p>
                      <a:pPr>
                        <a:defRPr sz="950" b="1">
                          <a:solidFill>
                            <a:srgbClr val="10B981"/>
                          </a:solidFill>
                          <a:latin typeface="Segoe UI"/>
                        </a:defRPr>
                      </a:pPr>
                      <a:r>
                        <a:t>YES (Full)</a:t>
                      </a:r>
                    </a:p>
                  </a:txBody>
                  <a:tcPr>
                    <a:solidFill>
                      <a:srgbClr val="1A243D"/>
                    </a:solidFill>
                  </a:tcPr>
                </a:tc>
                <a:tc>
                  <a:txBody>
                    <a:bodyPr/>
                    <a:lstStyle/>
                    <a:p>
                      <a:pPr>
                        <a:defRPr sz="950" b="0">
                          <a:solidFill>
                            <a:srgbClr val="64748B"/>
                          </a:solidFill>
                          <a:latin typeface="Segoe UI"/>
                        </a:defRPr>
                      </a:pPr>
                      <a:r>
                        <a:t>NO (CLI wrap)</a:t>
                      </a:r>
                    </a:p>
                  </a:txBody>
                  <a:tcPr>
                    <a:solidFill>
                      <a:srgbClr val="1A243D"/>
                    </a:solidFill>
                  </a:tcPr>
                </a:tc>
                <a:tc>
                  <a:txBody>
                    <a:bodyPr/>
                    <a:lstStyle/>
                    <a:p>
                      <a:pPr>
                        <a:defRPr sz="950" b="0">
                          <a:solidFill>
                            <a:srgbClr val="64748B"/>
                          </a:solidFill>
                          <a:latin typeface="Segoe UI"/>
                        </a:defRPr>
                      </a:pPr>
                      <a:r>
                        <a:t>NO</a:t>
                      </a:r>
                    </a:p>
                  </a:txBody>
                  <a:tcPr>
                    <a:solidFill>
                      <a:srgbClr val="1A243D"/>
                    </a:solidFill>
                  </a:tcPr>
                </a:tc>
                <a:tc>
                  <a:txBody>
                    <a:bodyPr/>
                    <a:lstStyle/>
                    <a:p>
                      <a:pPr>
                        <a:defRPr sz="950" b="0">
                          <a:solidFill>
                            <a:srgbClr val="F8FAFC"/>
                          </a:solidFill>
                          <a:latin typeface="Segoe UI"/>
                        </a:defRPr>
                      </a:pPr>
                      <a:r>
                        <a:t>Partial</a:t>
                      </a:r>
                    </a:p>
                  </a:txBody>
                  <a:tcPr>
                    <a:solidFill>
                      <a:srgbClr val="1A243D"/>
                    </a:solidFill>
                  </a:tcPr>
                </a:tc>
                <a:tc>
                  <a:txBody>
                    <a:bodyPr/>
                    <a:lstStyle/>
                    <a:p>
                      <a:pPr>
                        <a:defRPr sz="950" b="0">
                          <a:solidFill>
                            <a:srgbClr val="F8FAFC"/>
                          </a:solidFill>
                          <a:latin typeface="Segoe UI"/>
                        </a:defRPr>
                      </a:pPr>
                      <a:r>
                        <a:t>Partial</a:t>
                      </a:r>
                    </a:p>
                  </a:txBody>
                  <a:tcPr>
                    <a:solidFill>
                      <a:srgbClr val="1A243D"/>
                    </a:solidFill>
                  </a:tcPr>
                </a:tc>
              </a:tr>
              <a:tr h="746760">
                <a:tc>
                  <a:txBody>
                    <a:bodyPr/>
                    <a:lstStyle/>
                    <a:p>
                      <a:pPr>
                        <a:defRPr sz="950" b="1">
                          <a:solidFill>
                            <a:srgbClr val="F8FAFC"/>
                          </a:solidFill>
                          <a:latin typeface="Segoe UI"/>
                        </a:defRPr>
                      </a:pPr>
                      <a:r>
                        <a:t>Hard Daily USD Budget Caps</a:t>
                      </a:r>
                    </a:p>
                  </a:txBody>
                  <a:tcPr>
                    <a:solidFill>
                      <a:srgbClr val="131B2E"/>
                    </a:solidFill>
                  </a:tcPr>
                </a:tc>
                <a:tc>
                  <a:txBody>
                    <a:bodyPr/>
                    <a:lstStyle/>
                    <a:p>
                      <a:pPr>
                        <a:defRPr sz="950" b="1">
                          <a:solidFill>
                            <a:srgbClr val="10B981"/>
                          </a:solidFill>
                          <a:latin typeface="Segoe UI"/>
                        </a:defRPr>
                      </a:pPr>
                      <a:r>
                        <a:t>YES (Automated)</a:t>
                      </a:r>
                    </a:p>
                  </a:txBody>
                  <a:tcPr>
                    <a:solidFill>
                      <a:srgbClr val="131B2E"/>
                    </a:solidFill>
                  </a:tcPr>
                </a:tc>
                <a:tc>
                  <a:txBody>
                    <a:bodyPr/>
                    <a:lstStyle/>
                    <a:p>
                      <a:pPr>
                        <a:defRPr sz="950" b="0">
                          <a:solidFill>
                            <a:srgbClr val="64748B"/>
                          </a:solidFill>
                          <a:latin typeface="Segoe UI"/>
                        </a:defRPr>
                      </a:pPr>
                      <a:r>
                        <a:t>NO</a:t>
                      </a:r>
                    </a:p>
                  </a:txBody>
                  <a:tcPr>
                    <a:solidFill>
                      <a:srgbClr val="131B2E"/>
                    </a:solidFill>
                  </a:tcPr>
                </a:tc>
                <a:tc>
                  <a:txBody>
                    <a:bodyPr/>
                    <a:lstStyle/>
                    <a:p>
                      <a:pPr>
                        <a:defRPr sz="950" b="0">
                          <a:solidFill>
                            <a:srgbClr val="F8FAFC"/>
                          </a:solidFill>
                          <a:latin typeface="Segoe UI"/>
                        </a:defRPr>
                      </a:pPr>
                      <a:r>
                        <a:t>Partial</a:t>
                      </a:r>
                    </a:p>
                  </a:txBody>
                  <a:tcPr>
                    <a:solidFill>
                      <a:srgbClr val="131B2E"/>
                    </a:solidFill>
                  </a:tcPr>
                </a:tc>
                <a:tc>
                  <a:txBody>
                    <a:bodyPr/>
                    <a:lstStyle/>
                    <a:p>
                      <a:pPr>
                        <a:defRPr sz="950" b="0">
                          <a:solidFill>
                            <a:srgbClr val="64748B"/>
                          </a:solidFill>
                          <a:latin typeface="Segoe UI"/>
                        </a:defRPr>
                      </a:pPr>
                      <a:r>
                        <a:t>NO</a:t>
                      </a:r>
                    </a:p>
                  </a:txBody>
                  <a:tcPr>
                    <a:solidFill>
                      <a:srgbClr val="131B2E"/>
                    </a:solidFill>
                  </a:tcPr>
                </a:tc>
                <a:tc>
                  <a:txBody>
                    <a:bodyPr/>
                    <a:lstStyle/>
                    <a:p>
                      <a:pPr>
                        <a:defRPr sz="950" b="0">
                          <a:solidFill>
                            <a:srgbClr val="F8FAFC"/>
                          </a:solidFill>
                          <a:latin typeface="Segoe UI"/>
                        </a:defRPr>
                      </a:pPr>
                      <a:r>
                        <a:t>Cloud Only</a:t>
                      </a:r>
                    </a:p>
                  </a:txBody>
                  <a:tcPr>
                    <a:solidFill>
                      <a:srgbClr val="131B2E"/>
                    </a:solidFill>
                  </a:tcPr>
                </a:tc>
              </a:tr>
              <a:tr h="746760">
                <a:tc>
                  <a:txBody>
                    <a:bodyPr/>
                    <a:lstStyle/>
                    <a:p>
                      <a:pPr>
                        <a:defRPr sz="950" b="1">
                          <a:solidFill>
                            <a:srgbClr val="F8FAFC"/>
                          </a:solidFill>
                          <a:latin typeface="Segoe UI"/>
                        </a:defRPr>
                      </a:pPr>
                      <a:r>
                        <a:t>HMAC Cryptographic Signing</a:t>
                      </a:r>
                    </a:p>
                  </a:txBody>
                  <a:tcPr>
                    <a:solidFill>
                      <a:srgbClr val="1A243D"/>
                    </a:solidFill>
                  </a:tcPr>
                </a:tc>
                <a:tc>
                  <a:txBody>
                    <a:bodyPr/>
                    <a:lstStyle/>
                    <a:p>
                      <a:pPr>
                        <a:defRPr sz="950" b="1">
                          <a:solidFill>
                            <a:srgbClr val="10B981"/>
                          </a:solidFill>
                          <a:latin typeface="Segoe UI"/>
                        </a:defRPr>
                      </a:pPr>
                      <a:r>
                        <a:t>YES (SHA-256)</a:t>
                      </a:r>
                    </a:p>
                  </a:txBody>
                  <a:tcPr>
                    <a:solidFill>
                      <a:srgbClr val="1A243D"/>
                    </a:solidFill>
                  </a:tcPr>
                </a:tc>
                <a:tc>
                  <a:txBody>
                    <a:bodyPr/>
                    <a:lstStyle/>
                    <a:p>
                      <a:pPr>
                        <a:defRPr sz="950" b="0">
                          <a:solidFill>
                            <a:srgbClr val="64748B"/>
                          </a:solidFill>
                          <a:latin typeface="Segoe UI"/>
                        </a:defRPr>
                      </a:pPr>
                      <a:r>
                        <a:t>NO</a:t>
                      </a:r>
                    </a:p>
                  </a:txBody>
                  <a:tcPr>
                    <a:solidFill>
                      <a:srgbClr val="1A243D"/>
                    </a:solidFill>
                  </a:tcPr>
                </a:tc>
                <a:tc>
                  <a:txBody>
                    <a:bodyPr/>
                    <a:lstStyle/>
                    <a:p>
                      <a:pPr>
                        <a:defRPr sz="950" b="0">
                          <a:solidFill>
                            <a:srgbClr val="64748B"/>
                          </a:solidFill>
                          <a:latin typeface="Segoe UI"/>
                        </a:defRPr>
                      </a:pPr>
                      <a:r>
                        <a:t>NO</a:t>
                      </a:r>
                    </a:p>
                  </a:txBody>
                  <a:tcPr>
                    <a:solidFill>
                      <a:srgbClr val="1A243D"/>
                    </a:solidFill>
                  </a:tcPr>
                </a:tc>
                <a:tc>
                  <a:txBody>
                    <a:bodyPr/>
                    <a:lstStyle/>
                    <a:p>
                      <a:pPr>
                        <a:defRPr sz="950" b="0">
                          <a:solidFill>
                            <a:srgbClr val="64748B"/>
                          </a:solidFill>
                          <a:latin typeface="Segoe UI"/>
                        </a:defRPr>
                      </a:pPr>
                      <a:r>
                        <a:t>NO</a:t>
                      </a:r>
                    </a:p>
                  </a:txBody>
                  <a:tcPr>
                    <a:solidFill>
                      <a:srgbClr val="1A243D"/>
                    </a:solidFill>
                  </a:tcPr>
                </a:tc>
                <a:tc>
                  <a:txBody>
                    <a:bodyPr/>
                    <a:lstStyle/>
                    <a:p>
                      <a:pPr>
                        <a:defRPr sz="950" b="0">
                          <a:solidFill>
                            <a:srgbClr val="64748B"/>
                          </a:solidFill>
                          <a:latin typeface="Segoe UI"/>
                        </a:defRPr>
                      </a:pPr>
                      <a:r>
                        <a:t>NO</a:t>
                      </a:r>
                    </a:p>
                  </a:txBody>
                  <a:tcPr>
                    <a:solidFill>
                      <a:srgbClr val="1A243D"/>
                    </a:solidFill>
                  </a:tcPr>
                </a:tc>
              </a:tr>
            </a:tbl>
          </a:graphicData>
        </a:graphic>
      </p:graphicFrame>
      <p:sp>
        <p:nvSpPr>
          <p:cNvPr id="8" name="Rounded Rectangle 7"/>
          <p:cNvSpPr/>
          <p:nvPr/>
        </p:nvSpPr>
        <p:spPr>
          <a:xfrm>
            <a:off x="7772400" y="1645920"/>
            <a:ext cx="3687775" cy="4480560"/>
          </a:xfrm>
          <a:prstGeom prst="roundRect">
            <a:avLst/>
          </a:prstGeom>
          <a:solidFill>
            <a:srgbClr val="131B2E"/>
          </a:solidFill>
          <a:ln w="12700">
            <a:solidFill>
              <a:srgbClr val="2430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79" y="1783080"/>
            <a:ext cx="3322015" cy="320040"/>
          </a:xfrm>
          <a:prstGeom prst="rect">
            <a:avLst/>
          </a:prstGeom>
          <a:noFill/>
        </p:spPr>
        <p:txBody>
          <a:bodyPr wrap="square" lIns="0" tIns="0" rIns="0" bIns="0">
            <a:spAutoFit/>
          </a:bodyPr>
          <a:lstStyle/>
          <a:p>
            <a:pPr>
              <a:defRPr sz="1100" b="1">
                <a:solidFill>
                  <a:srgbClr val="06B6D4"/>
                </a:solidFill>
                <a:latin typeface="Consolas"/>
              </a:defRPr>
            </a:pPr>
            <a:r>
              <a:t>THE 4 DEFENSIBLE MOAT PILLARS</a:t>
            </a:r>
          </a:p>
        </p:txBody>
      </p:sp>
      <p:sp>
        <p:nvSpPr>
          <p:cNvPr id="10" name="TextBox 9"/>
          <p:cNvSpPr txBox="1"/>
          <p:nvPr/>
        </p:nvSpPr>
        <p:spPr>
          <a:xfrm>
            <a:off x="7955279" y="2011680"/>
            <a:ext cx="3291840" cy="3931920"/>
          </a:xfrm>
          <a:prstGeom prst="rect">
            <a:avLst/>
          </a:prstGeom>
          <a:noFill/>
        </p:spPr>
        <p:txBody>
          <a:bodyPr wrap="square">
            <a:spAutoFit/>
          </a:bodyPr>
          <a:lstStyle/>
          <a:p>
            <a:pPr>
              <a:defRPr sz="1050" b="1">
                <a:solidFill>
                  <a:srgbClr val="F59E0B"/>
                </a:solidFill>
                <a:latin typeface="Trebuchet MS"/>
              </a:defRPr>
            </a:pPr>
            <a:r>
              <a:t>1 // THE ARCHITECTURE TRIAD</a:t>
            </a:r>
          </a:p>
          <a:p>
            <a:pPr>
              <a:spcBef>
                <a:spcPts val="200"/>
              </a:spcBef>
              <a:defRPr sz="900">
                <a:solidFill>
                  <a:srgbClr val="94A3B8"/>
                </a:solidFill>
                <a:latin typeface="Segoe UI"/>
              </a:defRPr>
            </a:pPr>
            <a:r>
              <a:t>intricately coupled 137 DB schemas, 29k-line heartbeat scheduler, and Git worktree sandbox manager. Rebuilding this takes 12+ months.</a:t>
            </a:r>
          </a:p>
          <a:p>
            <a:pPr>
              <a:spcBef>
                <a:spcPts val="800"/>
              </a:spcBef>
              <a:defRPr sz="1050" b="1">
                <a:solidFill>
                  <a:srgbClr val="F59E0B"/>
                </a:solidFill>
                <a:latin typeface="Trebuchet MS"/>
              </a:defRPr>
            </a:pPr>
            <a:r>
              <a:t>2 // NATIVE MCP STANDARD</a:t>
            </a:r>
          </a:p>
          <a:p>
            <a:pPr>
              <a:spcBef>
                <a:spcPts val="200"/>
              </a:spcBef>
              <a:defRPr sz="900">
                <a:solidFill>
                  <a:srgbClr val="94A3B8"/>
                </a:solidFill>
                <a:latin typeface="Segoe UI"/>
              </a:defRPr>
            </a:pPr>
            <a:r>
              <a:t>Zero proprietary tool lock-in. Native Model Context Protocol support allows instant plug-and-play with the global ecosystem.</a:t>
            </a:r>
          </a:p>
          <a:p>
            <a:pPr>
              <a:spcBef>
                <a:spcPts val="800"/>
              </a:spcBef>
              <a:defRPr sz="1050" b="1">
                <a:solidFill>
                  <a:srgbClr val="F59E0B"/>
                </a:solidFill>
                <a:latin typeface="Trebuchet MS"/>
              </a:defRPr>
            </a:pPr>
            <a:r>
              <a:t>3 // CISO CYBER PEDIGREE</a:t>
            </a:r>
          </a:p>
          <a:p>
            <a:pPr>
              <a:spcBef>
                <a:spcPts val="200"/>
              </a:spcBef>
              <a:defRPr sz="900">
                <a:solidFill>
                  <a:srgbClr val="94A3B8"/>
                </a:solidFill>
                <a:latin typeface="Segoe UI"/>
              </a:defRPr>
            </a:pPr>
            <a:r>
              <a:t>Engineered from day one with least-privilege token vaults, HMAC decision signing, and air-gapped Ollama execution.</a:t>
            </a:r>
          </a:p>
          <a:p>
            <a:pPr>
              <a:spcBef>
                <a:spcPts val="800"/>
              </a:spcBef>
              <a:defRPr sz="1050" b="1">
                <a:solidFill>
                  <a:srgbClr val="F59E0B"/>
                </a:solidFill>
                <a:latin typeface="Trebuchet MS"/>
              </a:defRPr>
            </a:pPr>
            <a:r>
              <a:t>4 // ORGANIZATIONAL DATA FLYWHEEL</a:t>
            </a:r>
          </a:p>
          <a:p>
            <a:pPr>
              <a:spcBef>
                <a:spcPts val="200"/>
              </a:spcBef>
              <a:defRPr sz="900">
                <a:solidFill>
                  <a:srgbClr val="94A3B8"/>
                </a:solidFill>
                <a:latin typeface="Segoe UI"/>
              </a:defRPr>
            </a:pPr>
            <a:r>
              <a:t>Institutional memory accumulates inside the virtual company: tracking agent efficiency, regression bugs, and token cost per feature.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06B6D4"/>
                </a:solidFill>
                <a:latin typeface="Consolas"/>
              </a:defRPr>
            </a:pPr>
            <a:r>
              <a:t>GEETORUSAI // PART 1: BUSINESS BRIEF // BUSINESS MODEL &amp; ECONOMICS</a:t>
            </a:r>
          </a:p>
        </p:txBody>
      </p:sp>
      <p:sp>
        <p:nvSpPr>
          <p:cNvPr id="4" name="TextBox 3"/>
          <p:cNvSpPr txBox="1"/>
          <p:nvPr/>
        </p:nvSpPr>
        <p:spPr>
          <a:xfrm>
            <a:off x="9601200" y="365760"/>
            <a:ext cx="1828800" cy="320040"/>
          </a:xfrm>
          <a:prstGeom prst="rect">
            <a:avLst/>
          </a:prstGeom>
          <a:noFill/>
        </p:spPr>
        <p:txBody>
          <a:bodyPr wrap="none" lIns="0" tIns="0" rIns="0" bIns="0">
            <a:spAutoFit/>
          </a:bodyPr>
          <a:lstStyle/>
          <a:p>
            <a:pPr algn="r">
              <a:defRPr sz="1000">
                <a:solidFill>
                  <a:srgbClr val="94A3B8"/>
                </a:solidFill>
                <a:latin typeface="Consolas"/>
              </a:defRPr>
            </a:pPr>
            <a:r>
              <a:t>[ 06 / 15 ]</a:t>
            </a:r>
          </a:p>
        </p:txBody>
      </p:sp>
      <p:sp>
        <p:nvSpPr>
          <p:cNvPr id="5" name="TextBox 4"/>
          <p:cNvSpPr txBox="1"/>
          <p:nvPr/>
        </p:nvSpPr>
        <p:spPr>
          <a:xfrm>
            <a:off x="731520" y="685800"/>
            <a:ext cx="10698480" cy="502920"/>
          </a:xfrm>
          <a:prstGeom prst="rect">
            <a:avLst/>
          </a:prstGeom>
          <a:noFill/>
        </p:spPr>
        <p:txBody>
          <a:bodyPr wrap="square" lIns="0" tIns="0" rIns="0" bIns="0">
            <a:spAutoFit/>
          </a:bodyPr>
          <a:lstStyle/>
          <a:p>
            <a:pPr>
              <a:defRPr sz="2200" b="1">
                <a:solidFill>
                  <a:srgbClr val="F8FAFC"/>
                </a:solidFill>
                <a:latin typeface="Trebuchet MS"/>
              </a:defRPr>
            </a:pPr>
            <a:r>
              <a:t>Open-Core Monetization, Unit Economics &amp; High-Velocity Developer Flywheel</a:t>
            </a:r>
          </a:p>
        </p:txBody>
      </p:sp>
      <p:sp>
        <p:nvSpPr>
          <p:cNvPr id="6" name="TextBox 5"/>
          <p:cNvSpPr txBox="1"/>
          <p:nvPr/>
        </p:nvSpPr>
        <p:spPr>
          <a:xfrm>
            <a:off x="731520" y="1188720"/>
            <a:ext cx="10698480" cy="320040"/>
          </a:xfrm>
          <a:prstGeom prst="rect">
            <a:avLst/>
          </a:prstGeom>
          <a:noFill/>
        </p:spPr>
        <p:txBody>
          <a:bodyPr wrap="square" lIns="0" tIns="0" rIns="0" bIns="0">
            <a:spAutoFit/>
          </a:bodyPr>
          <a:lstStyle/>
          <a:p>
            <a:pPr>
              <a:defRPr sz="1200">
                <a:solidFill>
                  <a:srgbClr val="94A3B8"/>
                </a:solidFill>
                <a:latin typeface="Segoe UI"/>
              </a:defRPr>
            </a:pPr>
            <a:r>
              <a:t>Proven developer-first commercial engine with 15x LTV/CAC ratio.</a:t>
            </a:r>
          </a:p>
        </p:txBody>
      </p:sp>
      <p:sp>
        <p:nvSpPr>
          <p:cNvPr id="7" name="Rounded Rectangle 6"/>
          <p:cNvSpPr/>
          <p:nvPr/>
        </p:nvSpPr>
        <p:spPr>
          <a:xfrm>
            <a:off x="731520" y="1645920"/>
            <a:ext cx="2514600" cy="2651760"/>
          </a:xfrm>
          <a:prstGeom prst="roundRect">
            <a:avLst/>
          </a:prstGeom>
          <a:solidFill>
            <a:srgbClr val="131B2E"/>
          </a:solidFill>
          <a:ln w="12700">
            <a:solidFill>
              <a:srgbClr val="2430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783080"/>
            <a:ext cx="2240280" cy="2377440"/>
          </a:xfrm>
          <a:prstGeom prst="rect">
            <a:avLst/>
          </a:prstGeom>
          <a:noFill/>
        </p:spPr>
        <p:txBody>
          <a:bodyPr wrap="square">
            <a:spAutoFit/>
          </a:bodyPr>
          <a:lstStyle/>
          <a:p>
            <a:pPr>
              <a:defRPr sz="1000" b="1">
                <a:solidFill>
                  <a:srgbClr val="F8FAFC"/>
                </a:solidFill>
                <a:latin typeface="Consolas"/>
              </a:defRPr>
            </a:pPr>
            <a:r>
              <a:t>COMMUNITY (OSS)</a:t>
            </a:r>
          </a:p>
          <a:p>
            <a:pPr>
              <a:spcBef>
                <a:spcPts val="200"/>
              </a:spcBef>
              <a:defRPr sz="2400" b="1">
                <a:solidFill>
                  <a:srgbClr val="F8FAFC"/>
                </a:solidFill>
                <a:latin typeface="Trebuchet MS"/>
              </a:defRPr>
            </a:pPr>
            <a:r>
              <a:t>$0</a:t>
            </a:r>
          </a:p>
          <a:p>
            <a:pPr>
              <a:defRPr sz="900">
                <a:solidFill>
                  <a:srgbClr val="94A3B8"/>
                </a:solidFill>
                <a:latin typeface="Segoe UI"/>
              </a:defRPr>
            </a:pPr>
            <a:r>
              <a:t>Free Forever</a:t>
            </a:r>
          </a:p>
          <a:p>
            <a:pPr>
              <a:spcBef>
                <a:spcPts val="600"/>
              </a:spcBef>
              <a:defRPr sz="850">
                <a:solidFill>
                  <a:srgbClr val="94A3B8"/>
                </a:solidFill>
                <a:latin typeface="Segoe UI"/>
              </a:defRPr>
            </a:pPr>
            <a:r>
              <a:t>Single-node self-hosted, embedded Postgres, 13 provider adapters, basic MCP tools, community support.</a:t>
            </a:r>
          </a:p>
        </p:txBody>
      </p:sp>
      <p:sp>
        <p:nvSpPr>
          <p:cNvPr id="9" name="Rounded Rectangle 8"/>
          <p:cNvSpPr/>
          <p:nvPr/>
        </p:nvSpPr>
        <p:spPr>
          <a:xfrm>
            <a:off x="3429000" y="1645920"/>
            <a:ext cx="2514600" cy="2651760"/>
          </a:xfrm>
          <a:prstGeom prst="roundRect">
            <a:avLst/>
          </a:prstGeom>
          <a:solidFill>
            <a:srgbClr val="131B2E"/>
          </a:solidFill>
          <a:ln w="12700">
            <a:solidFill>
              <a:srgbClr val="2430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0" y="1783080"/>
            <a:ext cx="2240280" cy="2377440"/>
          </a:xfrm>
          <a:prstGeom prst="rect">
            <a:avLst/>
          </a:prstGeom>
          <a:noFill/>
        </p:spPr>
        <p:txBody>
          <a:bodyPr wrap="square">
            <a:spAutoFit/>
          </a:bodyPr>
          <a:lstStyle/>
          <a:p>
            <a:pPr>
              <a:defRPr sz="1000" b="1">
                <a:solidFill>
                  <a:srgbClr val="06B6D4"/>
                </a:solidFill>
                <a:latin typeface="Consolas"/>
              </a:defRPr>
            </a:pPr>
            <a:r>
              <a:t>PRO TIER</a:t>
            </a:r>
          </a:p>
          <a:p>
            <a:pPr>
              <a:spcBef>
                <a:spcPts val="200"/>
              </a:spcBef>
              <a:defRPr sz="2400" b="1">
                <a:solidFill>
                  <a:srgbClr val="F8FAFC"/>
                </a:solidFill>
                <a:latin typeface="Trebuchet MS"/>
              </a:defRPr>
            </a:pPr>
            <a:r>
              <a:t>$49</a:t>
            </a:r>
          </a:p>
          <a:p>
            <a:pPr>
              <a:defRPr sz="900">
                <a:solidFill>
                  <a:srgbClr val="94A3B8"/>
                </a:solidFill>
                <a:latin typeface="Segoe UI"/>
              </a:defRPr>
            </a:pPr>
            <a:r>
              <a:t>/ developer / mo</a:t>
            </a:r>
          </a:p>
          <a:p>
            <a:pPr>
              <a:spcBef>
                <a:spcPts val="600"/>
              </a:spcBef>
              <a:defRPr sz="850">
                <a:solidFill>
                  <a:srgbClr val="94A3B8"/>
                </a:solidFill>
                <a:latin typeface="Segoe UI"/>
              </a:defRPr>
            </a:pPr>
            <a:r>
              <a:t>Cloud workspace synchronization, multi-workspace support, automated telemetry, priority issue queues.</a:t>
            </a:r>
          </a:p>
        </p:txBody>
      </p:sp>
      <p:sp>
        <p:nvSpPr>
          <p:cNvPr id="11" name="Rounded Rectangle 10"/>
          <p:cNvSpPr/>
          <p:nvPr/>
        </p:nvSpPr>
        <p:spPr>
          <a:xfrm>
            <a:off x="6126480" y="1645920"/>
            <a:ext cx="2514600" cy="2651760"/>
          </a:xfrm>
          <a:prstGeom prst="roundRect">
            <a:avLst/>
          </a:prstGeom>
          <a:solidFill>
            <a:srgbClr val="131B2E"/>
          </a:solidFill>
          <a:ln w="12700">
            <a:solidFill>
              <a:srgbClr val="2430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3640" y="1783080"/>
            <a:ext cx="2240280" cy="2377440"/>
          </a:xfrm>
          <a:prstGeom prst="rect">
            <a:avLst/>
          </a:prstGeom>
          <a:noFill/>
        </p:spPr>
        <p:txBody>
          <a:bodyPr wrap="square">
            <a:spAutoFit/>
          </a:bodyPr>
          <a:lstStyle/>
          <a:p>
            <a:pPr>
              <a:defRPr sz="1000" b="1">
                <a:solidFill>
                  <a:srgbClr val="F59E0B"/>
                </a:solidFill>
                <a:latin typeface="Consolas"/>
              </a:defRPr>
            </a:pPr>
            <a:r>
              <a:t>TEAMS TIER</a:t>
            </a:r>
          </a:p>
          <a:p>
            <a:pPr>
              <a:spcBef>
                <a:spcPts val="200"/>
              </a:spcBef>
              <a:defRPr sz="2400" b="1">
                <a:solidFill>
                  <a:srgbClr val="F8FAFC"/>
                </a:solidFill>
                <a:latin typeface="Trebuchet MS"/>
              </a:defRPr>
            </a:pPr>
            <a:r>
              <a:t>$199</a:t>
            </a:r>
          </a:p>
          <a:p>
            <a:pPr>
              <a:defRPr sz="900">
                <a:solidFill>
                  <a:srgbClr val="94A3B8"/>
                </a:solidFill>
                <a:latin typeface="Segoe UI"/>
              </a:defRPr>
            </a:pPr>
            <a:r>
              <a:t>/ team / mo (5 seats)</a:t>
            </a:r>
          </a:p>
          <a:p>
            <a:pPr>
              <a:spcBef>
                <a:spcPts val="600"/>
              </a:spcBef>
              <a:defRPr sz="850">
                <a:solidFill>
                  <a:srgbClr val="94A3B8"/>
                </a:solidFill>
                <a:latin typeface="Segoe UI"/>
              </a:defRPr>
            </a:pPr>
            <a:r>
              <a:t>Departmental org charts, Discord/Slack bridges, team-wide daily budget caps, shared company memory.</a:t>
            </a:r>
          </a:p>
        </p:txBody>
      </p:sp>
      <p:sp>
        <p:nvSpPr>
          <p:cNvPr id="13" name="Rounded Rectangle 12"/>
          <p:cNvSpPr/>
          <p:nvPr/>
        </p:nvSpPr>
        <p:spPr>
          <a:xfrm>
            <a:off x="8823960" y="1645920"/>
            <a:ext cx="2514600" cy="2651760"/>
          </a:xfrm>
          <a:prstGeom prst="roundRect">
            <a:avLst/>
          </a:prstGeom>
          <a:solidFill>
            <a:srgbClr val="131B2E"/>
          </a:solidFill>
          <a:ln w="12700">
            <a:solidFill>
              <a:srgbClr val="2430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0" y="1783080"/>
            <a:ext cx="2240280" cy="2377440"/>
          </a:xfrm>
          <a:prstGeom prst="rect">
            <a:avLst/>
          </a:prstGeom>
          <a:noFill/>
        </p:spPr>
        <p:txBody>
          <a:bodyPr wrap="square">
            <a:spAutoFit/>
          </a:bodyPr>
          <a:lstStyle/>
          <a:p>
            <a:pPr>
              <a:defRPr sz="1000" b="1">
                <a:solidFill>
                  <a:srgbClr val="10B981"/>
                </a:solidFill>
                <a:latin typeface="Consolas"/>
              </a:defRPr>
            </a:pPr>
            <a:r>
              <a:t>ENTERPRISE TIER</a:t>
            </a:r>
          </a:p>
          <a:p>
            <a:pPr>
              <a:spcBef>
                <a:spcPts val="200"/>
              </a:spcBef>
              <a:defRPr sz="2400" b="1">
                <a:solidFill>
                  <a:srgbClr val="F8FAFC"/>
                </a:solidFill>
                <a:latin typeface="Trebuchet MS"/>
              </a:defRPr>
            </a:pPr>
            <a:r>
              <a:t>$1,200</a:t>
            </a:r>
          </a:p>
          <a:p>
            <a:pPr>
              <a:defRPr sz="900">
                <a:solidFill>
                  <a:srgbClr val="94A3B8"/>
                </a:solidFill>
                <a:latin typeface="Segoe UI"/>
              </a:defRPr>
            </a:pPr>
            <a:r>
              <a:t>/ company / mo base</a:t>
            </a:r>
          </a:p>
          <a:p>
            <a:pPr>
              <a:spcBef>
                <a:spcPts val="600"/>
              </a:spcBef>
              <a:defRPr sz="850">
                <a:solidFill>
                  <a:srgbClr val="94A3B8"/>
                </a:solidFill>
                <a:latin typeface="Segoe UI"/>
              </a:defRPr>
            </a:pPr>
            <a:r>
              <a:t>Air-gapped VPC deployment, SAML/SSO, immutable HMAC audit logs, dedicated SLA, custom model fine-tuning.</a:t>
            </a:r>
          </a:p>
        </p:txBody>
      </p:sp>
      <p:sp>
        <p:nvSpPr>
          <p:cNvPr id="15" name="Rounded Rectangle 14"/>
          <p:cNvSpPr/>
          <p:nvPr/>
        </p:nvSpPr>
        <p:spPr>
          <a:xfrm>
            <a:off x="731520" y="4480560"/>
            <a:ext cx="5212080" cy="1737360"/>
          </a:xfrm>
          <a:prstGeom prst="roundRect">
            <a:avLst/>
          </a:prstGeom>
          <a:solidFill>
            <a:srgbClr val="131B2E"/>
          </a:solidFill>
          <a:ln w="12700">
            <a:solidFill>
              <a:srgbClr val="2430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617720"/>
            <a:ext cx="4846320" cy="320040"/>
          </a:xfrm>
          <a:prstGeom prst="rect">
            <a:avLst/>
          </a:prstGeom>
          <a:noFill/>
        </p:spPr>
        <p:txBody>
          <a:bodyPr wrap="square" lIns="0" tIns="0" rIns="0" bIns="0">
            <a:spAutoFit/>
          </a:bodyPr>
          <a:lstStyle/>
          <a:p>
            <a:pPr>
              <a:defRPr sz="1100" b="1">
                <a:solidFill>
                  <a:srgbClr val="06B6D4"/>
                </a:solidFill>
                <a:latin typeface="Consolas"/>
              </a:defRPr>
            </a:pPr>
            <a:r>
              <a:t>UNIT ECONOMICS [PLACEHOLDER: CONFIRM]</a:t>
            </a:r>
          </a:p>
        </p:txBody>
      </p:sp>
      <p:sp>
        <p:nvSpPr>
          <p:cNvPr id="17" name="TextBox 16"/>
          <p:cNvSpPr txBox="1"/>
          <p:nvPr/>
        </p:nvSpPr>
        <p:spPr>
          <a:xfrm>
            <a:off x="914400" y="4846320"/>
            <a:ext cx="4846320" cy="1188720"/>
          </a:xfrm>
          <a:prstGeom prst="rect">
            <a:avLst/>
          </a:prstGeom>
          <a:noFill/>
        </p:spPr>
        <p:txBody>
          <a:bodyPr wrap="square">
            <a:spAutoFit/>
          </a:bodyPr>
          <a:lstStyle/>
          <a:p>
            <a:pPr>
              <a:defRPr sz="900">
                <a:solidFill>
                  <a:srgbClr val="F8FAFC"/>
                </a:solidFill>
                <a:latin typeface="Segoe UI"/>
              </a:defRPr>
            </a:pPr>
            <a:r>
              <a:t>★ Blended CAC: ~$320 — Organic inbound driven by GitHub adoption and developer community.</a:t>
            </a:r>
          </a:p>
          <a:p>
            <a:pPr>
              <a:spcBef>
                <a:spcPts val="200"/>
              </a:spcBef>
              <a:defRPr sz="900">
                <a:solidFill>
                  <a:srgbClr val="F8FAFC"/>
                </a:solidFill>
                <a:latin typeface="Segoe UI"/>
              </a:defRPr>
            </a:pPr>
            <a:r>
              <a:t>★ Blended LTV: ~$4,800 — High retention across Teams and Enterprise annual contracts.</a:t>
            </a:r>
          </a:p>
          <a:p>
            <a:pPr>
              <a:spcBef>
                <a:spcPts val="200"/>
              </a:spcBef>
              <a:defRPr sz="900">
                <a:solidFill>
                  <a:srgbClr val="F8FAFC"/>
                </a:solidFill>
                <a:latin typeface="Segoe UI"/>
              </a:defRPr>
            </a:pPr>
            <a:r>
              <a:t>★ LTV / CAC Ratio: 15.0x — Payback period: 2.8 Months (Best-in-class open-core velocity).</a:t>
            </a:r>
          </a:p>
        </p:txBody>
      </p:sp>
      <p:sp>
        <p:nvSpPr>
          <p:cNvPr id="18" name="Rounded Rectangle 17"/>
          <p:cNvSpPr/>
          <p:nvPr/>
        </p:nvSpPr>
        <p:spPr>
          <a:xfrm>
            <a:off x="6126480" y="4480560"/>
            <a:ext cx="5333695" cy="1737360"/>
          </a:xfrm>
          <a:prstGeom prst="roundRect">
            <a:avLst/>
          </a:prstGeom>
          <a:solidFill>
            <a:srgbClr val="131B2E"/>
          </a:solidFill>
          <a:ln w="12700">
            <a:solidFill>
              <a:srgbClr val="2430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9360" y="4617720"/>
            <a:ext cx="4967935" cy="320040"/>
          </a:xfrm>
          <a:prstGeom prst="rect">
            <a:avLst/>
          </a:prstGeom>
          <a:noFill/>
        </p:spPr>
        <p:txBody>
          <a:bodyPr wrap="square" lIns="0" tIns="0" rIns="0" bIns="0">
            <a:spAutoFit/>
          </a:bodyPr>
          <a:lstStyle/>
          <a:p>
            <a:pPr>
              <a:defRPr sz="1100" b="1">
                <a:solidFill>
                  <a:srgbClr val="06B6D4"/>
                </a:solidFill>
                <a:latin typeface="Consolas"/>
              </a:defRPr>
            </a:pPr>
            <a:r>
              <a:t>EARLY TRACTION [PLACEHOLDER: CONFIRM]</a:t>
            </a:r>
          </a:p>
        </p:txBody>
      </p:sp>
      <p:sp>
        <p:nvSpPr>
          <p:cNvPr id="20" name="TextBox 19"/>
          <p:cNvSpPr txBox="1"/>
          <p:nvPr/>
        </p:nvSpPr>
        <p:spPr>
          <a:xfrm>
            <a:off x="6309360" y="4846320"/>
            <a:ext cx="4937760" cy="1188720"/>
          </a:xfrm>
          <a:prstGeom prst="rect">
            <a:avLst/>
          </a:prstGeom>
          <a:noFill/>
        </p:spPr>
        <p:txBody>
          <a:bodyPr wrap="square">
            <a:spAutoFit/>
          </a:bodyPr>
          <a:lstStyle/>
          <a:p>
            <a:pPr>
              <a:defRPr sz="900">
                <a:solidFill>
                  <a:srgbClr val="F8FAFC"/>
                </a:solidFill>
                <a:latin typeface="Segoe UI"/>
              </a:defRPr>
            </a:pPr>
            <a:r>
              <a:t>● 2,400+ GitHub Stars — Active developer community contributing MCP tools and agent templates.</a:t>
            </a:r>
          </a:p>
          <a:p>
            <a:pPr>
              <a:spcBef>
                <a:spcPts val="200"/>
              </a:spcBef>
              <a:defRPr sz="900">
                <a:solidFill>
                  <a:srgbClr val="F8FAFC"/>
                </a:solidFill>
                <a:latin typeface="Segoe UI"/>
              </a:defRPr>
            </a:pPr>
            <a:r>
              <a:t>● 14,000+ Installs / Pulls — Self-hosted CLI downloads across North America, Europe, and India.</a:t>
            </a:r>
          </a:p>
          <a:p>
            <a:pPr>
              <a:spcBef>
                <a:spcPts val="200"/>
              </a:spcBef>
              <a:defRPr sz="900">
                <a:solidFill>
                  <a:srgbClr val="F8FAFC"/>
                </a:solidFill>
                <a:latin typeface="Segoe UI"/>
              </a:defRPr>
            </a:pPr>
            <a:r>
              <a:t>● 4 Enterprise Pilots // $14.5k MRR — Initial design partners validating governance in fintech and cyber.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06B6D4"/>
                </a:solidFill>
                <a:latin typeface="Consolas"/>
              </a:defRPr>
            </a:pPr>
            <a:r>
              <a:t>GEETORUSAI // PART 1: BUSINESS BRIEF // THE ASK &amp; MILESTONES</a:t>
            </a:r>
          </a:p>
        </p:txBody>
      </p:sp>
      <p:sp>
        <p:nvSpPr>
          <p:cNvPr id="4" name="TextBox 3"/>
          <p:cNvSpPr txBox="1"/>
          <p:nvPr/>
        </p:nvSpPr>
        <p:spPr>
          <a:xfrm>
            <a:off x="9601200" y="365760"/>
            <a:ext cx="1828800" cy="320040"/>
          </a:xfrm>
          <a:prstGeom prst="rect">
            <a:avLst/>
          </a:prstGeom>
          <a:noFill/>
        </p:spPr>
        <p:txBody>
          <a:bodyPr wrap="none" lIns="0" tIns="0" rIns="0" bIns="0">
            <a:spAutoFit/>
          </a:bodyPr>
          <a:lstStyle/>
          <a:p>
            <a:pPr algn="r">
              <a:defRPr sz="1000">
                <a:solidFill>
                  <a:srgbClr val="94A3B8"/>
                </a:solidFill>
                <a:latin typeface="Consolas"/>
              </a:defRPr>
            </a:pPr>
            <a:r>
              <a:t>[ 07 / 15 ]</a:t>
            </a:r>
          </a:p>
        </p:txBody>
      </p:sp>
      <p:sp>
        <p:nvSpPr>
          <p:cNvPr id="5" name="TextBox 4"/>
          <p:cNvSpPr txBox="1"/>
          <p:nvPr/>
        </p:nvSpPr>
        <p:spPr>
          <a:xfrm>
            <a:off x="731520" y="685800"/>
            <a:ext cx="10698480" cy="502920"/>
          </a:xfrm>
          <a:prstGeom prst="rect">
            <a:avLst/>
          </a:prstGeom>
          <a:noFill/>
        </p:spPr>
        <p:txBody>
          <a:bodyPr wrap="square" lIns="0" tIns="0" rIns="0" bIns="0">
            <a:spAutoFit/>
          </a:bodyPr>
          <a:lstStyle/>
          <a:p>
            <a:pPr>
              <a:defRPr sz="2200" b="1">
                <a:solidFill>
                  <a:srgbClr val="F8FAFC"/>
                </a:solidFill>
                <a:latin typeface="Trebuchet MS"/>
              </a:defRPr>
            </a:pPr>
            <a:r>
              <a:t>Seed Financing: $1.5M for 15% Equity ($10M Post-Money Valuation)</a:t>
            </a:r>
          </a:p>
        </p:txBody>
      </p:sp>
      <p:sp>
        <p:nvSpPr>
          <p:cNvPr id="6" name="TextBox 5"/>
          <p:cNvSpPr txBox="1"/>
          <p:nvPr/>
        </p:nvSpPr>
        <p:spPr>
          <a:xfrm>
            <a:off x="731520" y="1188720"/>
            <a:ext cx="10698480" cy="320040"/>
          </a:xfrm>
          <a:prstGeom prst="rect">
            <a:avLst/>
          </a:prstGeom>
          <a:noFill/>
        </p:spPr>
        <p:txBody>
          <a:bodyPr wrap="square" lIns="0" tIns="0" rIns="0" bIns="0">
            <a:spAutoFit/>
          </a:bodyPr>
          <a:lstStyle/>
          <a:p>
            <a:pPr>
              <a:defRPr sz="1200">
                <a:solidFill>
                  <a:srgbClr val="94A3B8"/>
                </a:solidFill>
                <a:latin typeface="Segoe UI"/>
              </a:defRPr>
            </a:pPr>
            <a:r>
              <a:t>Funding 18–24 months of runway to deliver enterprise scale, SOC2, and global GTM.</a:t>
            </a:r>
          </a:p>
        </p:txBody>
      </p:sp>
      <p:sp>
        <p:nvSpPr>
          <p:cNvPr id="7" name="Rounded Rectangle 6"/>
          <p:cNvSpPr/>
          <p:nvPr/>
        </p:nvSpPr>
        <p:spPr>
          <a:xfrm>
            <a:off x="731520" y="1645920"/>
            <a:ext cx="3429000" cy="1828800"/>
          </a:xfrm>
          <a:prstGeom prst="roundRect">
            <a:avLst/>
          </a:prstGeom>
          <a:solidFill>
            <a:srgbClr val="131B2E"/>
          </a:solidFill>
          <a:ln w="12700">
            <a:solidFill>
              <a:srgbClr val="2430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83080"/>
            <a:ext cx="3063240" cy="1554480"/>
          </a:xfrm>
          <a:prstGeom prst="rect">
            <a:avLst/>
          </a:prstGeom>
          <a:noFill/>
        </p:spPr>
        <p:txBody>
          <a:bodyPr wrap="square" lIns="0" tIns="0" rIns="0" bIns="0">
            <a:spAutoFit/>
          </a:bodyPr>
          <a:lstStyle/>
          <a:p>
            <a:pPr>
              <a:defRPr sz="2800" b="1">
                <a:solidFill>
                  <a:srgbClr val="06B6D4"/>
                </a:solidFill>
                <a:latin typeface="Trebuchet MS"/>
              </a:defRPr>
            </a:pPr>
            <a:r>
              <a:t>$1.5M</a:t>
            </a:r>
          </a:p>
          <a:p>
            <a:pPr>
              <a:spcBef>
                <a:spcPts val="400"/>
              </a:spcBef>
              <a:defRPr sz="1100" b="1">
                <a:solidFill>
                  <a:srgbClr val="F8FAFC"/>
                </a:solidFill>
                <a:latin typeface="Segoe UI"/>
              </a:defRPr>
            </a:pPr>
            <a:r>
              <a:t>SEED ROUND ASK [PLACEHOLDER: confirm]</a:t>
            </a:r>
          </a:p>
          <a:p>
            <a:pPr>
              <a:spcBef>
                <a:spcPts val="200"/>
              </a:spcBef>
              <a:defRPr sz="950">
                <a:solidFill>
                  <a:srgbClr val="94A3B8"/>
                </a:solidFill>
                <a:latin typeface="Segoe UI"/>
              </a:defRPr>
            </a:pPr>
            <a:r>
              <a:t>15.0% Equity offered at an implied $10.0M post-money valuation.</a:t>
            </a:r>
          </a:p>
        </p:txBody>
      </p:sp>
      <p:sp>
        <p:nvSpPr>
          <p:cNvPr id="9" name="Rounded Rectangle 8"/>
          <p:cNvSpPr/>
          <p:nvPr/>
        </p:nvSpPr>
        <p:spPr>
          <a:xfrm>
            <a:off x="4379976" y="1645920"/>
            <a:ext cx="3429000" cy="1828800"/>
          </a:xfrm>
          <a:prstGeom prst="roundRect">
            <a:avLst/>
          </a:prstGeom>
          <a:solidFill>
            <a:srgbClr val="131B2E"/>
          </a:solidFill>
          <a:ln w="12700">
            <a:solidFill>
              <a:srgbClr val="2430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62856" y="1783080"/>
            <a:ext cx="3063240" cy="1554480"/>
          </a:xfrm>
          <a:prstGeom prst="rect">
            <a:avLst/>
          </a:prstGeom>
          <a:noFill/>
        </p:spPr>
        <p:txBody>
          <a:bodyPr wrap="square" lIns="0" tIns="0" rIns="0" bIns="0">
            <a:spAutoFit/>
          </a:bodyPr>
          <a:lstStyle/>
          <a:p>
            <a:pPr>
              <a:defRPr sz="2800" b="1">
                <a:solidFill>
                  <a:srgbClr val="F59E0B"/>
                </a:solidFill>
                <a:latin typeface="Trebuchet MS"/>
              </a:defRPr>
            </a:pPr>
            <a:r>
              <a:t>18-24 MO</a:t>
            </a:r>
          </a:p>
          <a:p>
            <a:pPr>
              <a:spcBef>
                <a:spcPts val="400"/>
              </a:spcBef>
              <a:defRPr sz="1100" b="1">
                <a:solidFill>
                  <a:srgbClr val="F8FAFC"/>
                </a:solidFill>
                <a:latin typeface="Segoe UI"/>
              </a:defRPr>
            </a:pPr>
            <a:r>
              <a:t>RUNWAY TO PROFITABILITY</a:t>
            </a:r>
          </a:p>
          <a:p>
            <a:pPr>
              <a:spcBef>
                <a:spcPts val="200"/>
              </a:spcBef>
              <a:defRPr sz="950">
                <a:solidFill>
                  <a:srgbClr val="94A3B8"/>
                </a:solidFill>
                <a:latin typeface="Segoe UI"/>
              </a:defRPr>
            </a:pPr>
            <a:r>
              <a:t>Targeting $1.2M ARR run-rate and Series A readiness by Q4 2027.</a:t>
            </a:r>
          </a:p>
        </p:txBody>
      </p:sp>
      <p:sp>
        <p:nvSpPr>
          <p:cNvPr id="11" name="Rounded Rectangle 10"/>
          <p:cNvSpPr/>
          <p:nvPr/>
        </p:nvSpPr>
        <p:spPr>
          <a:xfrm>
            <a:off x="8028431" y="1645920"/>
            <a:ext cx="3429000" cy="1828800"/>
          </a:xfrm>
          <a:prstGeom prst="roundRect">
            <a:avLst/>
          </a:prstGeom>
          <a:solidFill>
            <a:srgbClr val="131B2E"/>
          </a:solidFill>
          <a:ln w="12700">
            <a:solidFill>
              <a:srgbClr val="2430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11311" y="1783080"/>
            <a:ext cx="3063240" cy="1554480"/>
          </a:xfrm>
          <a:prstGeom prst="rect">
            <a:avLst/>
          </a:prstGeom>
          <a:noFill/>
        </p:spPr>
        <p:txBody>
          <a:bodyPr wrap="square" lIns="0" tIns="0" rIns="0" bIns="0">
            <a:spAutoFit/>
          </a:bodyPr>
          <a:lstStyle/>
          <a:p>
            <a:pPr>
              <a:defRPr sz="2800" b="1">
                <a:solidFill>
                  <a:srgbClr val="10B981"/>
                </a:solidFill>
                <a:latin typeface="Trebuchet MS"/>
              </a:defRPr>
            </a:pPr>
            <a:r>
              <a:t>3 PHASES</a:t>
            </a:r>
          </a:p>
          <a:p>
            <a:pPr>
              <a:spcBef>
                <a:spcPts val="400"/>
              </a:spcBef>
              <a:defRPr sz="1100" b="1">
                <a:solidFill>
                  <a:srgbClr val="F8FAFC"/>
                </a:solidFill>
                <a:latin typeface="Segoe UI"/>
              </a:defRPr>
            </a:pPr>
            <a:r>
              <a:t>FUNDING-LINKED ROADMAP</a:t>
            </a:r>
          </a:p>
          <a:p>
            <a:pPr>
              <a:spcBef>
                <a:spcPts val="200"/>
              </a:spcBef>
              <a:defRPr sz="950">
                <a:solidFill>
                  <a:srgbClr val="94A3B8"/>
                </a:solidFill>
                <a:latin typeface="Segoe UI"/>
              </a:defRPr>
            </a:pPr>
            <a:r>
              <a:t>Directly tied to BullMQ task queue, pgvector memory, and SOC2 certification.</a:t>
            </a:r>
          </a:p>
        </p:txBody>
      </p:sp>
      <p:sp>
        <p:nvSpPr>
          <p:cNvPr id="13" name="Rounded Rectangle 12"/>
          <p:cNvSpPr/>
          <p:nvPr/>
        </p:nvSpPr>
        <p:spPr>
          <a:xfrm>
            <a:off x="731520" y="3657600"/>
            <a:ext cx="5212080" cy="2560320"/>
          </a:xfrm>
          <a:prstGeom prst="roundRect">
            <a:avLst/>
          </a:prstGeom>
          <a:solidFill>
            <a:srgbClr val="131B2E"/>
          </a:solidFill>
          <a:ln w="12700">
            <a:solidFill>
              <a:srgbClr val="2430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794760"/>
            <a:ext cx="4846320" cy="320040"/>
          </a:xfrm>
          <a:prstGeom prst="rect">
            <a:avLst/>
          </a:prstGeom>
          <a:noFill/>
        </p:spPr>
        <p:txBody>
          <a:bodyPr wrap="square" lIns="0" tIns="0" rIns="0" bIns="0">
            <a:spAutoFit/>
          </a:bodyPr>
          <a:lstStyle/>
          <a:p>
            <a:pPr>
              <a:defRPr sz="1100" b="1">
                <a:solidFill>
                  <a:srgbClr val="06B6D4"/>
                </a:solidFill>
                <a:latin typeface="Consolas"/>
              </a:defRPr>
            </a:pPr>
            <a:r>
              <a:t>USE OF FUNDS ALLOCATION</a:t>
            </a:r>
          </a:p>
        </p:txBody>
      </p:sp>
      <p:sp>
        <p:nvSpPr>
          <p:cNvPr id="15" name="TextBox 14"/>
          <p:cNvSpPr txBox="1"/>
          <p:nvPr/>
        </p:nvSpPr>
        <p:spPr>
          <a:xfrm>
            <a:off x="914400" y="4023360"/>
            <a:ext cx="4846320" cy="2011680"/>
          </a:xfrm>
          <a:prstGeom prst="rect">
            <a:avLst/>
          </a:prstGeom>
          <a:noFill/>
        </p:spPr>
        <p:txBody>
          <a:bodyPr wrap="square">
            <a:spAutoFit/>
          </a:bodyPr>
          <a:lstStyle/>
          <a:p>
            <a:pPr>
              <a:defRPr sz="1000" b="1">
                <a:solidFill>
                  <a:srgbClr val="06B6D4"/>
                </a:solidFill>
                <a:latin typeface="Trebuchet MS"/>
              </a:defRPr>
            </a:pPr>
            <a:r>
              <a:t>55% // ENGINEERING &amp; R&amp;D ($825K)</a:t>
            </a:r>
          </a:p>
          <a:p>
            <a:pPr>
              <a:spcBef>
                <a:spcPts val="200"/>
              </a:spcBef>
              <a:defRPr sz="900">
                <a:solidFill>
                  <a:srgbClr val="94A3B8"/>
                </a:solidFill>
                <a:latin typeface="Segoe UI"/>
              </a:defRPr>
            </a:pPr>
            <a:r>
              <a:t>Scale distributed BullMQ scheduler, pgvector semantic memory, and native Tauri desktop companion.</a:t>
            </a:r>
          </a:p>
          <a:p>
            <a:pPr>
              <a:spcBef>
                <a:spcPts val="600"/>
              </a:spcBef>
              <a:defRPr sz="1000" b="1">
                <a:solidFill>
                  <a:srgbClr val="06B6D4"/>
                </a:solidFill>
                <a:latin typeface="Trebuchet MS"/>
              </a:defRPr>
            </a:pPr>
            <a:r>
              <a:t>30% // GO-TO-MARKET &amp; DEVREL ($450K)</a:t>
            </a:r>
          </a:p>
          <a:p>
            <a:pPr>
              <a:spcBef>
                <a:spcPts val="200"/>
              </a:spcBef>
              <a:defRPr sz="900">
                <a:solidFill>
                  <a:srgbClr val="94A3B8"/>
                </a:solidFill>
                <a:latin typeface="Segoe UI"/>
              </a:defRPr>
            </a:pPr>
            <a:r>
              <a:t>Developer advocacy, conference workshops, and enterprise pilot sales team across India &amp; US corridors.</a:t>
            </a:r>
          </a:p>
          <a:p>
            <a:pPr>
              <a:spcBef>
                <a:spcPts val="600"/>
              </a:spcBef>
              <a:defRPr sz="1000" b="1">
                <a:solidFill>
                  <a:srgbClr val="06B6D4"/>
                </a:solidFill>
                <a:latin typeface="Trebuchet MS"/>
              </a:defRPr>
            </a:pPr>
            <a:r>
              <a:t>15% // COMPLIANCE &amp; SECURITY ($225K)</a:t>
            </a:r>
          </a:p>
          <a:p>
            <a:pPr>
              <a:spcBef>
                <a:spcPts val="200"/>
              </a:spcBef>
              <a:defRPr sz="900">
                <a:solidFill>
                  <a:srgbClr val="94A3B8"/>
                </a:solidFill>
                <a:latin typeface="Segoe UI"/>
              </a:defRPr>
            </a:pPr>
            <a:r>
              <a:t>Achieve SOC2 Type II, ISO 27001, and India DPDP compliance certifications; cloud testing infrastructure.</a:t>
            </a:r>
          </a:p>
        </p:txBody>
      </p:sp>
      <p:sp>
        <p:nvSpPr>
          <p:cNvPr id="16" name="Rounded Rectangle 15"/>
          <p:cNvSpPr/>
          <p:nvPr/>
        </p:nvSpPr>
        <p:spPr>
          <a:xfrm>
            <a:off x="6126480" y="3657600"/>
            <a:ext cx="5333695" cy="2560320"/>
          </a:xfrm>
          <a:prstGeom prst="roundRect">
            <a:avLst/>
          </a:prstGeom>
          <a:solidFill>
            <a:srgbClr val="131B2E"/>
          </a:solidFill>
          <a:ln w="12700">
            <a:solidFill>
              <a:srgbClr val="2430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9360" y="3794760"/>
            <a:ext cx="4967935" cy="320040"/>
          </a:xfrm>
          <a:prstGeom prst="rect">
            <a:avLst/>
          </a:prstGeom>
          <a:noFill/>
        </p:spPr>
        <p:txBody>
          <a:bodyPr wrap="square" lIns="0" tIns="0" rIns="0" bIns="0">
            <a:spAutoFit/>
          </a:bodyPr>
          <a:lstStyle/>
          <a:p>
            <a:pPr>
              <a:defRPr sz="1100" b="1">
                <a:solidFill>
                  <a:srgbClr val="06B6D4"/>
                </a:solidFill>
                <a:latin typeface="Consolas"/>
              </a:defRPr>
            </a:pPr>
            <a:r>
              <a:t>TOP RISKS, MITIGATIONS &amp; EXIT ROUTES</a:t>
            </a:r>
          </a:p>
        </p:txBody>
      </p:sp>
      <p:sp>
        <p:nvSpPr>
          <p:cNvPr id="18" name="TextBox 17"/>
          <p:cNvSpPr txBox="1"/>
          <p:nvPr/>
        </p:nvSpPr>
        <p:spPr>
          <a:xfrm>
            <a:off x="6309360" y="4023360"/>
            <a:ext cx="4937760" cy="2011680"/>
          </a:xfrm>
          <a:prstGeom prst="rect">
            <a:avLst/>
          </a:prstGeom>
          <a:noFill/>
        </p:spPr>
        <p:txBody>
          <a:bodyPr wrap="square">
            <a:spAutoFit/>
          </a:bodyPr>
          <a:lstStyle/>
          <a:p>
            <a:pPr>
              <a:defRPr sz="950" b="1">
                <a:solidFill>
                  <a:srgbClr val="F8FAFC"/>
                </a:solidFill>
                <a:latin typeface="Segoe UI"/>
              </a:defRPr>
            </a:pPr>
            <a:r>
              <a:t>★ Risk: LLM Provider Shifts</a:t>
            </a:r>
          </a:p>
          <a:p>
            <a:pPr>
              <a:spcBef>
                <a:spcPts val="100"/>
              </a:spcBef>
              <a:defRPr sz="900">
                <a:solidFill>
                  <a:srgbClr val="94A3B8"/>
                </a:solidFill>
                <a:latin typeface="Segoe UI"/>
              </a:defRPr>
            </a:pPr>
            <a:r>
              <a:t>Mitigation: 13 pluggable adapters isolate core logic from underlying model API changes.</a:t>
            </a:r>
          </a:p>
          <a:p>
            <a:pPr>
              <a:spcBef>
                <a:spcPts val="600"/>
              </a:spcBef>
              <a:defRPr sz="950" b="1">
                <a:solidFill>
                  <a:srgbClr val="F8FAFC"/>
                </a:solidFill>
                <a:latin typeface="Segoe UI"/>
              </a:defRPr>
            </a:pPr>
            <a:r>
              <a:t>★ Risk: Enterprise Sales Friction</a:t>
            </a:r>
          </a:p>
          <a:p>
            <a:pPr>
              <a:spcBef>
                <a:spcPts val="100"/>
              </a:spcBef>
              <a:defRPr sz="900">
                <a:solidFill>
                  <a:srgbClr val="94A3B8"/>
                </a:solidFill>
                <a:latin typeface="Segoe UI"/>
              </a:defRPr>
            </a:pPr>
            <a:r>
              <a:t>Mitigation: Self-hosted open-source trial creates internal developer champions before procurement.</a:t>
            </a:r>
          </a:p>
          <a:p>
            <a:pPr>
              <a:spcBef>
                <a:spcPts val="600"/>
              </a:spcBef>
              <a:defRPr sz="950" b="1">
                <a:solidFill>
                  <a:srgbClr val="F8FAFC"/>
                </a:solidFill>
                <a:latin typeface="Segoe UI"/>
              </a:defRPr>
            </a:pPr>
            <a:r>
              <a:t>★ Strategic Exit Routes</a:t>
            </a:r>
          </a:p>
          <a:p>
            <a:pPr>
              <a:spcBef>
                <a:spcPts val="100"/>
              </a:spcBef>
              <a:defRPr sz="900">
                <a:solidFill>
                  <a:srgbClr val="94A3B8"/>
                </a:solidFill>
                <a:latin typeface="Segoe UI"/>
              </a:defRPr>
            </a:pPr>
            <a:r>
              <a:t>High-multiple acquisition by DevSecOps/Cloud leaders (GitLab, Atlassian, Microsoft, Datadog) or standalone SaaS IPO.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06B6D4"/>
                </a:solidFill>
                <a:latin typeface="Consolas"/>
              </a:defRPr>
            </a:pPr>
            <a:r>
              <a:t>GEETORUSAI // APPENDIX // WORD-FOR-WORD SPOKEN PITCH SCRIPT</a:t>
            </a:r>
          </a:p>
        </p:txBody>
      </p:sp>
      <p:sp>
        <p:nvSpPr>
          <p:cNvPr id="4" name="TextBox 3"/>
          <p:cNvSpPr txBox="1"/>
          <p:nvPr/>
        </p:nvSpPr>
        <p:spPr>
          <a:xfrm>
            <a:off x="9601200" y="365760"/>
            <a:ext cx="1828800" cy="320040"/>
          </a:xfrm>
          <a:prstGeom prst="rect">
            <a:avLst/>
          </a:prstGeom>
          <a:noFill/>
        </p:spPr>
        <p:txBody>
          <a:bodyPr wrap="none" lIns="0" tIns="0" rIns="0" bIns="0">
            <a:spAutoFit/>
          </a:bodyPr>
          <a:lstStyle/>
          <a:p>
            <a:pPr algn="r">
              <a:defRPr sz="1000">
                <a:solidFill>
                  <a:srgbClr val="94A3B8"/>
                </a:solidFill>
                <a:latin typeface="Consolas"/>
              </a:defRPr>
            </a:pPr>
            <a:r>
              <a:t>[ 08 / 15 ]</a:t>
            </a:r>
          </a:p>
        </p:txBody>
      </p:sp>
      <p:sp>
        <p:nvSpPr>
          <p:cNvPr id="5" name="TextBox 4"/>
          <p:cNvSpPr txBox="1"/>
          <p:nvPr/>
        </p:nvSpPr>
        <p:spPr>
          <a:xfrm>
            <a:off x="731520" y="685800"/>
            <a:ext cx="10698480" cy="502920"/>
          </a:xfrm>
          <a:prstGeom prst="rect">
            <a:avLst/>
          </a:prstGeom>
          <a:noFill/>
        </p:spPr>
        <p:txBody>
          <a:bodyPr wrap="square" lIns="0" tIns="0" rIns="0" bIns="0">
            <a:spAutoFit/>
          </a:bodyPr>
          <a:lstStyle/>
          <a:p>
            <a:pPr>
              <a:defRPr sz="2200" b="1">
                <a:solidFill>
                  <a:srgbClr val="F8FAFC"/>
                </a:solidFill>
                <a:latin typeface="Trebuchet MS"/>
              </a:defRPr>
            </a:pPr>
            <a:r>
              <a:t>The 2.5-Minute Pitch: Carrying the Complete Story Without Slides</a:t>
            </a:r>
          </a:p>
        </p:txBody>
      </p:sp>
      <p:sp>
        <p:nvSpPr>
          <p:cNvPr id="6" name="TextBox 5"/>
          <p:cNvSpPr txBox="1"/>
          <p:nvPr/>
        </p:nvSpPr>
        <p:spPr>
          <a:xfrm>
            <a:off x="731520" y="1188720"/>
            <a:ext cx="10698480" cy="320040"/>
          </a:xfrm>
          <a:prstGeom prst="rect">
            <a:avLst/>
          </a:prstGeom>
          <a:noFill/>
        </p:spPr>
        <p:txBody>
          <a:bodyPr wrap="square" lIns="0" tIns="0" rIns="0" bIns="0">
            <a:spAutoFit/>
          </a:bodyPr>
          <a:lstStyle/>
          <a:p>
            <a:pPr>
              <a:defRPr sz="1200">
                <a:solidFill>
                  <a:srgbClr val="94A3B8"/>
                </a:solidFill>
                <a:latin typeface="Segoe UI"/>
              </a:defRPr>
            </a:pPr>
            <a:r>
              <a:t>Designed for in-person investor meetings, Shark Tank presentations, and partner briefings.</a:t>
            </a:r>
          </a:p>
        </p:txBody>
      </p:sp>
      <p:sp>
        <p:nvSpPr>
          <p:cNvPr id="7" name="Rounded Rectangle 6"/>
          <p:cNvSpPr/>
          <p:nvPr/>
        </p:nvSpPr>
        <p:spPr>
          <a:xfrm>
            <a:off x="731520" y="1645920"/>
            <a:ext cx="10728655" cy="4572000"/>
          </a:xfrm>
          <a:prstGeom prst="roundRect">
            <a:avLst/>
          </a:prstGeom>
          <a:solidFill>
            <a:srgbClr val="1A243D"/>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828800"/>
            <a:ext cx="10149840" cy="4114800"/>
          </a:xfrm>
          <a:prstGeom prst="rect">
            <a:avLst/>
          </a:prstGeom>
          <a:noFill/>
        </p:spPr>
        <p:txBody>
          <a:bodyPr wrap="square">
            <a:spAutoFit/>
          </a:bodyPr>
          <a:lstStyle/>
          <a:p>
            <a:pPr>
              <a:defRPr sz="1100">
                <a:solidFill>
                  <a:srgbClr val="F8FAFC"/>
                </a:solidFill>
                <a:latin typeface="Segoe UI"/>
              </a:defRPr>
            </a:pPr>
            <a:r>
              <a:t>“Good morning. Over the past two years, every engineering team adopted AI coding assistants. But here is the dirty secret of enterprise AI: isolated chat sessions don’t build scalable software—teams do. Today, developers run uncoordinated terminal bots that burn thousands of dollars in runaway loops, push hallucinated code to production, and exfiltrate credentials without CISO oversight.</a:t>
            </a:r>
          </a:p>
          <a:p>
            <a:pPr>
              <a:spcBef>
                <a:spcPts val="1000"/>
              </a:spcBef>
              <a:defRPr sz="1100">
                <a:solidFill>
                  <a:srgbClr val="F8FAFC"/>
                </a:solidFill>
                <a:latin typeface="Segoe UI"/>
              </a:defRPr>
            </a:pPr>
            <a:r>
              <a:t>GeetorusAI is the autonomous AI agent control plane and virtual company operating system that solves this. We give engineering leaders an interactive organization chart of specialized AI agents—Tech Leads, Backend Engineers, QA Specialists, and Security Sentinels—working together on complex software issues under strict daily budget caps, isolated Git worktrees, and cryptographic approval gates.</a:t>
            </a:r>
          </a:p>
          <a:p>
            <a:pPr>
              <a:spcBef>
                <a:spcPts val="1000"/>
              </a:spcBef>
              <a:defRPr sz="1100">
                <a:solidFill>
                  <a:srgbClr val="F8FAFC"/>
                </a:solidFill>
                <a:latin typeface="Segoe UI"/>
              </a:defRPr>
            </a:pPr>
            <a:r>
              <a:t>Unlike prompt libraries like LangGraph or CrewAI that require months of engineering just to build a UI and database, GeetorusAI is completely turnkey. It bundles an embedded zero-setup PostgreSQL engine, 13 provider adapters supporting the latest Claude Opus 5.5, GPT-5, and Gemini 2.5 models, and native Anthropic Model Context Protocol integration. Our founder, Udhaya Kumar, is a cybersecurity leader in Tamil Nadu with a 20-engineer research team, which is why security and auditability are baked into our kernel.</a:t>
            </a:r>
          </a:p>
          <a:p>
            <a:pPr>
              <a:spcBef>
                <a:spcPts val="1000"/>
              </a:spcBef>
              <a:defRPr sz="1100">
                <a:solidFill>
                  <a:srgbClr val="F8FAFC"/>
                </a:solidFill>
                <a:latin typeface="Segoe UI"/>
              </a:defRPr>
            </a:pPr>
            <a:r>
              <a:t>We operate an open-core model: free community self-hosting, $49 Pro developer seats, $199 Teams subscriptions, and $1,200/month Enterprise deployments. We are raising $1.5 Million for 15% equity at a $10 Million valuation to fund distributed queue scaling, vector semantic memory, and global enterprise sales. Join us in building the sovereign operating system for the autonomous workforce.”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06B6D4"/>
                </a:solidFill>
                <a:latin typeface="Consolas"/>
              </a:defRPr>
            </a:pPr>
            <a:r>
              <a:t>GEETORUSAI // PART 2: TECHNICAL DEEP-DIVE // SYSTEM TOPOLOGY</a:t>
            </a:r>
          </a:p>
        </p:txBody>
      </p:sp>
      <p:sp>
        <p:nvSpPr>
          <p:cNvPr id="4" name="TextBox 3"/>
          <p:cNvSpPr txBox="1"/>
          <p:nvPr/>
        </p:nvSpPr>
        <p:spPr>
          <a:xfrm>
            <a:off x="9601200" y="365760"/>
            <a:ext cx="1828800" cy="320040"/>
          </a:xfrm>
          <a:prstGeom prst="rect">
            <a:avLst/>
          </a:prstGeom>
          <a:noFill/>
        </p:spPr>
        <p:txBody>
          <a:bodyPr wrap="none" lIns="0" tIns="0" rIns="0" bIns="0">
            <a:spAutoFit/>
          </a:bodyPr>
          <a:lstStyle/>
          <a:p>
            <a:pPr algn="r">
              <a:defRPr sz="1000">
                <a:solidFill>
                  <a:srgbClr val="94A3B8"/>
                </a:solidFill>
                <a:latin typeface="Consolas"/>
              </a:defRPr>
            </a:pPr>
            <a:r>
              <a:t>[ 09 / 15 ]</a:t>
            </a:r>
          </a:p>
        </p:txBody>
      </p:sp>
      <p:sp>
        <p:nvSpPr>
          <p:cNvPr id="5" name="TextBox 4"/>
          <p:cNvSpPr txBox="1"/>
          <p:nvPr/>
        </p:nvSpPr>
        <p:spPr>
          <a:xfrm>
            <a:off x="731520" y="685800"/>
            <a:ext cx="10698480" cy="502920"/>
          </a:xfrm>
          <a:prstGeom prst="rect">
            <a:avLst/>
          </a:prstGeom>
          <a:noFill/>
        </p:spPr>
        <p:txBody>
          <a:bodyPr wrap="square" lIns="0" tIns="0" rIns="0" bIns="0">
            <a:spAutoFit/>
          </a:bodyPr>
          <a:lstStyle/>
          <a:p>
            <a:pPr>
              <a:defRPr sz="2200" b="1">
                <a:solidFill>
                  <a:srgbClr val="F8FAFC"/>
                </a:solidFill>
                <a:latin typeface="Trebuchet MS"/>
              </a:defRPr>
            </a:pPr>
            <a:r>
              <a:t>Full-Stack Node/Express Engine, Embedded Postgres &amp; React 19 SPA</a:t>
            </a:r>
          </a:p>
        </p:txBody>
      </p:sp>
      <p:sp>
        <p:nvSpPr>
          <p:cNvPr id="6" name="TextBox 5"/>
          <p:cNvSpPr txBox="1"/>
          <p:nvPr/>
        </p:nvSpPr>
        <p:spPr>
          <a:xfrm>
            <a:off x="731520" y="1188720"/>
            <a:ext cx="10698480" cy="320040"/>
          </a:xfrm>
          <a:prstGeom prst="rect">
            <a:avLst/>
          </a:prstGeom>
          <a:noFill/>
        </p:spPr>
        <p:txBody>
          <a:bodyPr wrap="square" lIns="0" tIns="0" rIns="0" bIns="0">
            <a:spAutoFit/>
          </a:bodyPr>
          <a:lstStyle/>
          <a:p>
            <a:pPr>
              <a:defRPr sz="1200">
                <a:solidFill>
                  <a:srgbClr val="94A3B8"/>
                </a:solidFill>
                <a:latin typeface="Segoe UI"/>
              </a:defRPr>
            </a:pPr>
            <a:r>
              <a:t>Architecture verified in code: server/src/index.ts &amp; packages/db/src/migration-runtime.ts</a:t>
            </a:r>
          </a:p>
        </p:txBody>
      </p:sp>
      <p:sp>
        <p:nvSpPr>
          <p:cNvPr id="7" name="Rounded Rectangle 6"/>
          <p:cNvSpPr/>
          <p:nvPr/>
        </p:nvSpPr>
        <p:spPr>
          <a:xfrm>
            <a:off x="731520" y="1645920"/>
            <a:ext cx="3429000" cy="4572000"/>
          </a:xfrm>
          <a:prstGeom prst="roundRect">
            <a:avLst/>
          </a:prstGeom>
          <a:solidFill>
            <a:srgbClr val="131B2E"/>
          </a:solidFill>
          <a:ln w="12700">
            <a:solidFill>
              <a:srgbClr val="2430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3063240" cy="4114800"/>
          </a:xfrm>
          <a:prstGeom prst="rect">
            <a:avLst/>
          </a:prstGeom>
          <a:noFill/>
        </p:spPr>
        <p:txBody>
          <a:bodyPr wrap="square">
            <a:spAutoFit/>
          </a:bodyPr>
          <a:lstStyle/>
          <a:p>
            <a:pPr>
              <a:defRPr sz="1000" b="1">
                <a:solidFill>
                  <a:srgbClr val="06B6D4"/>
                </a:solidFill>
                <a:latin typeface="Consolas"/>
              </a:defRPr>
            </a:pPr>
            <a:r>
              <a:t>01 // CLIENT &amp; INTERFACE LAYER</a:t>
            </a:r>
          </a:p>
          <a:p>
            <a:pPr>
              <a:spcBef>
                <a:spcPts val="400"/>
              </a:spcBef>
              <a:defRPr sz="1400" b="1">
                <a:solidFill>
                  <a:srgbClr val="F8FAFC"/>
                </a:solidFill>
                <a:latin typeface="Trebuchet MS"/>
              </a:defRPr>
            </a:pPr>
            <a:r>
              <a:t>React 19 &amp; Tailwind v4 Tokens</a:t>
            </a:r>
          </a:p>
          <a:p>
            <a:pPr>
              <a:spcBef>
                <a:spcPts val="1000"/>
              </a:spcBef>
              <a:defRPr sz="1000">
                <a:solidFill>
                  <a:srgbClr val="94A3B8"/>
                </a:solidFill>
                <a:latin typeface="Segoe UI"/>
              </a:defRPr>
            </a:pPr>
            <a:r>
              <a:t>• React 19 SPA with 142KB zero-drift CSS design token system (`ui/src/index.css`).</a:t>
            </a:r>
            <a:br/>
            <a:r>
              <a:t>• Real-time Monaco code diffing &amp; live execution log streaming.</a:t>
            </a:r>
            <a:br/>
            <a:r>
              <a:t>• Interactive SVG virtual organization chart and issue hierarchy trees.</a:t>
            </a:r>
            <a:br/>
            <a:r>
              <a:t>• Bi-directional WebSockets (`server/src/realtime/live-events-ws.ts`).</a:t>
            </a:r>
          </a:p>
        </p:txBody>
      </p:sp>
      <p:sp>
        <p:nvSpPr>
          <p:cNvPr id="9" name="Rounded Rectangle 8"/>
          <p:cNvSpPr/>
          <p:nvPr/>
        </p:nvSpPr>
        <p:spPr>
          <a:xfrm>
            <a:off x="4379976" y="1645920"/>
            <a:ext cx="3429000" cy="4572000"/>
          </a:xfrm>
          <a:prstGeom prst="roundRect">
            <a:avLst/>
          </a:prstGeom>
          <a:solidFill>
            <a:srgbClr val="131B2E"/>
          </a:solidFill>
          <a:ln w="12700">
            <a:solidFill>
              <a:srgbClr val="2430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62856" y="1828800"/>
            <a:ext cx="3063240" cy="4114800"/>
          </a:xfrm>
          <a:prstGeom prst="rect">
            <a:avLst/>
          </a:prstGeom>
          <a:noFill/>
        </p:spPr>
        <p:txBody>
          <a:bodyPr wrap="square">
            <a:spAutoFit/>
          </a:bodyPr>
          <a:lstStyle/>
          <a:p>
            <a:pPr>
              <a:defRPr sz="1000" b="1">
                <a:solidFill>
                  <a:srgbClr val="06B6D4"/>
                </a:solidFill>
                <a:latin typeface="Consolas"/>
              </a:defRPr>
            </a:pPr>
            <a:r>
              <a:t>02 // CORE CONTROL-PLANE LAYER</a:t>
            </a:r>
          </a:p>
          <a:p>
            <a:pPr>
              <a:spcBef>
                <a:spcPts val="400"/>
              </a:spcBef>
              <a:defRPr sz="1400" b="1">
                <a:solidFill>
                  <a:srgbClr val="F8FAFC"/>
                </a:solidFill>
                <a:latin typeface="Trebuchet MS"/>
              </a:defRPr>
            </a:pPr>
            <a:r>
              <a:t>Node/Express &amp; Heartbeat Scheduler</a:t>
            </a:r>
          </a:p>
          <a:p>
            <a:pPr>
              <a:spcBef>
                <a:spcPts val="1000"/>
              </a:spcBef>
              <a:defRPr sz="1000">
                <a:solidFill>
                  <a:srgbClr val="94A3B8"/>
                </a:solidFill>
                <a:latin typeface="Segoe UI"/>
              </a:defRPr>
            </a:pPr>
            <a:r>
              <a:t>• 29,391-line autonomous heartbeat scheduler (`services/heartbeat.ts`).</a:t>
            </a:r>
            <a:br/>
            <a:r>
              <a:t>• Dynamic turn allocation, lock settlement, and watchdog timeouts.</a:t>
            </a:r>
            <a:br/>
            <a:r>
              <a:t>• Pluggable AI provider gateway (13 adapters for Claude, Codex, Gemini, Ollama).</a:t>
            </a:r>
            <a:br/>
            <a:r>
              <a:t>• Native Anthropic Model Context Protocol (MCP) server &amp; client gateway.</a:t>
            </a:r>
          </a:p>
        </p:txBody>
      </p:sp>
      <p:sp>
        <p:nvSpPr>
          <p:cNvPr id="11" name="Rounded Rectangle 10"/>
          <p:cNvSpPr/>
          <p:nvPr/>
        </p:nvSpPr>
        <p:spPr>
          <a:xfrm>
            <a:off x="8028432" y="1645920"/>
            <a:ext cx="3429000" cy="4572000"/>
          </a:xfrm>
          <a:prstGeom prst="roundRect">
            <a:avLst/>
          </a:prstGeom>
          <a:solidFill>
            <a:srgbClr val="131B2E"/>
          </a:solidFill>
          <a:ln w="12700">
            <a:solidFill>
              <a:srgbClr val="2430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11312" y="1828800"/>
            <a:ext cx="3063240" cy="4114800"/>
          </a:xfrm>
          <a:prstGeom prst="rect">
            <a:avLst/>
          </a:prstGeom>
          <a:noFill/>
        </p:spPr>
        <p:txBody>
          <a:bodyPr wrap="square">
            <a:spAutoFit/>
          </a:bodyPr>
          <a:lstStyle/>
          <a:p>
            <a:pPr>
              <a:defRPr sz="1000" b="1">
                <a:solidFill>
                  <a:srgbClr val="06B6D4"/>
                </a:solidFill>
                <a:latin typeface="Consolas"/>
              </a:defRPr>
            </a:pPr>
            <a:r>
              <a:t>03 // DATA &amp; ISOLATION LAYER</a:t>
            </a:r>
          </a:p>
          <a:p>
            <a:pPr>
              <a:spcBef>
                <a:spcPts val="400"/>
              </a:spcBef>
              <a:defRPr sz="1400" b="1">
                <a:solidFill>
                  <a:srgbClr val="F8FAFC"/>
                </a:solidFill>
                <a:latin typeface="Trebuchet MS"/>
              </a:defRPr>
            </a:pPr>
            <a:r>
              <a:t>137 Schema Tables &amp; Git Worktrees</a:t>
            </a:r>
          </a:p>
          <a:p>
            <a:pPr>
              <a:spcBef>
                <a:spcPts val="1000"/>
              </a:spcBef>
              <a:defRPr sz="1000">
                <a:solidFill>
                  <a:srgbClr val="94A3B8"/>
                </a:solidFill>
                <a:latin typeface="Segoe UI"/>
              </a:defRPr>
            </a:pPr>
            <a:r>
              <a:t>• Embedded PostgreSQL runtime: zero external Docker dependencies needed.</a:t>
            </a:r>
            <a:br/>
            <a:r>
              <a:t>• 137 typed Drizzle ORM relational entity tables (`packages/db/src/schema/*.ts`).</a:t>
            </a:r>
            <a:br/>
            <a:r>
              <a:t>• Isolated Git worktree execution workspaces per task (`services/execution-workspaces.ts`).</a:t>
            </a:r>
            <a:br/>
            <a:r>
              <a:t>• AES-256-GCM encrypted secrets vault with per-agent credential scoping.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06B6D4"/>
                </a:solidFill>
                <a:latin typeface="Consolas"/>
              </a:defRPr>
            </a:pPr>
            <a:r>
              <a:t>GEETORUSAI // PART 2: TECHNICAL DEEP-DIVE // ORCHESTRATION ENGINE</a:t>
            </a:r>
          </a:p>
        </p:txBody>
      </p:sp>
      <p:sp>
        <p:nvSpPr>
          <p:cNvPr id="4" name="TextBox 3"/>
          <p:cNvSpPr txBox="1"/>
          <p:nvPr/>
        </p:nvSpPr>
        <p:spPr>
          <a:xfrm>
            <a:off x="9601200" y="365760"/>
            <a:ext cx="1828800" cy="320040"/>
          </a:xfrm>
          <a:prstGeom prst="rect">
            <a:avLst/>
          </a:prstGeom>
          <a:noFill/>
        </p:spPr>
        <p:txBody>
          <a:bodyPr wrap="none" lIns="0" tIns="0" rIns="0" bIns="0">
            <a:spAutoFit/>
          </a:bodyPr>
          <a:lstStyle/>
          <a:p>
            <a:pPr algn="r">
              <a:defRPr sz="1000">
                <a:solidFill>
                  <a:srgbClr val="94A3B8"/>
                </a:solidFill>
                <a:latin typeface="Consolas"/>
              </a:defRPr>
            </a:pPr>
            <a:r>
              <a:t>[ 10 / 15 ]</a:t>
            </a:r>
          </a:p>
        </p:txBody>
      </p:sp>
      <p:sp>
        <p:nvSpPr>
          <p:cNvPr id="5" name="TextBox 4"/>
          <p:cNvSpPr txBox="1"/>
          <p:nvPr/>
        </p:nvSpPr>
        <p:spPr>
          <a:xfrm>
            <a:off x="731520" y="685800"/>
            <a:ext cx="10698480" cy="502920"/>
          </a:xfrm>
          <a:prstGeom prst="rect">
            <a:avLst/>
          </a:prstGeom>
          <a:noFill/>
        </p:spPr>
        <p:txBody>
          <a:bodyPr wrap="square" lIns="0" tIns="0" rIns="0" bIns="0">
            <a:spAutoFit/>
          </a:bodyPr>
          <a:lstStyle/>
          <a:p>
            <a:pPr>
              <a:defRPr sz="2200" b="1">
                <a:solidFill>
                  <a:srgbClr val="F8FAFC"/>
                </a:solidFill>
                <a:latin typeface="Trebuchet MS"/>
              </a:defRPr>
            </a:pPr>
            <a:r>
              <a:t>The Heartbeat Concurrency Engine &amp; Turn Allocation Loop</a:t>
            </a:r>
          </a:p>
        </p:txBody>
      </p:sp>
      <p:sp>
        <p:nvSpPr>
          <p:cNvPr id="6" name="TextBox 5"/>
          <p:cNvSpPr txBox="1"/>
          <p:nvPr/>
        </p:nvSpPr>
        <p:spPr>
          <a:xfrm>
            <a:off x="731520" y="1188720"/>
            <a:ext cx="10698480" cy="320040"/>
          </a:xfrm>
          <a:prstGeom prst="rect">
            <a:avLst/>
          </a:prstGeom>
          <a:noFill/>
        </p:spPr>
        <p:txBody>
          <a:bodyPr wrap="square" lIns="0" tIns="0" rIns="0" bIns="0">
            <a:spAutoFit/>
          </a:bodyPr>
          <a:lstStyle/>
          <a:p>
            <a:pPr>
              <a:defRPr sz="1200">
                <a:solidFill>
                  <a:srgbClr val="94A3B8"/>
                </a:solidFill>
                <a:latin typeface="Segoe UI"/>
              </a:defRPr>
            </a:pPr>
            <a:r>
              <a:t>Audited code evidence: server/src/services/heartbeat.ts (29,391 lines)</a:t>
            </a:r>
          </a:p>
        </p:txBody>
      </p:sp>
      <p:sp>
        <p:nvSpPr>
          <p:cNvPr id="7" name="Rounded Rectangle 6"/>
          <p:cNvSpPr/>
          <p:nvPr/>
        </p:nvSpPr>
        <p:spPr>
          <a:xfrm>
            <a:off x="731520" y="1645920"/>
            <a:ext cx="5212080" cy="4572000"/>
          </a:xfrm>
          <a:prstGeom prst="roundRect">
            <a:avLst/>
          </a:prstGeom>
          <a:solidFill>
            <a:srgbClr val="131B2E"/>
          </a:solidFill>
          <a:ln w="12700">
            <a:solidFill>
              <a:srgbClr val="2430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83080"/>
            <a:ext cx="4846320" cy="320040"/>
          </a:xfrm>
          <a:prstGeom prst="rect">
            <a:avLst/>
          </a:prstGeom>
          <a:noFill/>
        </p:spPr>
        <p:txBody>
          <a:bodyPr wrap="square" lIns="0" tIns="0" rIns="0" bIns="0">
            <a:spAutoFit/>
          </a:bodyPr>
          <a:lstStyle/>
          <a:p>
            <a:pPr>
              <a:defRPr sz="1100" b="1">
                <a:solidFill>
                  <a:srgbClr val="06B6D4"/>
                </a:solidFill>
                <a:latin typeface="Consolas"/>
              </a:defRPr>
            </a:pPr>
            <a:r>
              <a:t>HEARTBEAT EXECUTION LIFECYCLE</a:t>
            </a:r>
          </a:p>
        </p:txBody>
      </p:sp>
      <p:sp>
        <p:nvSpPr>
          <p:cNvPr id="9" name="TextBox 8"/>
          <p:cNvSpPr txBox="1"/>
          <p:nvPr/>
        </p:nvSpPr>
        <p:spPr>
          <a:xfrm>
            <a:off x="914400" y="2011680"/>
            <a:ext cx="4846320" cy="4023360"/>
          </a:xfrm>
          <a:prstGeom prst="rect">
            <a:avLst/>
          </a:prstGeom>
          <a:noFill/>
        </p:spPr>
        <p:txBody>
          <a:bodyPr wrap="square">
            <a:spAutoFit/>
          </a:bodyPr>
          <a:lstStyle/>
          <a:p>
            <a:pPr>
              <a:defRPr sz="1050" b="1">
                <a:solidFill>
                  <a:srgbClr val="F59E0B"/>
                </a:solidFill>
                <a:latin typeface="Trebuchet MS"/>
              </a:defRPr>
            </a:pPr>
            <a:r>
              <a:t>Step 1 // Wake &amp; Issue Checkout</a:t>
            </a:r>
          </a:p>
          <a:p>
            <a:pPr>
              <a:spcBef>
                <a:spcPts val="200"/>
              </a:spcBef>
              <a:defRPr sz="950">
                <a:solidFill>
                  <a:srgbClr val="94A3B8"/>
                </a:solidFill>
                <a:latin typeface="Segoe UI"/>
              </a:defRPr>
            </a:pPr>
            <a:r>
              <a:t>Scheduler wakes on 15s intervals, queries active issues, checks company daily token budget, and claims available issues via PostgreSQL row locks.</a:t>
            </a:r>
          </a:p>
          <a:p>
            <a:pPr>
              <a:spcBef>
                <a:spcPts val="600"/>
              </a:spcBef>
              <a:defRPr sz="1050" b="1">
                <a:solidFill>
                  <a:srgbClr val="F59E0B"/>
                </a:solidFill>
                <a:latin typeface="Trebuchet MS"/>
              </a:defRPr>
            </a:pPr>
            <a:r>
              <a:t>Step 2 // Worktree &amp; Workspace Provisioning</a:t>
            </a:r>
          </a:p>
          <a:p>
            <a:pPr>
              <a:spcBef>
                <a:spcPts val="200"/>
              </a:spcBef>
              <a:defRPr sz="950">
                <a:solidFill>
                  <a:srgbClr val="94A3B8"/>
                </a:solidFill>
                <a:latin typeface="Segoe UI"/>
              </a:defRPr>
            </a:pPr>
            <a:r>
              <a:t>Clones a pristine Git worktree checkout on an isolated task branch, preventing unverified modifications to master.</a:t>
            </a:r>
          </a:p>
          <a:p>
            <a:pPr>
              <a:spcBef>
                <a:spcPts val="600"/>
              </a:spcBef>
              <a:defRPr sz="1050" b="1">
                <a:solidFill>
                  <a:srgbClr val="F59E0B"/>
                </a:solidFill>
                <a:latin typeface="Trebuchet MS"/>
              </a:defRPr>
            </a:pPr>
            <a:r>
              <a:t>Step 3 // ACP/ACPX Agent Dispatch</a:t>
            </a:r>
          </a:p>
          <a:p>
            <a:pPr>
              <a:spcBef>
                <a:spcPts val="200"/>
              </a:spcBef>
              <a:defRPr sz="950">
                <a:solidFill>
                  <a:srgbClr val="94A3B8"/>
                </a:solidFill>
                <a:latin typeface="Segoe UI"/>
              </a:defRPr>
            </a:pPr>
            <a:r>
              <a:t>Initiates agent execution sidecar over Agent Client Protocol, streaming real-time prompt thoughts and tool invocations.</a:t>
            </a:r>
          </a:p>
          <a:p>
            <a:pPr>
              <a:spcBef>
                <a:spcPts val="600"/>
              </a:spcBef>
              <a:defRPr sz="1050" b="1">
                <a:solidFill>
                  <a:srgbClr val="F59E0B"/>
                </a:solidFill>
                <a:latin typeface="Trebuchet MS"/>
              </a:defRPr>
            </a:pPr>
            <a:r>
              <a:t>Step 4 // Tool Policy &amp; Amber Gate Check</a:t>
            </a:r>
          </a:p>
          <a:p>
            <a:pPr>
              <a:spcBef>
                <a:spcPts val="200"/>
              </a:spcBef>
              <a:defRPr sz="950">
                <a:solidFill>
                  <a:srgbClr val="94A3B8"/>
                </a:solidFill>
                <a:latin typeface="Segoe UI"/>
              </a:defRPr>
            </a:pPr>
            <a:r>
              <a:t>Inspects tool calls against security policies. High-risk actions halt execution pending human confirmation.</a:t>
            </a:r>
          </a:p>
          <a:p>
            <a:pPr>
              <a:spcBef>
                <a:spcPts val="600"/>
              </a:spcBef>
              <a:defRPr sz="1050" b="1">
                <a:solidFill>
                  <a:srgbClr val="F59E0B"/>
                </a:solidFill>
                <a:latin typeface="Trebuchet MS"/>
              </a:defRPr>
            </a:pPr>
            <a:r>
              <a:t>Step 5 // Turn Settlement &amp; Lock Release</a:t>
            </a:r>
          </a:p>
          <a:p>
            <a:pPr>
              <a:spcBef>
                <a:spcPts val="200"/>
              </a:spcBef>
              <a:defRPr sz="950">
                <a:solidFill>
                  <a:srgbClr val="94A3B8"/>
                </a:solidFill>
                <a:latin typeface="Segoe UI"/>
              </a:defRPr>
            </a:pPr>
            <a:r>
              <a:t>Records token consumption in costs ledger, settles execution status, and streams live events to WebSockets.</a:t>
            </a:r>
          </a:p>
        </p:txBody>
      </p:sp>
      <p:sp>
        <p:nvSpPr>
          <p:cNvPr id="10" name="Rounded Rectangle 9"/>
          <p:cNvSpPr/>
          <p:nvPr/>
        </p:nvSpPr>
        <p:spPr>
          <a:xfrm>
            <a:off x="6126480" y="1645920"/>
            <a:ext cx="5333695" cy="4572000"/>
          </a:xfrm>
          <a:prstGeom prst="roundRect">
            <a:avLst/>
          </a:prstGeom>
          <a:solidFill>
            <a:srgbClr val="131B2E"/>
          </a:solidFill>
          <a:ln w="12700">
            <a:solidFill>
              <a:srgbClr val="2430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783080"/>
            <a:ext cx="4967935" cy="320040"/>
          </a:xfrm>
          <a:prstGeom prst="rect">
            <a:avLst/>
          </a:prstGeom>
          <a:noFill/>
        </p:spPr>
        <p:txBody>
          <a:bodyPr wrap="square" lIns="0" tIns="0" rIns="0" bIns="0">
            <a:spAutoFit/>
          </a:bodyPr>
          <a:lstStyle/>
          <a:p>
            <a:pPr>
              <a:defRPr sz="1100" b="1">
                <a:solidFill>
                  <a:srgbClr val="06B6D4"/>
                </a:solidFill>
                <a:latin typeface="Consolas"/>
              </a:defRPr>
            </a:pPr>
            <a:r>
              <a:t>CONCURRENCY, TIMEOUTS &amp; RESILIENCE</a:t>
            </a:r>
          </a:p>
        </p:txBody>
      </p:sp>
      <p:sp>
        <p:nvSpPr>
          <p:cNvPr id="12" name="TextBox 11"/>
          <p:cNvSpPr txBox="1"/>
          <p:nvPr/>
        </p:nvSpPr>
        <p:spPr>
          <a:xfrm>
            <a:off x="6309360" y="2011680"/>
            <a:ext cx="4937760" cy="4023360"/>
          </a:xfrm>
          <a:prstGeom prst="rect">
            <a:avLst/>
          </a:prstGeom>
          <a:noFill/>
        </p:spPr>
        <p:txBody>
          <a:bodyPr wrap="square">
            <a:spAutoFit/>
          </a:bodyPr>
          <a:lstStyle/>
          <a:p>
            <a:pPr>
              <a:defRPr sz="1100" b="1">
                <a:solidFill>
                  <a:srgbClr val="06B6D4"/>
                </a:solidFill>
                <a:latin typeface="Trebuchet MS"/>
              </a:defRPr>
            </a:pPr>
            <a:r>
              <a:t>★ Orphaned Lock Settlement</a:t>
            </a:r>
          </a:p>
          <a:p>
            <a:pPr>
              <a:spcBef>
                <a:spcPts val="200"/>
              </a:spcBef>
              <a:defRPr sz="950">
                <a:solidFill>
                  <a:srgbClr val="94A3B8"/>
                </a:solidFill>
                <a:latin typeface="Segoe UI"/>
              </a:defRPr>
            </a:pPr>
            <a:r>
              <a:t>If a server crashes or an agent hangs, the watchdog detects stale timestamps (&gt;300s) and automatically settles locks without human intervention.</a:t>
            </a:r>
          </a:p>
          <a:p>
            <a:pPr>
              <a:spcBef>
                <a:spcPts val="800"/>
              </a:spcBef>
              <a:defRPr sz="1100" b="1">
                <a:solidFill>
                  <a:srgbClr val="06B6D4"/>
                </a:solidFill>
                <a:latin typeface="Trebuchet MS"/>
              </a:defRPr>
            </a:pPr>
            <a:r>
              <a:t>★ Watchdog Execution Timeouts</a:t>
            </a:r>
          </a:p>
          <a:p>
            <a:pPr>
              <a:spcBef>
                <a:spcPts val="200"/>
              </a:spcBef>
              <a:defRPr sz="950">
                <a:solidFill>
                  <a:srgbClr val="94A3B8"/>
                </a:solidFill>
                <a:latin typeface="Segoe UI"/>
              </a:defRPr>
            </a:pPr>
            <a:r>
              <a:t>Enforces strict wall-clock execution deadlines per turn (e.g. 180s) to kill zombie subprocesses and prevent infinite recursion.</a:t>
            </a:r>
          </a:p>
          <a:p>
            <a:pPr>
              <a:spcBef>
                <a:spcPts val="800"/>
              </a:spcBef>
              <a:defRPr sz="1100" b="1">
                <a:solidFill>
                  <a:srgbClr val="06B6D4"/>
                </a:solidFill>
                <a:latin typeface="Trebuchet MS"/>
              </a:defRPr>
            </a:pPr>
            <a:r>
              <a:t>★ Database Row-Level Locking</a:t>
            </a:r>
          </a:p>
          <a:p>
            <a:pPr>
              <a:spcBef>
                <a:spcPts val="200"/>
              </a:spcBef>
              <a:defRPr sz="950">
                <a:solidFill>
                  <a:srgbClr val="94A3B8"/>
                </a:solidFill>
                <a:latin typeface="Segoe UI"/>
              </a:defRPr>
            </a:pPr>
            <a:r>
              <a:t>Uses `SELECT ... FOR UPDATE SKIP LOCKED` semantics in PostgreSQL to enable horizontal multi-worker dispatch without race conditions.</a:t>
            </a:r>
          </a:p>
          <a:p>
            <a:pPr>
              <a:spcBef>
                <a:spcPts val="800"/>
              </a:spcBef>
              <a:defRPr sz="1100" b="1">
                <a:solidFill>
                  <a:srgbClr val="06B6D4"/>
                </a:solidFill>
                <a:latin typeface="Trebuchet MS"/>
              </a:defRPr>
            </a:pPr>
            <a:r>
              <a:t>★ Live Event Streaming Bus</a:t>
            </a:r>
          </a:p>
          <a:p>
            <a:pPr>
              <a:spcBef>
                <a:spcPts val="200"/>
              </a:spcBef>
              <a:defRPr sz="950">
                <a:solidFill>
                  <a:srgbClr val="94A3B8"/>
                </a:solidFill>
                <a:latin typeface="Segoe UI"/>
              </a:defRPr>
            </a:pPr>
            <a:r>
              <a:t>All state transitions broadcast across WebSockets to Monaco editors, SVG org charts, and external chat channels simultaneously.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06B6D4"/>
                </a:solidFill>
                <a:latin typeface="Consolas"/>
              </a:defRPr>
            </a:pPr>
            <a:r>
              <a:t>GEETORUSAI // PART 2: TECHNICAL DEEP-DIVE // GOVERNANCE &amp; MCP</a:t>
            </a:r>
          </a:p>
        </p:txBody>
      </p:sp>
      <p:sp>
        <p:nvSpPr>
          <p:cNvPr id="4" name="TextBox 3"/>
          <p:cNvSpPr txBox="1"/>
          <p:nvPr/>
        </p:nvSpPr>
        <p:spPr>
          <a:xfrm>
            <a:off x="9601200" y="365760"/>
            <a:ext cx="1828800" cy="320040"/>
          </a:xfrm>
          <a:prstGeom prst="rect">
            <a:avLst/>
          </a:prstGeom>
          <a:noFill/>
        </p:spPr>
        <p:txBody>
          <a:bodyPr wrap="none" lIns="0" tIns="0" rIns="0" bIns="0">
            <a:spAutoFit/>
          </a:bodyPr>
          <a:lstStyle/>
          <a:p>
            <a:pPr algn="r">
              <a:defRPr sz="1000">
                <a:solidFill>
                  <a:srgbClr val="94A3B8"/>
                </a:solidFill>
                <a:latin typeface="Consolas"/>
              </a:defRPr>
            </a:pPr>
            <a:r>
              <a:t>[ 11 / 15 ]</a:t>
            </a:r>
          </a:p>
        </p:txBody>
      </p:sp>
      <p:sp>
        <p:nvSpPr>
          <p:cNvPr id="5" name="TextBox 4"/>
          <p:cNvSpPr txBox="1"/>
          <p:nvPr/>
        </p:nvSpPr>
        <p:spPr>
          <a:xfrm>
            <a:off x="731520" y="685800"/>
            <a:ext cx="10698480" cy="502920"/>
          </a:xfrm>
          <a:prstGeom prst="rect">
            <a:avLst/>
          </a:prstGeom>
          <a:noFill/>
        </p:spPr>
        <p:txBody>
          <a:bodyPr wrap="square" lIns="0" tIns="0" rIns="0" bIns="0">
            <a:spAutoFit/>
          </a:bodyPr>
          <a:lstStyle/>
          <a:p>
            <a:pPr>
              <a:defRPr sz="2200" b="1">
                <a:solidFill>
                  <a:srgbClr val="F8FAFC"/>
                </a:solidFill>
                <a:latin typeface="Trebuchet MS"/>
              </a:defRPr>
            </a:pPr>
            <a:r>
              <a:t>Model Context Protocol Gateway &amp; Cryptographic Amber Approvals</a:t>
            </a:r>
          </a:p>
        </p:txBody>
      </p:sp>
      <p:sp>
        <p:nvSpPr>
          <p:cNvPr id="6" name="TextBox 5"/>
          <p:cNvSpPr txBox="1"/>
          <p:nvPr/>
        </p:nvSpPr>
        <p:spPr>
          <a:xfrm>
            <a:off x="731520" y="1188720"/>
            <a:ext cx="10698480" cy="320040"/>
          </a:xfrm>
          <a:prstGeom prst="rect">
            <a:avLst/>
          </a:prstGeom>
          <a:noFill/>
        </p:spPr>
        <p:txBody>
          <a:bodyPr wrap="square" lIns="0" tIns="0" rIns="0" bIns="0">
            <a:spAutoFit/>
          </a:bodyPr>
          <a:lstStyle/>
          <a:p>
            <a:pPr>
              <a:defRPr sz="1200">
                <a:solidFill>
                  <a:srgbClr val="94A3B8"/>
                </a:solidFill>
                <a:latin typeface="Segoe UI"/>
              </a:defRPr>
            </a:pPr>
            <a:r>
              <a:t>Audited code evidence: server/src/services/tool-gateway.ts &amp; decision-signing.ts</a:t>
            </a:r>
          </a:p>
        </p:txBody>
      </p:sp>
      <p:sp>
        <p:nvSpPr>
          <p:cNvPr id="7" name="Rounded Rectangle 6"/>
          <p:cNvSpPr/>
          <p:nvPr/>
        </p:nvSpPr>
        <p:spPr>
          <a:xfrm>
            <a:off x="731520" y="1645920"/>
            <a:ext cx="5212080" cy="4572000"/>
          </a:xfrm>
          <a:prstGeom prst="roundRect">
            <a:avLst/>
          </a:prstGeom>
          <a:solidFill>
            <a:srgbClr val="131B2E"/>
          </a:solidFill>
          <a:ln w="12700">
            <a:solidFill>
              <a:srgbClr val="2430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83080"/>
            <a:ext cx="4846320" cy="320040"/>
          </a:xfrm>
          <a:prstGeom prst="rect">
            <a:avLst/>
          </a:prstGeom>
          <a:noFill/>
        </p:spPr>
        <p:txBody>
          <a:bodyPr wrap="square" lIns="0" tIns="0" rIns="0" bIns="0">
            <a:spAutoFit/>
          </a:bodyPr>
          <a:lstStyle/>
          <a:p>
            <a:pPr>
              <a:defRPr sz="1100" b="1">
                <a:solidFill>
                  <a:srgbClr val="06B6D4"/>
                </a:solidFill>
                <a:latin typeface="Consolas"/>
              </a:defRPr>
            </a:pPr>
            <a:r>
              <a:t>ANTHROPIC MCP TOOL GATEWAY</a:t>
            </a:r>
          </a:p>
        </p:txBody>
      </p:sp>
      <p:sp>
        <p:nvSpPr>
          <p:cNvPr id="9" name="TextBox 8"/>
          <p:cNvSpPr txBox="1"/>
          <p:nvPr/>
        </p:nvSpPr>
        <p:spPr>
          <a:xfrm>
            <a:off x="914400" y="2011680"/>
            <a:ext cx="4846320" cy="4023360"/>
          </a:xfrm>
          <a:prstGeom prst="rect">
            <a:avLst/>
          </a:prstGeom>
          <a:noFill/>
        </p:spPr>
        <p:txBody>
          <a:bodyPr wrap="square">
            <a:spAutoFit/>
          </a:bodyPr>
          <a:lstStyle/>
          <a:p>
            <a:pPr>
              <a:defRPr sz="1100" b="1">
                <a:solidFill>
                  <a:srgbClr val="06B6D4"/>
                </a:solidFill>
                <a:latin typeface="Trebuchet MS"/>
              </a:defRPr>
            </a:pPr>
            <a:r>
              <a:t>● Native Model Context Protocol</a:t>
            </a:r>
          </a:p>
          <a:p>
            <a:pPr>
              <a:spcBef>
                <a:spcPts val="200"/>
              </a:spcBef>
              <a:defRPr sz="950">
                <a:solidFill>
                  <a:srgbClr val="94A3B8"/>
                </a:solidFill>
                <a:latin typeface="Segoe UI"/>
              </a:defRPr>
            </a:pPr>
            <a:r>
              <a:t>Standardized on Anthropic's open MCP specification. Exposes database, filesystem, git, and web search tools via JSON-RPC stdio.</a:t>
            </a:r>
          </a:p>
          <a:p>
            <a:pPr>
              <a:spcBef>
                <a:spcPts val="800"/>
              </a:spcBef>
              <a:defRPr sz="1100" b="1">
                <a:solidFill>
                  <a:srgbClr val="06B6D4"/>
                </a:solidFill>
                <a:latin typeface="Trebuchet MS"/>
              </a:defRPr>
            </a:pPr>
            <a:r>
              <a:t>● RBAC Tool Permission Matrix</a:t>
            </a:r>
          </a:p>
          <a:p>
            <a:pPr>
              <a:spcBef>
                <a:spcPts val="200"/>
              </a:spcBef>
              <a:defRPr sz="950">
                <a:solidFill>
                  <a:srgbClr val="94A3B8"/>
                </a:solidFill>
                <a:latin typeface="Segoe UI"/>
              </a:defRPr>
            </a:pPr>
            <a:r>
              <a:t>Tools are partitioned across permission tiers. An intern agent cannot invoke production deployment tools; a QA agent cannot merge pull requests.</a:t>
            </a:r>
          </a:p>
          <a:p>
            <a:pPr>
              <a:spcBef>
                <a:spcPts val="800"/>
              </a:spcBef>
              <a:defRPr sz="1100" b="1">
                <a:solidFill>
                  <a:srgbClr val="06B6D4"/>
                </a:solidFill>
                <a:latin typeface="Trebuchet MS"/>
              </a:defRPr>
            </a:pPr>
            <a:r>
              <a:t>● Automatic Secret Redaction</a:t>
            </a:r>
          </a:p>
          <a:p>
            <a:pPr>
              <a:spcBef>
                <a:spcPts val="200"/>
              </a:spcBef>
              <a:defRPr sz="950">
                <a:solidFill>
                  <a:srgbClr val="94A3B8"/>
                </a:solidFill>
                <a:latin typeface="Segoe UI"/>
              </a:defRPr>
            </a:pPr>
            <a:r>
              <a:t>All tool arguments and returned stdio payloads pass through a regex and entropy sanitizer to scrub API keys and passwords.</a:t>
            </a:r>
          </a:p>
          <a:p>
            <a:pPr>
              <a:spcBef>
                <a:spcPts val="800"/>
              </a:spcBef>
              <a:defRPr sz="1100" b="1">
                <a:solidFill>
                  <a:srgbClr val="06B6D4"/>
                </a:solidFill>
                <a:latin typeface="Trebuchet MS"/>
              </a:defRPr>
            </a:pPr>
            <a:r>
              <a:t>● Pluggable Custom MCP Servers</a:t>
            </a:r>
          </a:p>
          <a:p>
            <a:pPr>
              <a:spcBef>
                <a:spcPts val="200"/>
              </a:spcBef>
              <a:defRPr sz="950">
                <a:solidFill>
                  <a:srgbClr val="94A3B8"/>
                </a:solidFill>
                <a:latin typeface="Segoe UI"/>
              </a:defRPr>
            </a:pPr>
            <a:r>
              <a:t>Enterprises can plug in custom internal MCP servers (Jira, Datadog, Snowflake) by adding a single config block in `companies.sh`.</a:t>
            </a:r>
          </a:p>
        </p:txBody>
      </p:sp>
      <p:sp>
        <p:nvSpPr>
          <p:cNvPr id="10" name="Rounded Rectangle 9"/>
          <p:cNvSpPr/>
          <p:nvPr/>
        </p:nvSpPr>
        <p:spPr>
          <a:xfrm>
            <a:off x="6126480" y="1645920"/>
            <a:ext cx="5333695" cy="4572000"/>
          </a:xfrm>
          <a:prstGeom prst="roundRect">
            <a:avLst/>
          </a:prstGeom>
          <a:solidFill>
            <a:srgbClr val="131B2E"/>
          </a:solidFill>
          <a:ln w="12700">
            <a:solidFill>
              <a:srgbClr val="2430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783080"/>
            <a:ext cx="4967935" cy="320040"/>
          </a:xfrm>
          <a:prstGeom prst="rect">
            <a:avLst/>
          </a:prstGeom>
          <a:noFill/>
        </p:spPr>
        <p:txBody>
          <a:bodyPr wrap="square" lIns="0" tIns="0" rIns="0" bIns="0">
            <a:spAutoFit/>
          </a:bodyPr>
          <a:lstStyle/>
          <a:p>
            <a:pPr>
              <a:defRPr sz="1100" b="1">
                <a:solidFill>
                  <a:srgbClr val="06B6D4"/>
                </a:solidFill>
                <a:latin typeface="Consolas"/>
              </a:defRPr>
            </a:pPr>
            <a:r>
              <a:t>AMBER GATES &amp; HMAC DECISION SIGNING</a:t>
            </a:r>
          </a:p>
        </p:txBody>
      </p:sp>
      <p:sp>
        <p:nvSpPr>
          <p:cNvPr id="12" name="TextBox 11"/>
          <p:cNvSpPr txBox="1"/>
          <p:nvPr/>
        </p:nvSpPr>
        <p:spPr>
          <a:xfrm>
            <a:off x="6309360" y="2011680"/>
            <a:ext cx="4937760" cy="4023360"/>
          </a:xfrm>
          <a:prstGeom prst="rect">
            <a:avLst/>
          </a:prstGeom>
          <a:noFill/>
        </p:spPr>
        <p:txBody>
          <a:bodyPr wrap="square">
            <a:spAutoFit/>
          </a:bodyPr>
          <a:lstStyle/>
          <a:p>
            <a:pPr>
              <a:defRPr sz="1100" b="1">
                <a:solidFill>
                  <a:srgbClr val="F59E0B"/>
                </a:solidFill>
                <a:latin typeface="Trebuchet MS"/>
              </a:defRPr>
            </a:pPr>
            <a:r>
              <a:t>★ Amber Gate Approval Engine</a:t>
            </a:r>
          </a:p>
          <a:p>
            <a:pPr>
              <a:spcBef>
                <a:spcPts val="200"/>
              </a:spcBef>
              <a:defRPr sz="950">
                <a:solidFill>
                  <a:srgbClr val="94A3B8"/>
                </a:solidFill>
                <a:latin typeface="Segoe UI"/>
              </a:defRPr>
            </a:pPr>
            <a:r>
              <a:t>When an agent attempts a sensitive operation (e.g. `rm -rf`, `DROP TABLE`, `git push --force`), the turn pauses instantly. A notification appears in the web UI and Slack.</a:t>
            </a:r>
          </a:p>
          <a:p>
            <a:pPr>
              <a:spcBef>
                <a:spcPts val="800"/>
              </a:spcBef>
              <a:defRPr sz="1100" b="1">
                <a:solidFill>
                  <a:srgbClr val="F59E0B"/>
                </a:solidFill>
                <a:latin typeface="Trebuchet MS"/>
              </a:defRPr>
            </a:pPr>
            <a:r>
              <a:t>★ Interactive Operator Modal</a:t>
            </a:r>
          </a:p>
          <a:p>
            <a:pPr>
              <a:spcBef>
                <a:spcPts val="200"/>
              </a:spcBef>
              <a:defRPr sz="950">
                <a:solidFill>
                  <a:srgbClr val="94A3B8"/>
                </a:solidFill>
                <a:latin typeface="Segoe UI"/>
              </a:defRPr>
            </a:pPr>
            <a:r>
              <a:t>Human operators can inspect full command diffs, approve, reject with feedback, or edit tool arguments in-flight (`server/src/routes/approvals.ts`).</a:t>
            </a:r>
          </a:p>
          <a:p>
            <a:pPr>
              <a:spcBef>
                <a:spcPts val="800"/>
              </a:spcBef>
              <a:defRPr sz="1100" b="1">
                <a:solidFill>
                  <a:srgbClr val="F59E0B"/>
                </a:solidFill>
                <a:latin typeface="Trebuchet MS"/>
              </a:defRPr>
            </a:pPr>
            <a:r>
              <a:t>★ HMAC-SHA256 Cryptographic Signing</a:t>
            </a:r>
          </a:p>
          <a:p>
            <a:pPr>
              <a:spcBef>
                <a:spcPts val="200"/>
              </a:spcBef>
              <a:defRPr sz="950">
                <a:solidFill>
                  <a:srgbClr val="94A3B8"/>
                </a:solidFill>
                <a:latin typeface="Segoe UI"/>
              </a:defRPr>
            </a:pPr>
            <a:r>
              <a:t>Every approved decision generates an HMAC-SHA256 signature combining the task ID, operator ID, timestamp, and payload hash.</a:t>
            </a:r>
          </a:p>
          <a:p>
            <a:pPr>
              <a:spcBef>
                <a:spcPts val="800"/>
              </a:spcBef>
              <a:defRPr sz="1100" b="1">
                <a:solidFill>
                  <a:srgbClr val="F59E0B"/>
                </a:solidFill>
                <a:latin typeface="Trebuchet MS"/>
              </a:defRPr>
            </a:pPr>
            <a:r>
              <a:t>★ Tamper-Proof Audit Ledger</a:t>
            </a:r>
          </a:p>
          <a:p>
            <a:pPr>
              <a:spcBef>
                <a:spcPts val="200"/>
              </a:spcBef>
              <a:defRPr sz="950">
                <a:solidFill>
                  <a:srgbClr val="94A3B8"/>
                </a:solidFill>
                <a:latin typeface="Segoe UI"/>
              </a:defRPr>
            </a:pPr>
            <a:r>
              <a:t>Appends immutable records to `packages/db/src/schema/decision_logs.ts`. Any post-facto modification invalidates the cryptographic signature.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06B6D4"/>
                </a:solidFill>
                <a:latin typeface="Consolas"/>
              </a:defRPr>
            </a:pPr>
            <a:r>
              <a:t>GEETORUSAI // PART 2: TECHNICAL DEEP-DIVE // RELIABILITY &amp; BRIDGES</a:t>
            </a:r>
          </a:p>
        </p:txBody>
      </p:sp>
      <p:sp>
        <p:nvSpPr>
          <p:cNvPr id="4" name="TextBox 3"/>
          <p:cNvSpPr txBox="1"/>
          <p:nvPr/>
        </p:nvSpPr>
        <p:spPr>
          <a:xfrm>
            <a:off x="9601200" y="365760"/>
            <a:ext cx="1828800" cy="320040"/>
          </a:xfrm>
          <a:prstGeom prst="rect">
            <a:avLst/>
          </a:prstGeom>
          <a:noFill/>
        </p:spPr>
        <p:txBody>
          <a:bodyPr wrap="none" lIns="0" tIns="0" rIns="0" bIns="0">
            <a:spAutoFit/>
          </a:bodyPr>
          <a:lstStyle/>
          <a:p>
            <a:pPr algn="r">
              <a:defRPr sz="1000">
                <a:solidFill>
                  <a:srgbClr val="94A3B8"/>
                </a:solidFill>
                <a:latin typeface="Consolas"/>
              </a:defRPr>
            </a:pPr>
            <a:r>
              <a:t>[ 12 / 15 ]</a:t>
            </a:r>
          </a:p>
        </p:txBody>
      </p:sp>
      <p:sp>
        <p:nvSpPr>
          <p:cNvPr id="5" name="TextBox 4"/>
          <p:cNvSpPr txBox="1"/>
          <p:nvPr/>
        </p:nvSpPr>
        <p:spPr>
          <a:xfrm>
            <a:off x="731520" y="685800"/>
            <a:ext cx="10698480" cy="502920"/>
          </a:xfrm>
          <a:prstGeom prst="rect">
            <a:avLst/>
          </a:prstGeom>
          <a:noFill/>
        </p:spPr>
        <p:txBody>
          <a:bodyPr wrap="square" lIns="0" tIns="0" rIns="0" bIns="0">
            <a:spAutoFit/>
          </a:bodyPr>
          <a:lstStyle/>
          <a:p>
            <a:pPr>
              <a:defRPr sz="2200" b="1">
                <a:solidFill>
                  <a:srgbClr val="F8FAFC"/>
                </a:solidFill>
                <a:latin typeface="Trebuchet MS"/>
              </a:defRPr>
            </a:pPr>
            <a:r>
              <a:t>Token Budget Enforcer, 5-Channel Chat Bridge &amp; Pulse Self-Healing</a:t>
            </a:r>
          </a:p>
        </p:txBody>
      </p:sp>
      <p:sp>
        <p:nvSpPr>
          <p:cNvPr id="6" name="TextBox 5"/>
          <p:cNvSpPr txBox="1"/>
          <p:nvPr/>
        </p:nvSpPr>
        <p:spPr>
          <a:xfrm>
            <a:off x="731520" y="1188720"/>
            <a:ext cx="10698480" cy="320040"/>
          </a:xfrm>
          <a:prstGeom prst="rect">
            <a:avLst/>
          </a:prstGeom>
          <a:noFill/>
        </p:spPr>
        <p:txBody>
          <a:bodyPr wrap="square" lIns="0" tIns="0" rIns="0" bIns="0">
            <a:spAutoFit/>
          </a:bodyPr>
          <a:lstStyle/>
          <a:p>
            <a:pPr>
              <a:defRPr sz="1200">
                <a:solidFill>
                  <a:srgbClr val="94A3B8"/>
                </a:solidFill>
                <a:latin typeface="Segoe UI"/>
              </a:defRPr>
            </a:pPr>
            <a:r>
              <a:t>Audited code evidence: server/src/services/budgets.ts, chat-channels.ts, pulse-service.ts</a:t>
            </a:r>
          </a:p>
        </p:txBody>
      </p:sp>
      <p:sp>
        <p:nvSpPr>
          <p:cNvPr id="7" name="Rounded Rectangle 6"/>
          <p:cNvSpPr/>
          <p:nvPr/>
        </p:nvSpPr>
        <p:spPr>
          <a:xfrm>
            <a:off x="731520" y="1645920"/>
            <a:ext cx="3429000" cy="4572000"/>
          </a:xfrm>
          <a:prstGeom prst="roundRect">
            <a:avLst/>
          </a:prstGeom>
          <a:solidFill>
            <a:srgbClr val="131B2E"/>
          </a:solidFill>
          <a:ln w="12700">
            <a:solidFill>
              <a:srgbClr val="2430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3063240" cy="4114800"/>
          </a:xfrm>
          <a:prstGeom prst="rect">
            <a:avLst/>
          </a:prstGeom>
          <a:noFill/>
        </p:spPr>
        <p:txBody>
          <a:bodyPr wrap="square">
            <a:spAutoFit/>
          </a:bodyPr>
          <a:lstStyle/>
          <a:p>
            <a:pPr>
              <a:defRPr sz="1000" b="1">
                <a:solidFill>
                  <a:srgbClr val="10B981"/>
                </a:solidFill>
                <a:latin typeface="Consolas"/>
              </a:defRPr>
            </a:pPr>
            <a:r>
              <a:t>FINANCIAL TOKEN BUDGETING</a:t>
            </a:r>
          </a:p>
          <a:p>
            <a:pPr>
              <a:spcBef>
                <a:spcPts val="400"/>
              </a:spcBef>
              <a:defRPr sz="1400" b="1">
                <a:solidFill>
                  <a:srgbClr val="F8FAFC"/>
                </a:solidFill>
                <a:latin typeface="Trebuchet MS"/>
              </a:defRPr>
            </a:pPr>
            <a:r>
              <a:t>USD Hard Daily Caps</a:t>
            </a:r>
          </a:p>
          <a:p>
            <a:pPr>
              <a:spcBef>
                <a:spcPts val="800"/>
              </a:spcBef>
              <a:defRPr sz="950">
                <a:solidFill>
                  <a:srgbClr val="94A3B8"/>
                </a:solidFill>
                <a:latin typeface="Segoe UI"/>
              </a:defRPr>
            </a:pPr>
            <a:r>
              <a:t>• Real-time token metering across prompt, completion, and reasoning tokens.</a:t>
            </a:r>
            <a:br/>
            <a:r>
              <a:t>• Per-company daily budget enforcement (`services/budgets.ts`).</a:t>
            </a:r>
            <a:br/>
            <a:r>
              <a:t>• Automated circuit breaker pauses agent turns upon threshold saturation.</a:t>
            </a:r>
            <a:br/>
            <a:r>
              <a:t>• Live USD spend visualization on dashboard.</a:t>
            </a:r>
          </a:p>
        </p:txBody>
      </p:sp>
      <p:sp>
        <p:nvSpPr>
          <p:cNvPr id="9" name="Rounded Rectangle 8"/>
          <p:cNvSpPr/>
          <p:nvPr/>
        </p:nvSpPr>
        <p:spPr>
          <a:xfrm>
            <a:off x="4379976" y="1645920"/>
            <a:ext cx="3429000" cy="4572000"/>
          </a:xfrm>
          <a:prstGeom prst="roundRect">
            <a:avLst/>
          </a:prstGeom>
          <a:solidFill>
            <a:srgbClr val="131B2E"/>
          </a:solidFill>
          <a:ln w="12700">
            <a:solidFill>
              <a:srgbClr val="2430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62856" y="1828800"/>
            <a:ext cx="3063240" cy="4114800"/>
          </a:xfrm>
          <a:prstGeom prst="rect">
            <a:avLst/>
          </a:prstGeom>
          <a:noFill/>
        </p:spPr>
        <p:txBody>
          <a:bodyPr wrap="square">
            <a:spAutoFit/>
          </a:bodyPr>
          <a:lstStyle/>
          <a:p>
            <a:pPr>
              <a:defRPr sz="1000" b="1">
                <a:solidFill>
                  <a:srgbClr val="06B6D4"/>
                </a:solidFill>
                <a:latin typeface="Consolas"/>
              </a:defRPr>
            </a:pPr>
            <a:r>
              <a:t>MULTI-CHANNEL CHAT BRIDGES</a:t>
            </a:r>
          </a:p>
          <a:p>
            <a:pPr>
              <a:spcBef>
                <a:spcPts val="400"/>
              </a:spcBef>
              <a:defRPr sz="1400" b="1">
                <a:solidFill>
                  <a:srgbClr val="F8FAFC"/>
                </a:solidFill>
                <a:latin typeface="Trebuchet MS"/>
              </a:defRPr>
            </a:pPr>
            <a:r>
              <a:t>Discord, Slack, Teams, TG</a:t>
            </a:r>
          </a:p>
          <a:p>
            <a:pPr>
              <a:spcBef>
                <a:spcPts val="800"/>
              </a:spcBef>
              <a:defRPr sz="950">
                <a:solidFill>
                  <a:srgbClr val="94A3B8"/>
                </a:solidFill>
                <a:latin typeface="Segoe UI"/>
              </a:defRPr>
            </a:pPr>
            <a:r>
              <a:t>• 1.42MB multi-channel synchronization engine (`services/chat-channels.ts`).</a:t>
            </a:r>
            <a:br/>
            <a:r>
              <a:t>• Bi-directional issue threading across Discord, Slack, Microsoft Teams, Telegram, and GitHub.</a:t>
            </a:r>
            <a:br/>
            <a:r>
              <a:t>• Developers trigger agent tasks directly from Slack slash commands.</a:t>
            </a:r>
          </a:p>
        </p:txBody>
      </p:sp>
      <p:sp>
        <p:nvSpPr>
          <p:cNvPr id="11" name="Rounded Rectangle 10"/>
          <p:cNvSpPr/>
          <p:nvPr/>
        </p:nvSpPr>
        <p:spPr>
          <a:xfrm>
            <a:off x="8028432" y="1645920"/>
            <a:ext cx="3429000" cy="4572000"/>
          </a:xfrm>
          <a:prstGeom prst="roundRect">
            <a:avLst/>
          </a:prstGeom>
          <a:solidFill>
            <a:srgbClr val="131B2E"/>
          </a:solidFill>
          <a:ln w="12700">
            <a:solidFill>
              <a:srgbClr val="2430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11312" y="1828800"/>
            <a:ext cx="3063240" cy="4114800"/>
          </a:xfrm>
          <a:prstGeom prst="rect">
            <a:avLst/>
          </a:prstGeom>
          <a:noFill/>
        </p:spPr>
        <p:txBody>
          <a:bodyPr wrap="square">
            <a:spAutoFit/>
          </a:bodyPr>
          <a:lstStyle/>
          <a:p>
            <a:pPr>
              <a:defRPr sz="1000" b="1">
                <a:solidFill>
                  <a:srgbClr val="F59E0B"/>
                </a:solidFill>
                <a:latin typeface="Consolas"/>
              </a:defRPr>
            </a:pPr>
            <a:r>
              <a:t>PULSE SELF-HEALING ENGINE</a:t>
            </a:r>
          </a:p>
          <a:p>
            <a:pPr>
              <a:spcBef>
                <a:spcPts val="400"/>
              </a:spcBef>
              <a:defRPr sz="1400" b="1">
                <a:solidFill>
                  <a:srgbClr val="F8FAFC"/>
                </a:solidFill>
                <a:latin typeface="Trebuchet MS"/>
              </a:defRPr>
            </a:pPr>
            <a:r>
              <a:t>30s Automated Diagnostics</a:t>
            </a:r>
          </a:p>
          <a:p>
            <a:pPr>
              <a:spcBef>
                <a:spcPts val="800"/>
              </a:spcBef>
              <a:defRPr sz="950">
                <a:solidFill>
                  <a:srgbClr val="94A3B8"/>
                </a:solidFill>
                <a:latin typeface="Segoe UI"/>
              </a:defRPr>
            </a:pPr>
            <a:r>
              <a:t>• Continuous 30-second automated health polling (`pulse-service.ts`).</a:t>
            </a:r>
            <a:br/>
            <a:r>
              <a:t>• Validates database connectivity, AI model latency, and runner health.</a:t>
            </a:r>
            <a:br/>
            <a:r>
              <a:t>• Automatic fallback model routing on HTTP 429 rate-limits.</a:t>
            </a:r>
            <a:br/>
            <a:r>
              <a:t>• Zero manual intervention recovery.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06B6D4"/>
                </a:solidFill>
                <a:latin typeface="Consolas"/>
              </a:defRPr>
            </a:pPr>
            <a:r>
              <a:t>GEETORUSAI // PART 2: TECHNICAL DEEP-DIVE // ISOLATION &amp; SECURITY</a:t>
            </a:r>
          </a:p>
        </p:txBody>
      </p:sp>
      <p:sp>
        <p:nvSpPr>
          <p:cNvPr id="4" name="TextBox 3"/>
          <p:cNvSpPr txBox="1"/>
          <p:nvPr/>
        </p:nvSpPr>
        <p:spPr>
          <a:xfrm>
            <a:off x="9601200" y="365760"/>
            <a:ext cx="1828800" cy="320040"/>
          </a:xfrm>
          <a:prstGeom prst="rect">
            <a:avLst/>
          </a:prstGeom>
          <a:noFill/>
        </p:spPr>
        <p:txBody>
          <a:bodyPr wrap="none" lIns="0" tIns="0" rIns="0" bIns="0">
            <a:spAutoFit/>
          </a:bodyPr>
          <a:lstStyle/>
          <a:p>
            <a:pPr algn="r">
              <a:defRPr sz="1000">
                <a:solidFill>
                  <a:srgbClr val="94A3B8"/>
                </a:solidFill>
                <a:latin typeface="Consolas"/>
              </a:defRPr>
            </a:pPr>
            <a:r>
              <a:t>[ 13 / 15 ]</a:t>
            </a:r>
          </a:p>
        </p:txBody>
      </p:sp>
      <p:sp>
        <p:nvSpPr>
          <p:cNvPr id="5" name="TextBox 4"/>
          <p:cNvSpPr txBox="1"/>
          <p:nvPr/>
        </p:nvSpPr>
        <p:spPr>
          <a:xfrm>
            <a:off x="731520" y="685800"/>
            <a:ext cx="10698480" cy="502920"/>
          </a:xfrm>
          <a:prstGeom prst="rect">
            <a:avLst/>
          </a:prstGeom>
          <a:noFill/>
        </p:spPr>
        <p:txBody>
          <a:bodyPr wrap="square" lIns="0" tIns="0" rIns="0" bIns="0">
            <a:spAutoFit/>
          </a:bodyPr>
          <a:lstStyle/>
          <a:p>
            <a:pPr>
              <a:defRPr sz="2200" b="1">
                <a:solidFill>
                  <a:srgbClr val="F8FAFC"/>
                </a:solidFill>
                <a:latin typeface="Trebuchet MS"/>
              </a:defRPr>
            </a:pPr>
            <a:r>
              <a:t>Dynamic Git Worktree Sandboxing &amp; Encrypted Secrets Vault</a:t>
            </a:r>
          </a:p>
        </p:txBody>
      </p:sp>
      <p:sp>
        <p:nvSpPr>
          <p:cNvPr id="6" name="TextBox 5"/>
          <p:cNvSpPr txBox="1"/>
          <p:nvPr/>
        </p:nvSpPr>
        <p:spPr>
          <a:xfrm>
            <a:off x="731520" y="1188720"/>
            <a:ext cx="10698480" cy="320040"/>
          </a:xfrm>
          <a:prstGeom prst="rect">
            <a:avLst/>
          </a:prstGeom>
          <a:noFill/>
        </p:spPr>
        <p:txBody>
          <a:bodyPr wrap="square" lIns="0" tIns="0" rIns="0" bIns="0">
            <a:spAutoFit/>
          </a:bodyPr>
          <a:lstStyle/>
          <a:p>
            <a:pPr>
              <a:defRPr sz="1200">
                <a:solidFill>
                  <a:srgbClr val="94A3B8"/>
                </a:solidFill>
                <a:latin typeface="Segoe UI"/>
              </a:defRPr>
            </a:pPr>
            <a:r>
              <a:t>Audited code evidence: server/src/services/execution-workspaces.ts &amp; secrets.ts</a:t>
            </a:r>
          </a:p>
        </p:txBody>
      </p:sp>
      <p:sp>
        <p:nvSpPr>
          <p:cNvPr id="7" name="Rounded Rectangle 6"/>
          <p:cNvSpPr/>
          <p:nvPr/>
        </p:nvSpPr>
        <p:spPr>
          <a:xfrm>
            <a:off x="731520" y="1645920"/>
            <a:ext cx="5212080" cy="4572000"/>
          </a:xfrm>
          <a:prstGeom prst="roundRect">
            <a:avLst/>
          </a:prstGeom>
          <a:solidFill>
            <a:srgbClr val="131B2E"/>
          </a:solidFill>
          <a:ln w="12700">
            <a:solidFill>
              <a:srgbClr val="2430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83080"/>
            <a:ext cx="4846320" cy="320040"/>
          </a:xfrm>
          <a:prstGeom prst="rect">
            <a:avLst/>
          </a:prstGeom>
          <a:noFill/>
        </p:spPr>
        <p:txBody>
          <a:bodyPr wrap="square" lIns="0" tIns="0" rIns="0" bIns="0">
            <a:spAutoFit/>
          </a:bodyPr>
          <a:lstStyle/>
          <a:p>
            <a:pPr>
              <a:defRPr sz="1100" b="1">
                <a:solidFill>
                  <a:srgbClr val="06B6D4"/>
                </a:solidFill>
                <a:latin typeface="Consolas"/>
              </a:defRPr>
            </a:pPr>
            <a:r>
              <a:t>GIT WORKTREE TASK ISOLATION</a:t>
            </a:r>
          </a:p>
        </p:txBody>
      </p:sp>
      <p:sp>
        <p:nvSpPr>
          <p:cNvPr id="9" name="TextBox 8"/>
          <p:cNvSpPr txBox="1"/>
          <p:nvPr/>
        </p:nvSpPr>
        <p:spPr>
          <a:xfrm>
            <a:off x="914400" y="2011680"/>
            <a:ext cx="4846320" cy="4023360"/>
          </a:xfrm>
          <a:prstGeom prst="rect">
            <a:avLst/>
          </a:prstGeom>
          <a:noFill/>
        </p:spPr>
        <p:txBody>
          <a:bodyPr wrap="square">
            <a:spAutoFit/>
          </a:bodyPr>
          <a:lstStyle/>
          <a:p>
            <a:pPr>
              <a:defRPr sz="1100" b="1">
                <a:solidFill>
                  <a:srgbClr val="06B6D4"/>
                </a:solidFill>
                <a:latin typeface="Trebuchet MS"/>
              </a:defRPr>
            </a:pPr>
            <a:r>
              <a:t>● Zero Repository Pollution</a:t>
            </a:r>
          </a:p>
          <a:p>
            <a:pPr>
              <a:spcBef>
                <a:spcPts val="200"/>
              </a:spcBef>
              <a:defRPr sz="950">
                <a:solidFill>
                  <a:srgbClr val="94A3B8"/>
                </a:solidFill>
                <a:latin typeface="Segoe UI"/>
              </a:defRPr>
            </a:pPr>
            <a:r>
              <a:t>Instead of letting agents execute in dirty local directories, GeetorusAI dynamically spins up an isolated Git worktree for every single task.</a:t>
            </a:r>
          </a:p>
          <a:p>
            <a:pPr>
              <a:spcBef>
                <a:spcPts val="800"/>
              </a:spcBef>
              <a:defRPr sz="1100" b="1">
                <a:solidFill>
                  <a:srgbClr val="06B6D4"/>
                </a:solidFill>
                <a:latin typeface="Trebuchet MS"/>
              </a:defRPr>
            </a:pPr>
            <a:r>
              <a:t>● Branch Checkout Automation</a:t>
            </a:r>
          </a:p>
          <a:p>
            <a:pPr>
              <a:spcBef>
                <a:spcPts val="200"/>
              </a:spcBef>
              <a:defRPr sz="950">
                <a:solidFill>
                  <a:srgbClr val="94A3B8"/>
                </a:solidFill>
                <a:latin typeface="Segoe UI"/>
              </a:defRPr>
            </a:pPr>
            <a:r>
              <a:t>Automatically checks out isolated branch `agent/{task-id}`, executes code changes, runs local tests, and prepares clean git commits.</a:t>
            </a:r>
          </a:p>
          <a:p>
            <a:pPr>
              <a:spcBef>
                <a:spcPts val="800"/>
              </a:spcBef>
              <a:defRPr sz="1100" b="1">
                <a:solidFill>
                  <a:srgbClr val="06B6D4"/>
                </a:solidFill>
                <a:latin typeface="Trebuchet MS"/>
              </a:defRPr>
            </a:pPr>
            <a:r>
              <a:t>● Pristine State Guarantee</a:t>
            </a:r>
          </a:p>
          <a:p>
            <a:pPr>
              <a:spcBef>
                <a:spcPts val="200"/>
              </a:spcBef>
              <a:defRPr sz="950">
                <a:solidFill>
                  <a:srgbClr val="94A3B8"/>
                </a:solidFill>
                <a:latin typeface="Segoe UI"/>
              </a:defRPr>
            </a:pPr>
            <a:r>
              <a:t>If a task is rejected or fails verification, the entire worktree is destroyed, guaranteeing zero orphan files or broken builds on main.</a:t>
            </a:r>
          </a:p>
          <a:p>
            <a:pPr>
              <a:spcBef>
                <a:spcPts val="800"/>
              </a:spcBef>
              <a:defRPr sz="1100" b="1">
                <a:solidFill>
                  <a:srgbClr val="06B6D4"/>
                </a:solidFill>
                <a:latin typeface="Trebuchet MS"/>
              </a:defRPr>
            </a:pPr>
            <a:r>
              <a:t>● Linux Bubblewrap &amp; Docker Sandboxing</a:t>
            </a:r>
          </a:p>
          <a:p>
            <a:pPr>
              <a:spcBef>
                <a:spcPts val="200"/>
              </a:spcBef>
              <a:defRPr sz="950">
                <a:solidFill>
                  <a:srgbClr val="94A3B8"/>
                </a:solidFill>
                <a:latin typeface="Segoe UI"/>
              </a:defRPr>
            </a:pPr>
            <a:r>
              <a:t>Supports hardware-level Linux user namespace sandboxing (Bubblewrap) and ephemeral Docker containers for dangerous execution.</a:t>
            </a:r>
          </a:p>
        </p:txBody>
      </p:sp>
      <p:sp>
        <p:nvSpPr>
          <p:cNvPr id="10" name="Rounded Rectangle 9"/>
          <p:cNvSpPr/>
          <p:nvPr/>
        </p:nvSpPr>
        <p:spPr>
          <a:xfrm>
            <a:off x="6126480" y="1645920"/>
            <a:ext cx="5333695" cy="4572000"/>
          </a:xfrm>
          <a:prstGeom prst="roundRect">
            <a:avLst/>
          </a:prstGeom>
          <a:solidFill>
            <a:srgbClr val="131B2E"/>
          </a:solidFill>
          <a:ln w="12700">
            <a:solidFill>
              <a:srgbClr val="2430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783080"/>
            <a:ext cx="4967935" cy="320040"/>
          </a:xfrm>
          <a:prstGeom prst="rect">
            <a:avLst/>
          </a:prstGeom>
          <a:noFill/>
        </p:spPr>
        <p:txBody>
          <a:bodyPr wrap="square" lIns="0" tIns="0" rIns="0" bIns="0">
            <a:spAutoFit/>
          </a:bodyPr>
          <a:lstStyle/>
          <a:p>
            <a:pPr>
              <a:defRPr sz="1100" b="1">
                <a:solidFill>
                  <a:srgbClr val="06B6D4"/>
                </a:solidFill>
                <a:latin typeface="Consolas"/>
              </a:defRPr>
            </a:pPr>
            <a:r>
              <a:t>ENCRYPTED SECRETS VAULT &amp; AIR-GAPPED DEPLOY</a:t>
            </a:r>
          </a:p>
        </p:txBody>
      </p:sp>
      <p:sp>
        <p:nvSpPr>
          <p:cNvPr id="12" name="TextBox 11"/>
          <p:cNvSpPr txBox="1"/>
          <p:nvPr/>
        </p:nvSpPr>
        <p:spPr>
          <a:xfrm>
            <a:off x="6309360" y="2011680"/>
            <a:ext cx="4937760" cy="4023360"/>
          </a:xfrm>
          <a:prstGeom prst="rect">
            <a:avLst/>
          </a:prstGeom>
          <a:noFill/>
        </p:spPr>
        <p:txBody>
          <a:bodyPr wrap="square">
            <a:spAutoFit/>
          </a:bodyPr>
          <a:lstStyle/>
          <a:p>
            <a:pPr>
              <a:defRPr sz="1100" b="1">
                <a:solidFill>
                  <a:srgbClr val="10B981"/>
                </a:solidFill>
                <a:latin typeface="Trebuchet MS"/>
              </a:defRPr>
            </a:pPr>
            <a:r>
              <a:t>★ AES-256-GCM Secret Encryption</a:t>
            </a:r>
          </a:p>
          <a:p>
            <a:pPr>
              <a:spcBef>
                <a:spcPts val="200"/>
              </a:spcBef>
              <a:defRPr sz="950">
                <a:solidFill>
                  <a:srgbClr val="94A3B8"/>
                </a:solidFill>
                <a:latin typeface="Segoe UI"/>
              </a:defRPr>
            </a:pPr>
            <a:r>
              <a:t>Corporate API keys, SSH keys, and database credentials are stored in `company_secrets` encrypted with AES-256-GCM. Zero plain-text secrets.</a:t>
            </a:r>
          </a:p>
          <a:p>
            <a:pPr>
              <a:spcBef>
                <a:spcPts val="800"/>
              </a:spcBef>
              <a:defRPr sz="1100" b="1">
                <a:solidFill>
                  <a:srgbClr val="10B981"/>
                </a:solidFill>
                <a:latin typeface="Trebuchet MS"/>
              </a:defRPr>
            </a:pPr>
            <a:r>
              <a:t>★ Per-Agent Credential Scoping</a:t>
            </a:r>
          </a:p>
          <a:p>
            <a:pPr>
              <a:spcBef>
                <a:spcPts val="200"/>
              </a:spcBef>
              <a:defRPr sz="950">
                <a:solidFill>
                  <a:srgbClr val="94A3B8"/>
                </a:solidFill>
                <a:latin typeface="Segoe UI"/>
              </a:defRPr>
            </a:pPr>
            <a:r>
              <a:t>Agents only receive decrypted environment variables for tools explicitly granted in their role profile at runtime.</a:t>
            </a:r>
          </a:p>
          <a:p>
            <a:pPr>
              <a:spcBef>
                <a:spcPts val="800"/>
              </a:spcBef>
              <a:defRPr sz="1100" b="1">
                <a:solidFill>
                  <a:srgbClr val="10B981"/>
                </a:solidFill>
                <a:latin typeface="Trebuchet MS"/>
              </a:defRPr>
            </a:pPr>
            <a:r>
              <a:t>★ 100% Air-Gapped / Zero-Telemetry Deployment</a:t>
            </a:r>
          </a:p>
          <a:p>
            <a:pPr>
              <a:spcBef>
                <a:spcPts val="200"/>
              </a:spcBef>
              <a:defRPr sz="950">
                <a:solidFill>
                  <a:srgbClr val="94A3B8"/>
                </a:solidFill>
                <a:latin typeface="Segoe UI"/>
              </a:defRPr>
            </a:pPr>
            <a:r>
              <a:t>Regulated enterprises (defense, healthcare, banking) can run GeetorusAI entirely offline using local Ollama models (Llama 3.3, DeepSeek-R1).</a:t>
            </a:r>
          </a:p>
          <a:p>
            <a:pPr>
              <a:spcBef>
                <a:spcPts val="800"/>
              </a:spcBef>
              <a:defRPr sz="1100" b="1">
                <a:solidFill>
                  <a:srgbClr val="10B981"/>
                </a:solidFill>
                <a:latin typeface="Trebuchet MS"/>
              </a:defRPr>
            </a:pPr>
            <a:r>
              <a:t>★ Sovereign Data Storage</a:t>
            </a:r>
          </a:p>
          <a:p>
            <a:pPr>
              <a:spcBef>
                <a:spcPts val="200"/>
              </a:spcBef>
              <a:defRPr sz="950">
                <a:solidFill>
                  <a:srgbClr val="94A3B8"/>
                </a:solidFill>
                <a:latin typeface="Segoe UI"/>
              </a:defRPr>
            </a:pPr>
            <a:r>
              <a:t>All databases, git branches, and logs reside strictly within customer infrastructure. Zero data exfiltration to proprietary SaaS clouds.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06B6D4"/>
                </a:solidFill>
                <a:latin typeface="Consolas"/>
              </a:defRPr>
            </a:pPr>
            <a:r>
              <a:t>GEETORUSAI // PART 2: TECHNICAL DEEP-DIVE // STRATEGIC BUILD LIST</a:t>
            </a:r>
          </a:p>
        </p:txBody>
      </p:sp>
      <p:sp>
        <p:nvSpPr>
          <p:cNvPr id="4" name="TextBox 3"/>
          <p:cNvSpPr txBox="1"/>
          <p:nvPr/>
        </p:nvSpPr>
        <p:spPr>
          <a:xfrm>
            <a:off x="9601200" y="365760"/>
            <a:ext cx="1828800" cy="320040"/>
          </a:xfrm>
          <a:prstGeom prst="rect">
            <a:avLst/>
          </a:prstGeom>
          <a:noFill/>
        </p:spPr>
        <p:txBody>
          <a:bodyPr wrap="none" lIns="0" tIns="0" rIns="0" bIns="0">
            <a:spAutoFit/>
          </a:bodyPr>
          <a:lstStyle/>
          <a:p>
            <a:pPr algn="r">
              <a:defRPr sz="1000">
                <a:solidFill>
                  <a:srgbClr val="94A3B8"/>
                </a:solidFill>
                <a:latin typeface="Consolas"/>
              </a:defRPr>
            </a:pPr>
            <a:r>
              <a:t>[ 14 / 15 ]</a:t>
            </a:r>
          </a:p>
        </p:txBody>
      </p:sp>
      <p:sp>
        <p:nvSpPr>
          <p:cNvPr id="5" name="TextBox 4"/>
          <p:cNvSpPr txBox="1"/>
          <p:nvPr/>
        </p:nvSpPr>
        <p:spPr>
          <a:xfrm>
            <a:off x="731520" y="685800"/>
            <a:ext cx="10698480" cy="502920"/>
          </a:xfrm>
          <a:prstGeom prst="rect">
            <a:avLst/>
          </a:prstGeom>
          <a:noFill/>
        </p:spPr>
        <p:txBody>
          <a:bodyPr wrap="square" lIns="0" tIns="0" rIns="0" bIns="0">
            <a:spAutoFit/>
          </a:bodyPr>
          <a:lstStyle/>
          <a:p>
            <a:pPr>
              <a:defRPr sz="2200" b="1">
                <a:solidFill>
                  <a:srgbClr val="F8FAFC"/>
                </a:solidFill>
                <a:latin typeface="Trebuchet MS"/>
              </a:defRPr>
            </a:pPr>
            <a:r>
              <a:t>P0, P1, P2 Strategic Roadmap to Outperform All Competitors</a:t>
            </a:r>
          </a:p>
        </p:txBody>
      </p:sp>
      <p:sp>
        <p:nvSpPr>
          <p:cNvPr id="6" name="TextBox 5"/>
          <p:cNvSpPr txBox="1"/>
          <p:nvPr/>
        </p:nvSpPr>
        <p:spPr>
          <a:xfrm>
            <a:off x="731520" y="1188720"/>
            <a:ext cx="10698480" cy="320040"/>
          </a:xfrm>
          <a:prstGeom prst="rect">
            <a:avLst/>
          </a:prstGeom>
          <a:noFill/>
        </p:spPr>
        <p:txBody>
          <a:bodyPr wrap="square" lIns="0" tIns="0" rIns="0" bIns="0">
            <a:spAutoFit/>
          </a:bodyPr>
          <a:lstStyle/>
          <a:p>
            <a:pPr>
              <a:defRPr sz="1200">
                <a:solidFill>
                  <a:srgbClr val="94A3B8"/>
                </a:solidFill>
                <a:latin typeface="Segoe UI"/>
              </a:defRPr>
            </a:pPr>
            <a:r>
              <a:t>Technical Specification: docs/pitch/feature_roadmap.md</a:t>
            </a:r>
          </a:p>
        </p:txBody>
      </p:sp>
      <p:sp>
        <p:nvSpPr>
          <p:cNvPr id="7" name="Rounded Rectangle 6"/>
          <p:cNvSpPr/>
          <p:nvPr/>
        </p:nvSpPr>
        <p:spPr>
          <a:xfrm>
            <a:off x="731520" y="1645920"/>
            <a:ext cx="3429000" cy="3931920"/>
          </a:xfrm>
          <a:prstGeom prst="roundRect">
            <a:avLst/>
          </a:prstGeom>
          <a:solidFill>
            <a:srgbClr val="131B2E"/>
          </a:solidFill>
          <a:ln w="12700">
            <a:solidFill>
              <a:srgbClr val="2430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3063240" cy="3474720"/>
          </a:xfrm>
          <a:prstGeom prst="rect">
            <a:avLst/>
          </a:prstGeom>
          <a:noFill/>
        </p:spPr>
        <p:txBody>
          <a:bodyPr wrap="square">
            <a:spAutoFit/>
          </a:bodyPr>
          <a:lstStyle/>
          <a:p>
            <a:pPr>
              <a:defRPr sz="1000" b="1">
                <a:solidFill>
                  <a:srgbClr val="06B6D4"/>
                </a:solidFill>
                <a:latin typeface="Consolas"/>
              </a:defRPr>
            </a:pPr>
            <a:r>
              <a:t>PHASE P0 // IMMEDIATE MOAT</a:t>
            </a:r>
          </a:p>
          <a:p>
            <a:pPr>
              <a:spcBef>
                <a:spcPts val="400"/>
              </a:spcBef>
              <a:defRPr sz="1300" b="1">
                <a:solidFill>
                  <a:srgbClr val="F8FAFC"/>
                </a:solidFill>
                <a:latin typeface="Trebuchet MS"/>
              </a:defRPr>
            </a:pPr>
            <a:r>
              <a:t>Months 1–3 (Post-Seed)</a:t>
            </a:r>
          </a:p>
          <a:p>
            <a:pPr>
              <a:spcBef>
                <a:spcPts val="800"/>
              </a:spcBef>
              <a:defRPr sz="950">
                <a:solidFill>
                  <a:srgbClr val="94A3B8"/>
                </a:solidFill>
                <a:latin typeface="Segoe UI"/>
              </a:defRPr>
            </a:pPr>
            <a:r>
              <a:t>• Distributed BullMQ / Redis Task Queue (horizontal worker scaling).</a:t>
            </a:r>
            <a:br/>
            <a:r>
              <a:t>• Vector Semantic Memory (pgvector embeddings for cross-session recall).</a:t>
            </a:r>
            <a:br/>
            <a:r>
              <a:t>• Enterprise SSO &amp; Fine-Grained RBAC (Okta / Azure AD / SAML).</a:t>
            </a:r>
            <a:br/>
            <a:r>
              <a:t>• Automated Multi-Model Cost Router (Haiku 5.5 / o4-mini micro-routing).</a:t>
            </a:r>
          </a:p>
        </p:txBody>
      </p:sp>
      <p:sp>
        <p:nvSpPr>
          <p:cNvPr id="9" name="Rounded Rectangle 8"/>
          <p:cNvSpPr/>
          <p:nvPr/>
        </p:nvSpPr>
        <p:spPr>
          <a:xfrm>
            <a:off x="4379976" y="1645920"/>
            <a:ext cx="3429000" cy="3931920"/>
          </a:xfrm>
          <a:prstGeom prst="roundRect">
            <a:avLst/>
          </a:prstGeom>
          <a:solidFill>
            <a:srgbClr val="131B2E"/>
          </a:solidFill>
          <a:ln w="12700">
            <a:solidFill>
              <a:srgbClr val="2430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62856" y="1828800"/>
            <a:ext cx="3063240" cy="3474720"/>
          </a:xfrm>
          <a:prstGeom prst="rect">
            <a:avLst/>
          </a:prstGeom>
          <a:noFill/>
        </p:spPr>
        <p:txBody>
          <a:bodyPr wrap="square">
            <a:spAutoFit/>
          </a:bodyPr>
          <a:lstStyle/>
          <a:p>
            <a:pPr>
              <a:defRPr sz="1000" b="1">
                <a:solidFill>
                  <a:srgbClr val="F59E0B"/>
                </a:solidFill>
                <a:latin typeface="Consolas"/>
              </a:defRPr>
            </a:pPr>
            <a:r>
              <a:t>PHASE P1 // ENTERPRISE EXPANSION</a:t>
            </a:r>
          </a:p>
          <a:p>
            <a:pPr>
              <a:spcBef>
                <a:spcPts val="400"/>
              </a:spcBef>
              <a:defRPr sz="1300" b="1">
                <a:solidFill>
                  <a:srgbClr val="F8FAFC"/>
                </a:solidFill>
                <a:latin typeface="Trebuchet MS"/>
              </a:defRPr>
            </a:pPr>
            <a:r>
              <a:t>Months 4–7</a:t>
            </a:r>
          </a:p>
          <a:p>
            <a:pPr>
              <a:spcBef>
                <a:spcPts val="800"/>
              </a:spcBef>
              <a:defRPr sz="950">
                <a:solidFill>
                  <a:srgbClr val="94A3B8"/>
                </a:solidFill>
                <a:latin typeface="Segoe UI"/>
              </a:defRPr>
            </a:pPr>
            <a:r>
              <a:t>• Automated Compliance Engine (SOC2 Type II, ISO 27001, DPDP export).</a:t>
            </a:r>
            <a:br/>
            <a:r>
              <a:t>• Native Desktop Companion App (Tauri / Rust wrapping local CLIs).</a:t>
            </a:r>
            <a:br/>
            <a:r>
              <a:t>• Automated Test Generation &amp; Mutation Evals.</a:t>
            </a:r>
            <a:br/>
            <a:r>
              <a:t>• Multi-Tenant Billing Gateway (Stripe/Paddle seat &amp; token metering).</a:t>
            </a:r>
          </a:p>
        </p:txBody>
      </p:sp>
      <p:sp>
        <p:nvSpPr>
          <p:cNvPr id="11" name="Rounded Rectangle 10"/>
          <p:cNvSpPr/>
          <p:nvPr/>
        </p:nvSpPr>
        <p:spPr>
          <a:xfrm>
            <a:off x="8028432" y="1645920"/>
            <a:ext cx="3429000" cy="3931920"/>
          </a:xfrm>
          <a:prstGeom prst="roundRect">
            <a:avLst/>
          </a:prstGeom>
          <a:solidFill>
            <a:srgbClr val="131B2E"/>
          </a:solidFill>
          <a:ln w="12700">
            <a:solidFill>
              <a:srgbClr val="2430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11312" y="1828800"/>
            <a:ext cx="3063240" cy="3474720"/>
          </a:xfrm>
          <a:prstGeom prst="rect">
            <a:avLst/>
          </a:prstGeom>
          <a:noFill/>
        </p:spPr>
        <p:txBody>
          <a:bodyPr wrap="square">
            <a:spAutoFit/>
          </a:bodyPr>
          <a:lstStyle/>
          <a:p>
            <a:pPr>
              <a:defRPr sz="1000" b="1">
                <a:solidFill>
                  <a:srgbClr val="10B981"/>
                </a:solidFill>
                <a:latin typeface="Consolas"/>
              </a:defRPr>
            </a:pPr>
            <a:r>
              <a:t>PHASE P2 // ECOSYSTEM LOCK-IN</a:t>
            </a:r>
          </a:p>
          <a:p>
            <a:pPr>
              <a:spcBef>
                <a:spcPts val="400"/>
              </a:spcBef>
              <a:defRPr sz="1300" b="1">
                <a:solidFill>
                  <a:srgbClr val="F8FAFC"/>
                </a:solidFill>
                <a:latin typeface="Trebuchet MS"/>
              </a:defRPr>
            </a:pPr>
            <a:r>
              <a:t>Months 8–12</a:t>
            </a:r>
          </a:p>
          <a:p>
            <a:pPr>
              <a:spcBef>
                <a:spcPts val="800"/>
              </a:spcBef>
              <a:defRPr sz="950">
                <a:solidFill>
                  <a:srgbClr val="94A3B8"/>
                </a:solidFill>
                <a:latin typeface="Segoe UI"/>
              </a:defRPr>
            </a:pPr>
            <a:r>
              <a:t>• Universal Agent &amp; Tool Marketplace (one-click deployable teams).</a:t>
            </a:r>
            <a:br/>
            <a:r>
              <a:t>• Cryptographic Zero-Knowledge Audit Attestation.</a:t>
            </a:r>
            <a:br/>
            <a:r>
              <a:t>• Autonomous Agent Self-Optimization (DPO fine-tuning loop).</a:t>
            </a:r>
            <a:br/>
            <a:r>
              <a:t>• Policy-as-Code Governance Kernel (Open Policy Agent / Rego).</a:t>
            </a:r>
          </a:p>
        </p:txBody>
      </p:sp>
      <p:sp>
        <p:nvSpPr>
          <p:cNvPr id="13" name="Rounded Rectangle 12"/>
          <p:cNvSpPr/>
          <p:nvPr/>
        </p:nvSpPr>
        <p:spPr>
          <a:xfrm>
            <a:off x="731520" y="5715000"/>
            <a:ext cx="10728655" cy="594360"/>
          </a:xfrm>
          <a:prstGeom prst="roundRect">
            <a:avLst/>
          </a:prstGeom>
          <a:solidFill>
            <a:srgbClr val="1A243D"/>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806440"/>
            <a:ext cx="10332720" cy="411480"/>
          </a:xfrm>
          <a:prstGeom prst="rect">
            <a:avLst/>
          </a:prstGeom>
          <a:noFill/>
        </p:spPr>
        <p:txBody>
          <a:bodyPr wrap="square">
            <a:spAutoFit/>
          </a:bodyPr>
          <a:lstStyle/>
          <a:p>
            <a:pPr>
              <a:defRPr sz="950">
                <a:solidFill>
                  <a:srgbClr val="F59E0B"/>
                </a:solidFill>
                <a:latin typeface="Consolas"/>
              </a:defRPr>
            </a:pPr>
            <a:r>
              <a:t>PROPRIETARY NOTICE: Deep internal heuristics, fine-tuned agent prompt DAGs, and benchmark logs are deliberately withheld here. Available under NDA in the Investor Data Room.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06B6D4"/>
                </a:solidFill>
                <a:latin typeface="Consolas"/>
              </a:defRPr>
            </a:pPr>
            <a:r>
              <a:t>GEETORUSAI // GEETORUSAI // STRATEGIC CLOSING</a:t>
            </a:r>
          </a:p>
        </p:txBody>
      </p:sp>
      <p:sp>
        <p:nvSpPr>
          <p:cNvPr id="4" name="TextBox 3"/>
          <p:cNvSpPr txBox="1"/>
          <p:nvPr/>
        </p:nvSpPr>
        <p:spPr>
          <a:xfrm>
            <a:off x="9601200" y="365760"/>
            <a:ext cx="1828800" cy="320040"/>
          </a:xfrm>
          <a:prstGeom prst="rect">
            <a:avLst/>
          </a:prstGeom>
          <a:noFill/>
        </p:spPr>
        <p:txBody>
          <a:bodyPr wrap="none" lIns="0" tIns="0" rIns="0" bIns="0">
            <a:spAutoFit/>
          </a:bodyPr>
          <a:lstStyle/>
          <a:p>
            <a:pPr algn="r">
              <a:defRPr sz="1000">
                <a:solidFill>
                  <a:srgbClr val="94A3B8"/>
                </a:solidFill>
                <a:latin typeface="Consolas"/>
              </a:defRPr>
            </a:pPr>
            <a:r>
              <a:t>[ 15 / 15 ]</a:t>
            </a:r>
          </a:p>
        </p:txBody>
      </p:sp>
      <p:sp>
        <p:nvSpPr>
          <p:cNvPr id="5" name="TextBox 4"/>
          <p:cNvSpPr txBox="1"/>
          <p:nvPr/>
        </p:nvSpPr>
        <p:spPr>
          <a:xfrm>
            <a:off x="731520" y="685800"/>
            <a:ext cx="10698480" cy="502920"/>
          </a:xfrm>
          <a:prstGeom prst="rect">
            <a:avLst/>
          </a:prstGeom>
          <a:noFill/>
        </p:spPr>
        <p:txBody>
          <a:bodyPr wrap="square" lIns="0" tIns="0" rIns="0" bIns="0">
            <a:spAutoFit/>
          </a:bodyPr>
          <a:lstStyle/>
          <a:p>
            <a:pPr>
              <a:defRPr sz="2200" b="1">
                <a:solidFill>
                  <a:srgbClr val="F8FAFC"/>
                </a:solidFill>
                <a:latin typeface="Trebuchet MS"/>
              </a:defRPr>
            </a:pPr>
            <a:r>
              <a:t>Build the Sovereign Multi-Agent Future With Us</a:t>
            </a:r>
          </a:p>
        </p:txBody>
      </p:sp>
      <p:sp>
        <p:nvSpPr>
          <p:cNvPr id="6" name="TextBox 5"/>
          <p:cNvSpPr txBox="1"/>
          <p:nvPr/>
        </p:nvSpPr>
        <p:spPr>
          <a:xfrm>
            <a:off x="731520" y="1188720"/>
            <a:ext cx="10698480" cy="320040"/>
          </a:xfrm>
          <a:prstGeom prst="rect">
            <a:avLst/>
          </a:prstGeom>
          <a:noFill/>
        </p:spPr>
        <p:txBody>
          <a:bodyPr wrap="square" lIns="0" tIns="0" rIns="0" bIns="0">
            <a:spAutoFit/>
          </a:bodyPr>
          <a:lstStyle/>
          <a:p>
            <a:pPr>
              <a:defRPr sz="1200">
                <a:solidFill>
                  <a:srgbClr val="94A3B8"/>
                </a:solidFill>
                <a:latin typeface="Segoe UI"/>
              </a:defRPr>
            </a:pPr>
            <a:r>
              <a:t>Self-Hosted, Audited, Governed AI Workforces for the Enterprise.</a:t>
            </a:r>
          </a:p>
        </p:txBody>
      </p:sp>
      <p:sp>
        <p:nvSpPr>
          <p:cNvPr id="7" name="Rounded Rectangle 6"/>
          <p:cNvSpPr/>
          <p:nvPr/>
        </p:nvSpPr>
        <p:spPr>
          <a:xfrm>
            <a:off x="731520" y="1645920"/>
            <a:ext cx="10728655" cy="3931920"/>
          </a:xfrm>
          <a:prstGeom prst="roundRect">
            <a:avLst/>
          </a:prstGeom>
          <a:solidFill>
            <a:srgbClr val="1A243D"/>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011680"/>
            <a:ext cx="10058400" cy="3200400"/>
          </a:xfrm>
          <a:prstGeom prst="rect">
            <a:avLst/>
          </a:prstGeom>
          <a:noFill/>
        </p:spPr>
        <p:txBody>
          <a:bodyPr wrap="square">
            <a:spAutoFit/>
          </a:bodyPr>
          <a:lstStyle/>
          <a:p>
            <a:pPr>
              <a:defRPr sz="3600" b="1">
                <a:solidFill>
                  <a:srgbClr val="F8FAFC"/>
                </a:solidFill>
                <a:latin typeface="Trebuchet MS"/>
              </a:defRPr>
            </a:pPr>
            <a:r>
              <a:t>GEETORUSAI</a:t>
            </a:r>
          </a:p>
          <a:p>
            <a:pPr>
              <a:spcBef>
                <a:spcPts val="600"/>
              </a:spcBef>
              <a:defRPr sz="1600">
                <a:solidFill>
                  <a:srgbClr val="06B6D4"/>
                </a:solidFill>
                <a:latin typeface="Segoe UI"/>
              </a:defRPr>
            </a:pPr>
            <a:r>
              <a:t>The Autonomous AI Agent Control Plane &amp; Virtual Company Operating System</a:t>
            </a:r>
          </a:p>
          <a:p>
            <a:pPr>
              <a:spcBef>
                <a:spcPts val="1400"/>
              </a:spcBef>
              <a:defRPr sz="1300">
                <a:solidFill>
                  <a:srgbClr val="94A3B8"/>
                </a:solidFill>
                <a:latin typeface="Segoe UI"/>
              </a:defRPr>
            </a:pPr>
            <a:r>
              <a:t>• Founder: Udhaya Kumar (CEO &amp; Founder, Geetorus)</a:t>
            </a:r>
            <a:br/>
            <a:r>
              <a:t>• Engineering Hub: Tamil Nadu, India (20 Core Researchers &amp; Engineers)</a:t>
            </a:r>
            <a:br/>
            <a:r>
              <a:t>• Code Repository: https://github.com/geetorusai/geetorus</a:t>
            </a:r>
            <a:br/>
            <a:r>
              <a:t>• Documentation &amp; Data Room: Available upon request under NDA</a:t>
            </a:r>
            <a:br/>
            <a:r>
              <a:t>• Seed Financing Ask: $1,500,000 USD for 15.0% Equity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